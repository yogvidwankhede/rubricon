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Lst>
  <p:notesMasterIdLst>
    <p:notesMasterId r:id="rId18"/>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notesMaster" Target="notesMasters/notesMaster1.xml"/><Relationship Id="rId19" Type="http://schemas.openxmlformats.org/officeDocument/2006/relationships/presProps" Target="presProps.xml"/><Relationship Id="rId20" Type="http://schemas.openxmlformats.org/officeDocument/2006/relationships/viewProps" Target="viewProps.xml"/><Relationship Id="rId21" Type="http://schemas.openxmlformats.org/officeDocument/2006/relationships/theme" Target="theme/theme1.xml"/><Relationship Id="rId22"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Thesis: the deliverable is a gate and a sensitivity analysis, not a scoreboard. 23 of 45 claims blocked; the conclusions are published with their conditions attached.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simulation is a scope statement, not an apology: planted ground truth is what makes blind spots detectable at all.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most important slide. The skill is not four clean verdicts; it is knowing four clean verdicts would have been a lie, and building the thing that proves it. Leave-one-out runs at 7 batches because 5 shares a factor with a 5-annotator roster, so compare that row against its own reference.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0.094 is the MDE at plain n against the observed SD — the corrected convention, see slide 10.</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41A24"/>
        </a:solidFill>
      </p:bgPr>
    </p:bg>
    <p:spTree>
      <p:nvGrpSpPr>
        <p:cNvPr id="1" name=""/>
        <p:cNvGrpSpPr/>
        <p:nvPr/>
      </p:nvGrpSpPr>
      <p:grpSpPr>
        <a:xfrm>
          <a:off x="0" y="0"/>
          <a:ext cx="0" cy="0"/>
          <a:chOff x="0" y="0"/>
          <a:chExt cx="0" cy="0"/>
        </a:xfrm>
      </p:grpSpPr>
      <p:sp>
        <p:nvSpPr>
          <p:cNvPr id="2" name="Text 0"/>
          <p:cNvSpPr/>
          <p:nvPr/>
        </p:nvSpPr>
        <p:spPr>
          <a:xfrm>
            <a:off x="548640" y="475488"/>
            <a:ext cx="11094415" cy="219456"/>
          </a:xfrm>
          <a:prstGeom prst="rect">
            <a:avLst/>
          </a:prstGeom>
          <a:noFill/>
          <a:ln/>
        </p:spPr>
        <p:txBody>
          <a:bodyPr wrap="square" lIns="0" tIns="0" rIns="0" bIns="0" rtlCol="0" anchor="ctr"/>
          <a:lstStyle/>
          <a:p>
            <a:pPr indent="0" marL="0">
              <a:buNone/>
            </a:pPr>
            <a:r>
              <a:rPr lang="en-US" sz="950" b="1" spc="180" kern="0" dirty="0">
                <a:solidFill>
                  <a:srgbClr val="7F93A8"/>
                </a:solidFill>
                <a:latin typeface="Calibri" pitchFamily="34" charset="0"/>
                <a:ea typeface="Calibri" pitchFamily="34" charset="-122"/>
                <a:cs typeface="Calibri" pitchFamily="34" charset="-120"/>
              </a:rPr>
              <a:t>EVALUATION SIGNAL INFRASTRUCTURE   ·   INTERVIEW WALKTHROUGH</a:t>
            </a:r>
            <a:endParaRPr lang="en-US" sz="950" dirty="0"/>
          </a:p>
        </p:txBody>
      </p:sp>
      <p:sp>
        <p:nvSpPr>
          <p:cNvPr id="3" name="Text 1"/>
          <p:cNvSpPr/>
          <p:nvPr/>
        </p:nvSpPr>
        <p:spPr>
          <a:xfrm>
            <a:off x="548640" y="1097280"/>
            <a:ext cx="6400800" cy="960120"/>
          </a:xfrm>
          <a:prstGeom prst="rect">
            <a:avLst/>
          </a:prstGeom>
          <a:noFill/>
          <a:ln/>
        </p:spPr>
        <p:txBody>
          <a:bodyPr wrap="square" lIns="0" tIns="0" rIns="0" bIns="0" rtlCol="0" anchor="ctr"/>
          <a:lstStyle/>
          <a:p>
            <a:pPr indent="0" marL="0">
              <a:buNone/>
            </a:pPr>
            <a:r>
              <a:rPr lang="en-US" sz="5200" b="1" dirty="0">
                <a:solidFill>
                  <a:srgbClr val="FFFFFF"/>
                </a:solidFill>
                <a:latin typeface="Cambria" pitchFamily="34" charset="0"/>
                <a:ea typeface="Cambria" pitchFamily="34" charset="-122"/>
                <a:cs typeface="Cambria" pitchFamily="34" charset="-120"/>
              </a:rPr>
              <a:t>Rubricon</a:t>
            </a:r>
            <a:endParaRPr lang="en-US" sz="5200" dirty="0"/>
          </a:p>
        </p:txBody>
      </p:sp>
      <p:sp>
        <p:nvSpPr>
          <p:cNvPr id="4" name="Text 2"/>
          <p:cNvSpPr/>
          <p:nvPr/>
        </p:nvSpPr>
        <p:spPr>
          <a:xfrm>
            <a:off x="548640" y="2240280"/>
            <a:ext cx="6126480" cy="1051560"/>
          </a:xfrm>
          <a:prstGeom prst="rect">
            <a:avLst/>
          </a:prstGeom>
          <a:noFill/>
          <a:ln/>
        </p:spPr>
        <p:txBody>
          <a:bodyPr wrap="square" lIns="0" tIns="0" rIns="0" bIns="0" rtlCol="0" anchor="t"/>
          <a:lstStyle/>
          <a:p>
            <a:pPr indent="0" marL="0">
              <a:lnSpc>
                <a:spcPts val="2200"/>
              </a:lnSpc>
              <a:buNone/>
            </a:pPr>
            <a:r>
              <a:rPr lang="en-US" sz="1500" dirty="0">
                <a:solidFill>
                  <a:srgbClr val="E4EAF1"/>
                </a:solidFill>
                <a:latin typeface="Calibri" pitchFamily="34" charset="0"/>
                <a:ea typeface="Calibri" pitchFamily="34" charset="-122"/>
                <a:cs typeface="Calibri" pitchFamily="34" charset="-120"/>
              </a:rPr>
              <a:t>Most evaluation work fails at the last step — when a number escapes into a decision without anyone having checked whether the measurement supports the sentence built on top of it.</a:t>
            </a:r>
            <a:endParaRPr lang="en-US" sz="1500" dirty="0"/>
          </a:p>
        </p:txBody>
      </p:sp>
      <p:sp>
        <p:nvSpPr>
          <p:cNvPr id="5" name="Text 3"/>
          <p:cNvSpPr/>
          <p:nvPr/>
        </p:nvSpPr>
        <p:spPr>
          <a:xfrm>
            <a:off x="548640" y="3429000"/>
            <a:ext cx="6126480" cy="1143000"/>
          </a:xfrm>
          <a:prstGeom prst="rect">
            <a:avLst/>
          </a:prstGeom>
          <a:noFill/>
          <a:ln/>
        </p:spPr>
        <p:txBody>
          <a:bodyPr wrap="square" lIns="0" tIns="0" rIns="0" bIns="0" rtlCol="0" anchor="t"/>
          <a:lstStyle/>
          <a:p>
            <a:pPr indent="0" marL="0">
              <a:lnSpc>
                <a:spcPts val="1800"/>
              </a:lnSpc>
              <a:buNone/>
            </a:pPr>
            <a:r>
              <a:rPr lang="en-US" sz="1250" dirty="0">
                <a:solidFill>
                  <a:srgbClr val="A9B9C9"/>
                </a:solidFill>
                <a:latin typeface="Calibri" pitchFamily="34" charset="0"/>
                <a:ea typeface="Calibri" pitchFamily="34" charset="-122"/>
                <a:cs typeface="Calibri" pitchFamily="34" charset="-120"/>
              </a:rPr>
              <a:t>Rubricon makes that check mechanical: thresholds declared before results exist, claims built from evidence, a gate that withholds the ones the evidence cannot carry — and a sensitivity analysis that prices how much of each conclusion is my own assumption.</a:t>
            </a:r>
            <a:endParaRPr lang="en-US" sz="1250" dirty="0"/>
          </a:p>
        </p:txBody>
      </p:sp>
      <p:sp>
        <p:nvSpPr>
          <p:cNvPr id="6" name="Shape 4"/>
          <p:cNvSpPr/>
          <p:nvPr/>
        </p:nvSpPr>
        <p:spPr>
          <a:xfrm>
            <a:off x="7114032" y="1188720"/>
            <a:ext cx="4526280" cy="3703320"/>
          </a:xfrm>
          <a:prstGeom prst="roundRect">
            <a:avLst>
              <a:gd name="adj" fmla="val 1481"/>
            </a:avLst>
          </a:prstGeom>
          <a:solidFill>
            <a:srgbClr val="1F2A38"/>
          </a:solidFill>
          <a:ln w="9525">
            <a:solidFill>
              <a:srgbClr val="35465A"/>
            </a:solidFill>
            <a:prstDash val="solid"/>
          </a:ln>
        </p:spPr>
      </p:sp>
      <p:sp>
        <p:nvSpPr>
          <p:cNvPr id="7" name="Text 5"/>
          <p:cNvSpPr/>
          <p:nvPr/>
        </p:nvSpPr>
        <p:spPr>
          <a:xfrm>
            <a:off x="7406640" y="1444752"/>
            <a:ext cx="3977640" cy="219456"/>
          </a:xfrm>
          <a:prstGeom prst="rect">
            <a:avLst/>
          </a:prstGeom>
          <a:noFill/>
          <a:ln/>
        </p:spPr>
        <p:txBody>
          <a:bodyPr wrap="square" lIns="0" tIns="0" rIns="0" bIns="0" rtlCol="0" anchor="ctr"/>
          <a:lstStyle/>
          <a:p>
            <a:pPr indent="0" marL="0">
              <a:buNone/>
            </a:pPr>
            <a:r>
              <a:rPr lang="en-US" sz="950" b="1" spc="140" kern="0" dirty="0">
                <a:solidFill>
                  <a:srgbClr val="AEC0D2"/>
                </a:solidFill>
                <a:latin typeface="Calibri" pitchFamily="34" charset="0"/>
                <a:ea typeface="Calibri" pitchFamily="34" charset="-122"/>
                <a:cs typeface="Calibri" pitchFamily="34" charset="-120"/>
              </a:rPr>
              <a:t>EVERY CLAIM IS ADJUDICATED</a:t>
            </a:r>
            <a:endParaRPr lang="en-US" sz="950" dirty="0"/>
          </a:p>
        </p:txBody>
      </p:sp>
      <p:sp>
        <p:nvSpPr>
          <p:cNvPr id="8" name="Shape 6"/>
          <p:cNvSpPr/>
          <p:nvPr/>
        </p:nvSpPr>
        <p:spPr>
          <a:xfrm>
            <a:off x="7406640" y="1883664"/>
            <a:ext cx="868680" cy="237744"/>
          </a:xfrm>
          <a:prstGeom prst="roundRect">
            <a:avLst>
              <a:gd name="adj" fmla="val 19231"/>
            </a:avLst>
          </a:prstGeom>
          <a:solidFill>
            <a:srgbClr val="2C6E49"/>
          </a:solidFill>
          <a:ln/>
        </p:spPr>
      </p:sp>
      <p:sp>
        <p:nvSpPr>
          <p:cNvPr id="9" name="Text 7"/>
          <p:cNvSpPr/>
          <p:nvPr/>
        </p:nvSpPr>
        <p:spPr>
          <a:xfrm>
            <a:off x="7406640" y="1883664"/>
            <a:ext cx="868680" cy="237744"/>
          </a:xfrm>
          <a:prstGeom prst="rect">
            <a:avLst/>
          </a:prstGeom>
          <a:noFill/>
          <a:ln/>
        </p:spPr>
        <p:txBody>
          <a:bodyPr wrap="square" lIns="0" tIns="0" rIns="0" bIns="0" rtlCol="0" anchor="ctr"/>
          <a:lstStyle/>
          <a:p>
            <a:pPr algn="ctr" indent="0" marL="0">
              <a:buNone/>
            </a:pPr>
            <a:r>
              <a:rPr lang="en-US" sz="900" b="1" spc="80" kern="0" dirty="0">
                <a:solidFill>
                  <a:srgbClr val="FFFFFF"/>
                </a:solidFill>
                <a:latin typeface="Calibri" pitchFamily="34" charset="0"/>
                <a:ea typeface="Calibri" pitchFamily="34" charset="-122"/>
                <a:cs typeface="Calibri" pitchFamily="34" charset="-120"/>
              </a:rPr>
              <a:t>PASS</a:t>
            </a:r>
            <a:endParaRPr lang="en-US" sz="900" dirty="0"/>
          </a:p>
        </p:txBody>
      </p:sp>
      <p:sp>
        <p:nvSpPr>
          <p:cNvPr id="10" name="Text 8"/>
          <p:cNvSpPr/>
          <p:nvPr/>
        </p:nvSpPr>
        <p:spPr>
          <a:xfrm>
            <a:off x="8430768" y="1856232"/>
            <a:ext cx="2971800" cy="292608"/>
          </a:xfrm>
          <a:prstGeom prst="rect">
            <a:avLst/>
          </a:prstGeom>
          <a:noFill/>
          <a:ln/>
        </p:spPr>
        <p:txBody>
          <a:bodyPr wrap="square" lIns="0" tIns="0" rIns="0" bIns="0" rtlCol="0" anchor="ctr"/>
          <a:lstStyle/>
          <a:p>
            <a:pPr indent="0" marL="0">
              <a:buNone/>
            </a:pPr>
            <a:r>
              <a:rPr lang="en-US" sz="1000" dirty="0">
                <a:solidFill>
                  <a:srgbClr val="C6D2DE"/>
                </a:solidFill>
                <a:latin typeface="Calibri" pitchFamily="34" charset="0"/>
                <a:ea typeface="Calibri" pitchFamily="34" charset="-122"/>
                <a:cs typeface="Calibri" pitchFamily="34" charset="-120"/>
              </a:rPr>
              <a:t>the measurement supports the sentence</a:t>
            </a:r>
            <a:endParaRPr lang="en-US" sz="1000" dirty="0"/>
          </a:p>
        </p:txBody>
      </p:sp>
      <p:sp>
        <p:nvSpPr>
          <p:cNvPr id="11" name="Shape 9"/>
          <p:cNvSpPr/>
          <p:nvPr/>
        </p:nvSpPr>
        <p:spPr>
          <a:xfrm>
            <a:off x="7406640" y="2359152"/>
            <a:ext cx="868680" cy="237744"/>
          </a:xfrm>
          <a:prstGeom prst="roundRect">
            <a:avLst>
              <a:gd name="adj" fmla="val 19231"/>
            </a:avLst>
          </a:prstGeom>
          <a:solidFill>
            <a:srgbClr val="9A6B12"/>
          </a:solidFill>
          <a:ln/>
        </p:spPr>
      </p:sp>
      <p:sp>
        <p:nvSpPr>
          <p:cNvPr id="12" name="Text 10"/>
          <p:cNvSpPr/>
          <p:nvPr/>
        </p:nvSpPr>
        <p:spPr>
          <a:xfrm>
            <a:off x="7406640" y="2359152"/>
            <a:ext cx="868680" cy="237744"/>
          </a:xfrm>
          <a:prstGeom prst="rect">
            <a:avLst/>
          </a:prstGeom>
          <a:noFill/>
          <a:ln/>
        </p:spPr>
        <p:txBody>
          <a:bodyPr wrap="square" lIns="0" tIns="0" rIns="0" bIns="0" rtlCol="0" anchor="ctr"/>
          <a:lstStyle/>
          <a:p>
            <a:pPr algn="ctr" indent="0" marL="0">
              <a:buNone/>
            </a:pPr>
            <a:r>
              <a:rPr lang="en-US" sz="900" b="1" spc="80" kern="0" dirty="0">
                <a:solidFill>
                  <a:srgbClr val="FFFFFF"/>
                </a:solidFill>
                <a:latin typeface="Calibri" pitchFamily="34" charset="0"/>
                <a:ea typeface="Calibri" pitchFamily="34" charset="-122"/>
                <a:cs typeface="Calibri" pitchFamily="34" charset="-120"/>
              </a:rPr>
              <a:t>WARN</a:t>
            </a:r>
            <a:endParaRPr lang="en-US" sz="900" dirty="0"/>
          </a:p>
        </p:txBody>
      </p:sp>
      <p:sp>
        <p:nvSpPr>
          <p:cNvPr id="13" name="Text 11"/>
          <p:cNvSpPr/>
          <p:nvPr/>
        </p:nvSpPr>
        <p:spPr>
          <a:xfrm>
            <a:off x="8430768" y="2331720"/>
            <a:ext cx="2971800" cy="292608"/>
          </a:xfrm>
          <a:prstGeom prst="rect">
            <a:avLst/>
          </a:prstGeom>
          <a:noFill/>
          <a:ln/>
        </p:spPr>
        <p:txBody>
          <a:bodyPr wrap="square" lIns="0" tIns="0" rIns="0" bIns="0" rtlCol="0" anchor="ctr"/>
          <a:lstStyle/>
          <a:p>
            <a:pPr indent="0" marL="0">
              <a:buNone/>
            </a:pPr>
            <a:r>
              <a:rPr lang="en-US" sz="1000" dirty="0">
                <a:solidFill>
                  <a:srgbClr val="C6D2DE"/>
                </a:solidFill>
                <a:latin typeface="Calibri" pitchFamily="34" charset="0"/>
                <a:ea typeface="Calibri" pitchFamily="34" charset="-122"/>
                <a:cs typeface="Calibri" pitchFamily="34" charset="-120"/>
              </a:rPr>
              <a:t>reportable only with the stated caveat</a:t>
            </a:r>
            <a:endParaRPr lang="en-US" sz="1000" dirty="0"/>
          </a:p>
        </p:txBody>
      </p:sp>
      <p:sp>
        <p:nvSpPr>
          <p:cNvPr id="14" name="Shape 12"/>
          <p:cNvSpPr/>
          <p:nvPr/>
        </p:nvSpPr>
        <p:spPr>
          <a:xfrm>
            <a:off x="7406640" y="2834640"/>
            <a:ext cx="868680" cy="237744"/>
          </a:xfrm>
          <a:prstGeom prst="roundRect">
            <a:avLst>
              <a:gd name="adj" fmla="val 19231"/>
            </a:avLst>
          </a:prstGeom>
          <a:solidFill>
            <a:srgbClr val="9B2226"/>
          </a:solidFill>
          <a:ln/>
        </p:spPr>
      </p:sp>
      <p:sp>
        <p:nvSpPr>
          <p:cNvPr id="15" name="Text 13"/>
          <p:cNvSpPr/>
          <p:nvPr/>
        </p:nvSpPr>
        <p:spPr>
          <a:xfrm>
            <a:off x="7406640" y="2834640"/>
            <a:ext cx="868680" cy="237744"/>
          </a:xfrm>
          <a:prstGeom prst="rect">
            <a:avLst/>
          </a:prstGeom>
          <a:noFill/>
          <a:ln/>
        </p:spPr>
        <p:txBody>
          <a:bodyPr wrap="square" lIns="0" tIns="0" rIns="0" bIns="0" rtlCol="0" anchor="ctr"/>
          <a:lstStyle/>
          <a:p>
            <a:pPr algn="ctr" indent="0" marL="0">
              <a:buNone/>
            </a:pPr>
            <a:r>
              <a:rPr lang="en-US" sz="900" b="1" spc="80" kern="0" dirty="0">
                <a:solidFill>
                  <a:srgbClr val="FFFFFF"/>
                </a:solidFill>
                <a:latin typeface="Calibri" pitchFamily="34" charset="0"/>
                <a:ea typeface="Calibri" pitchFamily="34" charset="-122"/>
                <a:cs typeface="Calibri" pitchFamily="34" charset="-120"/>
              </a:rPr>
              <a:t>BLOCK</a:t>
            </a:r>
            <a:endParaRPr lang="en-US" sz="900" dirty="0"/>
          </a:p>
        </p:txBody>
      </p:sp>
      <p:sp>
        <p:nvSpPr>
          <p:cNvPr id="16" name="Text 14"/>
          <p:cNvSpPr/>
          <p:nvPr/>
        </p:nvSpPr>
        <p:spPr>
          <a:xfrm>
            <a:off x="8430768" y="2807208"/>
            <a:ext cx="2971800" cy="292608"/>
          </a:xfrm>
          <a:prstGeom prst="rect">
            <a:avLst/>
          </a:prstGeom>
          <a:noFill/>
          <a:ln/>
        </p:spPr>
        <p:txBody>
          <a:bodyPr wrap="square" lIns="0" tIns="0" rIns="0" bIns="0" rtlCol="0" anchor="ctr"/>
          <a:lstStyle/>
          <a:p>
            <a:pPr indent="0" marL="0">
              <a:buNone/>
            </a:pPr>
            <a:r>
              <a:rPr lang="en-US" sz="1000" dirty="0">
                <a:solidFill>
                  <a:srgbClr val="C6D2DE"/>
                </a:solidFill>
                <a:latin typeface="Calibri" pitchFamily="34" charset="0"/>
                <a:ea typeface="Calibri" pitchFamily="34" charset="-122"/>
                <a:cs typeface="Calibri" pitchFamily="34" charset="-120"/>
              </a:rPr>
              <a:t>the block renders where the number would have</a:t>
            </a:r>
            <a:endParaRPr lang="en-US" sz="1000" dirty="0"/>
          </a:p>
        </p:txBody>
      </p:sp>
      <p:sp>
        <p:nvSpPr>
          <p:cNvPr id="17" name="Text 15"/>
          <p:cNvSpPr/>
          <p:nvPr/>
        </p:nvSpPr>
        <p:spPr>
          <a:xfrm>
            <a:off x="7406640" y="3456432"/>
            <a:ext cx="3977640" cy="566928"/>
          </a:xfrm>
          <a:prstGeom prst="rect">
            <a:avLst/>
          </a:prstGeom>
          <a:noFill/>
          <a:ln/>
        </p:spPr>
        <p:txBody>
          <a:bodyPr wrap="square" lIns="0" tIns="0" rIns="0" bIns="0" rtlCol="0" anchor="ctr"/>
          <a:lstStyle/>
          <a:p>
            <a:pPr indent="0" marL="0">
              <a:buNone/>
            </a:pPr>
            <a:r>
              <a:rPr lang="en-US" sz="3400" b="1" dirty="0">
                <a:solidFill>
                  <a:srgbClr val="FFFFFF"/>
                </a:solidFill>
                <a:latin typeface="Cambria" pitchFamily="34" charset="0"/>
                <a:ea typeface="Cambria" pitchFamily="34" charset="-122"/>
                <a:cs typeface="Cambria" pitchFamily="34" charset="-120"/>
              </a:rPr>
              <a:t>23 of 45</a:t>
            </a:r>
            <a:endParaRPr lang="en-US" sz="3400" dirty="0"/>
          </a:p>
        </p:txBody>
      </p:sp>
      <p:sp>
        <p:nvSpPr>
          <p:cNvPr id="18" name="Text 16"/>
          <p:cNvSpPr/>
          <p:nvPr/>
        </p:nvSpPr>
        <p:spPr>
          <a:xfrm>
            <a:off x="7406640" y="4059936"/>
            <a:ext cx="3977640" cy="566928"/>
          </a:xfrm>
          <a:prstGeom prst="rect">
            <a:avLst/>
          </a:prstGeom>
          <a:noFill/>
          <a:ln/>
        </p:spPr>
        <p:txBody>
          <a:bodyPr wrap="square" lIns="0" tIns="0" rIns="0" bIns="0" rtlCol="0" anchor="t"/>
          <a:lstStyle/>
          <a:p>
            <a:pPr indent="0" marL="0">
              <a:lnSpc>
                <a:spcPts val="1400"/>
              </a:lnSpc>
              <a:buNone/>
            </a:pPr>
            <a:r>
              <a:rPr lang="en-US" sz="1050" dirty="0">
                <a:solidFill>
                  <a:srgbClr val="9FB0C2"/>
                </a:solidFill>
                <a:latin typeface="Calibri" pitchFamily="34" charset="0"/>
                <a:ea typeface="Calibri" pitchFamily="34" charset="-122"/>
                <a:cs typeface="Calibri" pitchFamily="34" charset="-120"/>
              </a:rPr>
              <a:t>claims withheld by the gate in this run (51.1%), including several I wanted to make</a:t>
            </a:r>
            <a:endParaRPr lang="en-US" sz="1050" dirty="0"/>
          </a:p>
        </p:txBody>
      </p:sp>
      <p:sp>
        <p:nvSpPr>
          <p:cNvPr id="19" name="Text 17"/>
          <p:cNvSpPr/>
          <p:nvPr/>
        </p:nvSpPr>
        <p:spPr>
          <a:xfrm>
            <a:off x="548640" y="5138928"/>
            <a:ext cx="6126480" cy="256032"/>
          </a:xfrm>
          <a:prstGeom prst="rect">
            <a:avLst/>
          </a:prstGeom>
          <a:noFill/>
          <a:ln/>
        </p:spPr>
        <p:txBody>
          <a:bodyPr wrap="square" lIns="0" tIns="0" rIns="0" bIns="0" rtlCol="0" anchor="ctr"/>
          <a:lstStyle/>
          <a:p>
            <a:pPr indent="0" marL="0">
              <a:buNone/>
            </a:pPr>
            <a:r>
              <a:rPr lang="en-US" sz="1050" i="1" dirty="0">
                <a:solidFill>
                  <a:srgbClr val="8FA1B4"/>
                </a:solidFill>
                <a:latin typeface="Calibri" pitchFamily="34" charset="0"/>
                <a:ea typeface="Calibri" pitchFamily="34" charset="-122"/>
                <a:cs typeface="Calibri" pitchFamily="34" charset="-120"/>
              </a:rPr>
              <a:t>The annotators are simulated. No human labelled anything — see slide 2.</a:t>
            </a:r>
            <a:endParaRPr lang="en-US" sz="1050" dirty="0"/>
          </a:p>
        </p:txBody>
      </p:sp>
      <p:sp>
        <p:nvSpPr>
          <p:cNvPr id="20" name="Text 18"/>
          <p:cNvSpPr/>
          <p:nvPr/>
        </p:nvSpPr>
        <p:spPr>
          <a:xfrm>
            <a:off x="548640" y="6336792"/>
            <a:ext cx="9966960" cy="219456"/>
          </a:xfrm>
          <a:prstGeom prst="rect">
            <a:avLst/>
          </a:prstGeom>
          <a:noFill/>
          <a:ln/>
        </p:spPr>
        <p:txBody>
          <a:bodyPr wrap="square" lIns="0" tIns="0" rIns="0" bIns="0" rtlCol="0" anchor="ctr"/>
          <a:lstStyle/>
          <a:p>
            <a:pPr algn="l" indent="0" marL="0">
              <a:buNone/>
            </a:pPr>
            <a:r>
              <a:rPr lang="en-US" sz="800" dirty="0">
                <a:solidFill>
                  <a:srgbClr val="6C7C8E"/>
                </a:solidFill>
                <a:latin typeface="Calibri" pitchFamily="34" charset="0"/>
                <a:ea typeface="Calibri" pitchFamily="34" charset="-122"/>
                <a:cs typeface="Calibri" pitchFamily="34" charset="-120"/>
              </a:rPr>
              <a:t>results/portfolio.json  md5 299bd4f19e03caa2cd7e33681340c294   ·   results/sensitivity.json  md5 ba0a9291c1f80a2a66dc077c6f19e9b8</a:t>
            </a:r>
            <a:endParaRPr lang="en-US" sz="800" dirty="0"/>
          </a:p>
        </p:txBody>
      </p:sp>
      <p:sp>
        <p:nvSpPr>
          <p:cNvPr id="21" name="Text 19"/>
          <p:cNvSpPr/>
          <p:nvPr/>
        </p:nvSpPr>
        <p:spPr>
          <a:xfrm>
            <a:off x="10927080" y="6336792"/>
            <a:ext cx="713232" cy="219456"/>
          </a:xfrm>
          <a:prstGeom prst="rect">
            <a:avLst/>
          </a:prstGeom>
          <a:noFill/>
          <a:ln/>
        </p:spPr>
        <p:txBody>
          <a:bodyPr wrap="square" lIns="0" tIns="0" rIns="0" bIns="0" rtlCol="0" anchor="ctr"/>
          <a:lstStyle/>
          <a:p>
            <a:pPr algn="r" indent="0" marL="0">
              <a:buNone/>
            </a:pPr>
            <a:r>
              <a:rPr lang="en-US" sz="800" dirty="0">
                <a:solidFill>
                  <a:srgbClr val="6C7C8E"/>
                </a:solidFill>
                <a:latin typeface="Calibri" pitchFamily="34" charset="0"/>
                <a:ea typeface="Calibri" pitchFamily="34" charset="-122"/>
                <a:cs typeface="Calibri" pitchFamily="34" charset="-120"/>
              </a:rPr>
              <a:t>1</a:t>
            </a:r>
            <a:endParaRPr lang="en-US" sz="8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548640" y="292608"/>
            <a:ext cx="11094415" cy="201168"/>
          </a:xfrm>
          <a:prstGeom prst="rect">
            <a:avLst/>
          </a:prstGeom>
          <a:noFill/>
          <a:ln/>
        </p:spPr>
        <p:txBody>
          <a:bodyPr wrap="square" lIns="0" tIns="0" rIns="0" bIns="0" rtlCol="0" anchor="ctr"/>
          <a:lstStyle/>
          <a:p>
            <a:pPr indent="0" marL="0">
              <a:buNone/>
            </a:pPr>
            <a:r>
              <a:rPr lang="en-US" sz="950" b="1" spc="160" kern="0" dirty="0">
                <a:solidFill>
                  <a:srgbClr val="6E7889"/>
                </a:solidFill>
                <a:latin typeface="Calibri" pitchFamily="34" charset="0"/>
                <a:ea typeface="Calibri" pitchFamily="34" charset="-122"/>
                <a:cs typeface="Calibri" pitchFamily="34" charset="-120"/>
              </a:rPr>
              <a:t>02  ·  SCOPE AND HONESTY</a:t>
            </a:r>
            <a:endParaRPr lang="en-US" sz="950" dirty="0"/>
          </a:p>
        </p:txBody>
      </p:sp>
      <p:sp>
        <p:nvSpPr>
          <p:cNvPr id="3" name="Text 1"/>
          <p:cNvSpPr/>
          <p:nvPr/>
        </p:nvSpPr>
        <p:spPr>
          <a:xfrm>
            <a:off x="548640" y="530352"/>
            <a:ext cx="11094415" cy="786384"/>
          </a:xfrm>
          <a:prstGeom prst="rect">
            <a:avLst/>
          </a:prstGeom>
          <a:noFill/>
          <a:ln/>
        </p:spPr>
        <p:txBody>
          <a:bodyPr wrap="square" lIns="0" tIns="0" rIns="0" bIns="0" rtlCol="0" anchor="t"/>
          <a:lstStyle/>
          <a:p>
            <a:pPr indent="0" marL="0">
              <a:lnSpc>
                <a:spcPts val="3200"/>
              </a:lnSpc>
              <a:buNone/>
            </a:pPr>
            <a:r>
              <a:rPr lang="en-US" sz="2600" b="1" dirty="0">
                <a:solidFill>
                  <a:srgbClr val="1E3A5F"/>
                </a:solidFill>
                <a:latin typeface="Cambria" pitchFamily="34" charset="0"/>
                <a:ea typeface="Cambria" pitchFamily="34" charset="-122"/>
                <a:cs typeface="Cambria" pitchFamily="34" charset="-120"/>
              </a:rPr>
              <a:t>The annotators are simulated — which is exactly what makes detection sensitivity measurable</a:t>
            </a:r>
            <a:endParaRPr lang="en-US" sz="2600" dirty="0"/>
          </a:p>
        </p:txBody>
      </p:sp>
      <p:sp>
        <p:nvSpPr>
          <p:cNvPr id="4" name="Text 2"/>
          <p:cNvSpPr/>
          <p:nvPr/>
        </p:nvSpPr>
        <p:spPr>
          <a:xfrm>
            <a:off x="548640" y="1371600"/>
            <a:ext cx="11094415" cy="402336"/>
          </a:xfrm>
          <a:prstGeom prst="rect">
            <a:avLst/>
          </a:prstGeom>
          <a:noFill/>
          <a:ln/>
        </p:spPr>
        <p:txBody>
          <a:bodyPr wrap="square" lIns="0" tIns="0" rIns="0" bIns="0" rtlCol="0" anchor="t"/>
          <a:lstStyle/>
          <a:p>
            <a:pPr indent="0" marL="0">
              <a:lnSpc>
                <a:spcPts val="1600"/>
              </a:lnSpc>
              <a:buNone/>
            </a:pPr>
            <a:r>
              <a:rPr lang="en-US" sz="1200" dirty="0">
                <a:solidFill>
                  <a:srgbClr val="6E7889"/>
                </a:solidFill>
                <a:latin typeface="Calibri" pitchFamily="34" charset="0"/>
                <a:ea typeface="Calibri" pitchFamily="34" charset="-122"/>
                <a:cs typeface="Calibri" pitchFamily="34" charset="-120"/>
              </a:rPr>
              <a:t>Ground truth is known by construction, so the question “does the instrument register the failure it was written to detect?” has an answer.</a:t>
            </a:r>
            <a:endParaRPr lang="en-US" sz="1200" dirty="0"/>
          </a:p>
        </p:txBody>
      </p:sp>
      <p:sp>
        <p:nvSpPr>
          <p:cNvPr id="5" name="Shape 3"/>
          <p:cNvSpPr/>
          <p:nvPr/>
        </p:nvSpPr>
        <p:spPr>
          <a:xfrm>
            <a:off x="548640" y="1883664"/>
            <a:ext cx="1700784" cy="859536"/>
          </a:xfrm>
          <a:prstGeom prst="roundRect">
            <a:avLst>
              <a:gd name="adj" fmla="val 6383"/>
            </a:avLst>
          </a:prstGeom>
          <a:solidFill>
            <a:srgbClr val="F3F5F8"/>
          </a:solidFill>
          <a:ln w="9525">
            <a:solidFill>
              <a:srgbClr val="DCE1E8"/>
            </a:solidFill>
            <a:prstDash val="solid"/>
          </a:ln>
        </p:spPr>
      </p:sp>
      <p:sp>
        <p:nvSpPr>
          <p:cNvPr id="6" name="Text 4"/>
          <p:cNvSpPr/>
          <p:nvPr/>
        </p:nvSpPr>
        <p:spPr>
          <a:xfrm>
            <a:off x="694944" y="2011680"/>
            <a:ext cx="1408176" cy="438912"/>
          </a:xfrm>
          <a:prstGeom prst="rect">
            <a:avLst/>
          </a:prstGeom>
          <a:noFill/>
          <a:ln/>
        </p:spPr>
        <p:txBody>
          <a:bodyPr wrap="square" lIns="0" tIns="0" rIns="0" bIns="0" rtlCol="0" anchor="ctr"/>
          <a:lstStyle/>
          <a:p>
            <a:pPr indent="0" marL="0">
              <a:buNone/>
            </a:pPr>
            <a:r>
              <a:rPr lang="en-US" sz="2600" b="1" dirty="0">
                <a:solidFill>
                  <a:srgbClr val="1E3A5F"/>
                </a:solidFill>
                <a:latin typeface="Cambria" pitchFamily="34" charset="0"/>
                <a:ea typeface="Cambria" pitchFamily="34" charset="-122"/>
                <a:cs typeface="Cambria" pitchFamily="34" charset="-120"/>
              </a:rPr>
              <a:t>4</a:t>
            </a:r>
            <a:endParaRPr lang="en-US" sz="2600" dirty="0"/>
          </a:p>
        </p:txBody>
      </p:sp>
      <p:sp>
        <p:nvSpPr>
          <p:cNvPr id="7" name="Text 5"/>
          <p:cNvSpPr/>
          <p:nvPr/>
        </p:nvSpPr>
        <p:spPr>
          <a:xfrm>
            <a:off x="694944" y="2450592"/>
            <a:ext cx="1408176" cy="219456"/>
          </a:xfrm>
          <a:prstGeom prst="rect">
            <a:avLst/>
          </a:prstGeom>
          <a:noFill/>
          <a:ln/>
        </p:spPr>
        <p:txBody>
          <a:bodyPr wrap="square" lIns="0" tIns="0" rIns="0" bIns="0" rtlCol="0" anchor="ctr"/>
          <a:lstStyle/>
          <a:p>
            <a:pPr indent="0" marL="0">
              <a:buNone/>
            </a:pPr>
            <a:r>
              <a:rPr lang="en-US" sz="850" b="1" spc="100" kern="0" dirty="0">
                <a:solidFill>
                  <a:srgbClr val="6E7889"/>
                </a:solidFill>
                <a:latin typeface="Calibri" pitchFamily="34" charset="0"/>
                <a:ea typeface="Calibri" pitchFamily="34" charset="-122"/>
                <a:cs typeface="Calibri" pitchFamily="34" charset="-120"/>
              </a:rPr>
              <a:t>TRACKS</a:t>
            </a:r>
            <a:endParaRPr lang="en-US" sz="850" dirty="0"/>
          </a:p>
        </p:txBody>
      </p:sp>
      <p:sp>
        <p:nvSpPr>
          <p:cNvPr id="8" name="Shape 6"/>
          <p:cNvSpPr/>
          <p:nvPr/>
        </p:nvSpPr>
        <p:spPr>
          <a:xfrm>
            <a:off x="2404872" y="1883664"/>
            <a:ext cx="1700784" cy="859536"/>
          </a:xfrm>
          <a:prstGeom prst="roundRect">
            <a:avLst>
              <a:gd name="adj" fmla="val 6383"/>
            </a:avLst>
          </a:prstGeom>
          <a:solidFill>
            <a:srgbClr val="F3F5F8"/>
          </a:solidFill>
          <a:ln w="9525">
            <a:solidFill>
              <a:srgbClr val="DCE1E8"/>
            </a:solidFill>
            <a:prstDash val="solid"/>
          </a:ln>
        </p:spPr>
      </p:sp>
      <p:sp>
        <p:nvSpPr>
          <p:cNvPr id="9" name="Text 7"/>
          <p:cNvSpPr/>
          <p:nvPr/>
        </p:nvSpPr>
        <p:spPr>
          <a:xfrm>
            <a:off x="2551176" y="2011680"/>
            <a:ext cx="1408176" cy="438912"/>
          </a:xfrm>
          <a:prstGeom prst="rect">
            <a:avLst/>
          </a:prstGeom>
          <a:noFill/>
          <a:ln/>
        </p:spPr>
        <p:txBody>
          <a:bodyPr wrap="square" lIns="0" tIns="0" rIns="0" bIns="0" rtlCol="0" anchor="ctr"/>
          <a:lstStyle/>
          <a:p>
            <a:pPr indent="0" marL="0">
              <a:buNone/>
            </a:pPr>
            <a:r>
              <a:rPr lang="en-US" sz="2600" b="1" dirty="0">
                <a:solidFill>
                  <a:srgbClr val="1E3A5F"/>
                </a:solidFill>
                <a:latin typeface="Cambria" pitchFamily="34" charset="0"/>
                <a:ea typeface="Cambria" pitchFamily="34" charset="-122"/>
                <a:cs typeface="Cambria" pitchFamily="34" charset="-120"/>
              </a:rPr>
              <a:t>168</a:t>
            </a:r>
            <a:endParaRPr lang="en-US" sz="2600" dirty="0"/>
          </a:p>
        </p:txBody>
      </p:sp>
      <p:sp>
        <p:nvSpPr>
          <p:cNvPr id="10" name="Text 8"/>
          <p:cNvSpPr/>
          <p:nvPr/>
        </p:nvSpPr>
        <p:spPr>
          <a:xfrm>
            <a:off x="2551176" y="2450592"/>
            <a:ext cx="1408176" cy="219456"/>
          </a:xfrm>
          <a:prstGeom prst="rect">
            <a:avLst/>
          </a:prstGeom>
          <a:noFill/>
          <a:ln/>
        </p:spPr>
        <p:txBody>
          <a:bodyPr wrap="square" lIns="0" tIns="0" rIns="0" bIns="0" rtlCol="0" anchor="ctr"/>
          <a:lstStyle/>
          <a:p>
            <a:pPr indent="0" marL="0">
              <a:buNone/>
            </a:pPr>
            <a:r>
              <a:rPr lang="en-US" sz="850" b="1" spc="100" kern="0" dirty="0">
                <a:solidFill>
                  <a:srgbClr val="6E7889"/>
                </a:solidFill>
                <a:latin typeface="Calibri" pitchFamily="34" charset="0"/>
                <a:ea typeface="Calibri" pitchFamily="34" charset="-122"/>
                <a:cs typeface="Calibri" pitchFamily="34" charset="-120"/>
              </a:rPr>
              <a:t>TASK ITEMS</a:t>
            </a:r>
            <a:endParaRPr lang="en-US" sz="850" dirty="0"/>
          </a:p>
        </p:txBody>
      </p:sp>
      <p:sp>
        <p:nvSpPr>
          <p:cNvPr id="11" name="Shape 9"/>
          <p:cNvSpPr/>
          <p:nvPr/>
        </p:nvSpPr>
        <p:spPr>
          <a:xfrm>
            <a:off x="4261104" y="1883664"/>
            <a:ext cx="1700784" cy="859536"/>
          </a:xfrm>
          <a:prstGeom prst="roundRect">
            <a:avLst>
              <a:gd name="adj" fmla="val 6383"/>
            </a:avLst>
          </a:prstGeom>
          <a:solidFill>
            <a:srgbClr val="F3F5F8"/>
          </a:solidFill>
          <a:ln w="9525">
            <a:solidFill>
              <a:srgbClr val="DCE1E8"/>
            </a:solidFill>
            <a:prstDash val="solid"/>
          </a:ln>
        </p:spPr>
      </p:sp>
      <p:sp>
        <p:nvSpPr>
          <p:cNvPr id="12" name="Text 10"/>
          <p:cNvSpPr/>
          <p:nvPr/>
        </p:nvSpPr>
        <p:spPr>
          <a:xfrm>
            <a:off x="4407408" y="2011680"/>
            <a:ext cx="1408176" cy="438912"/>
          </a:xfrm>
          <a:prstGeom prst="rect">
            <a:avLst/>
          </a:prstGeom>
          <a:noFill/>
          <a:ln/>
        </p:spPr>
        <p:txBody>
          <a:bodyPr wrap="square" lIns="0" tIns="0" rIns="0" bIns="0" rtlCol="0" anchor="ctr"/>
          <a:lstStyle/>
          <a:p>
            <a:pPr indent="0" marL="0">
              <a:buNone/>
            </a:pPr>
            <a:r>
              <a:rPr lang="en-US" sz="2600" b="1" dirty="0">
                <a:solidFill>
                  <a:srgbClr val="1E3A5F"/>
                </a:solidFill>
                <a:latin typeface="Cambria" pitchFamily="34" charset="0"/>
                <a:ea typeface="Cambria" pitchFamily="34" charset="-122"/>
                <a:cs typeface="Cambria" pitchFamily="34" charset="-120"/>
              </a:rPr>
              <a:t>504</a:t>
            </a:r>
            <a:endParaRPr lang="en-US" sz="2600" dirty="0"/>
          </a:p>
        </p:txBody>
      </p:sp>
      <p:sp>
        <p:nvSpPr>
          <p:cNvPr id="13" name="Text 11"/>
          <p:cNvSpPr/>
          <p:nvPr/>
        </p:nvSpPr>
        <p:spPr>
          <a:xfrm>
            <a:off x="4407408" y="2450592"/>
            <a:ext cx="1408176" cy="219456"/>
          </a:xfrm>
          <a:prstGeom prst="rect">
            <a:avLst/>
          </a:prstGeom>
          <a:noFill/>
          <a:ln/>
        </p:spPr>
        <p:txBody>
          <a:bodyPr wrap="square" lIns="0" tIns="0" rIns="0" bIns="0" rtlCol="0" anchor="ctr"/>
          <a:lstStyle/>
          <a:p>
            <a:pPr indent="0" marL="0">
              <a:buNone/>
            </a:pPr>
            <a:r>
              <a:rPr lang="en-US" sz="850" b="1" spc="100" kern="0" dirty="0">
                <a:solidFill>
                  <a:srgbClr val="6E7889"/>
                </a:solidFill>
                <a:latin typeface="Calibri" pitchFamily="34" charset="0"/>
                <a:ea typeface="Calibri" pitchFamily="34" charset="-122"/>
                <a:cs typeface="Calibri" pitchFamily="34" charset="-120"/>
              </a:rPr>
              <a:t>RESPONSES</a:t>
            </a:r>
            <a:endParaRPr lang="en-US" sz="850" dirty="0"/>
          </a:p>
        </p:txBody>
      </p:sp>
      <p:sp>
        <p:nvSpPr>
          <p:cNvPr id="14" name="Shape 12"/>
          <p:cNvSpPr/>
          <p:nvPr/>
        </p:nvSpPr>
        <p:spPr>
          <a:xfrm>
            <a:off x="548640" y="2852928"/>
            <a:ext cx="1700784" cy="859536"/>
          </a:xfrm>
          <a:prstGeom prst="roundRect">
            <a:avLst>
              <a:gd name="adj" fmla="val 6383"/>
            </a:avLst>
          </a:prstGeom>
          <a:solidFill>
            <a:srgbClr val="F3F5F8"/>
          </a:solidFill>
          <a:ln w="9525">
            <a:solidFill>
              <a:srgbClr val="DCE1E8"/>
            </a:solidFill>
            <a:prstDash val="solid"/>
          </a:ln>
        </p:spPr>
      </p:sp>
      <p:sp>
        <p:nvSpPr>
          <p:cNvPr id="15" name="Text 13"/>
          <p:cNvSpPr/>
          <p:nvPr/>
        </p:nvSpPr>
        <p:spPr>
          <a:xfrm>
            <a:off x="694944" y="2980944"/>
            <a:ext cx="1408176" cy="438912"/>
          </a:xfrm>
          <a:prstGeom prst="rect">
            <a:avLst/>
          </a:prstGeom>
          <a:noFill/>
          <a:ln/>
        </p:spPr>
        <p:txBody>
          <a:bodyPr wrap="square" lIns="0" tIns="0" rIns="0" bIns="0" rtlCol="0" anchor="ctr"/>
          <a:lstStyle/>
          <a:p>
            <a:pPr indent="0" marL="0">
              <a:buNone/>
            </a:pPr>
            <a:r>
              <a:rPr lang="en-US" sz="2600" b="1" dirty="0">
                <a:solidFill>
                  <a:srgbClr val="1E3A5F"/>
                </a:solidFill>
                <a:latin typeface="Cambria" pitchFamily="34" charset="0"/>
                <a:ea typeface="Cambria" pitchFamily="34" charset="-122"/>
                <a:cs typeface="Cambria" pitchFamily="34" charset="-120"/>
              </a:rPr>
              <a:t>1,512</a:t>
            </a:r>
            <a:endParaRPr lang="en-US" sz="2600" dirty="0"/>
          </a:p>
        </p:txBody>
      </p:sp>
      <p:sp>
        <p:nvSpPr>
          <p:cNvPr id="16" name="Text 14"/>
          <p:cNvSpPr/>
          <p:nvPr/>
        </p:nvSpPr>
        <p:spPr>
          <a:xfrm>
            <a:off x="694944" y="3419856"/>
            <a:ext cx="1408176" cy="219456"/>
          </a:xfrm>
          <a:prstGeom prst="rect">
            <a:avLst/>
          </a:prstGeom>
          <a:noFill/>
          <a:ln/>
        </p:spPr>
        <p:txBody>
          <a:bodyPr wrap="square" lIns="0" tIns="0" rIns="0" bIns="0" rtlCol="0" anchor="ctr"/>
          <a:lstStyle/>
          <a:p>
            <a:pPr indent="0" marL="0">
              <a:buNone/>
            </a:pPr>
            <a:r>
              <a:rPr lang="en-US" sz="850" b="1" spc="100" kern="0" dirty="0">
                <a:solidFill>
                  <a:srgbClr val="6E7889"/>
                </a:solidFill>
                <a:latin typeface="Calibri" pitchFamily="34" charset="0"/>
                <a:ea typeface="Calibri" pitchFamily="34" charset="-122"/>
                <a:cs typeface="Calibri" pitchFamily="34" charset="-120"/>
              </a:rPr>
              <a:t>ANNOTATIONS</a:t>
            </a:r>
            <a:endParaRPr lang="en-US" sz="850" dirty="0"/>
          </a:p>
        </p:txBody>
      </p:sp>
      <p:sp>
        <p:nvSpPr>
          <p:cNvPr id="17" name="Shape 15"/>
          <p:cNvSpPr/>
          <p:nvPr/>
        </p:nvSpPr>
        <p:spPr>
          <a:xfrm>
            <a:off x="2404872" y="2852928"/>
            <a:ext cx="1700784" cy="859536"/>
          </a:xfrm>
          <a:prstGeom prst="roundRect">
            <a:avLst>
              <a:gd name="adj" fmla="val 6383"/>
            </a:avLst>
          </a:prstGeom>
          <a:solidFill>
            <a:srgbClr val="F3F5F8"/>
          </a:solidFill>
          <a:ln w="9525">
            <a:solidFill>
              <a:srgbClr val="DCE1E8"/>
            </a:solidFill>
            <a:prstDash val="solid"/>
          </a:ln>
        </p:spPr>
      </p:sp>
      <p:sp>
        <p:nvSpPr>
          <p:cNvPr id="18" name="Text 16"/>
          <p:cNvSpPr/>
          <p:nvPr/>
        </p:nvSpPr>
        <p:spPr>
          <a:xfrm>
            <a:off x="2551176" y="2980944"/>
            <a:ext cx="1408176" cy="438912"/>
          </a:xfrm>
          <a:prstGeom prst="rect">
            <a:avLst/>
          </a:prstGeom>
          <a:noFill/>
          <a:ln/>
        </p:spPr>
        <p:txBody>
          <a:bodyPr wrap="square" lIns="0" tIns="0" rIns="0" bIns="0" rtlCol="0" anchor="ctr"/>
          <a:lstStyle/>
          <a:p>
            <a:pPr indent="0" marL="0">
              <a:buNone/>
            </a:pPr>
            <a:r>
              <a:rPr lang="en-US" sz="2600" b="1" dirty="0">
                <a:solidFill>
                  <a:srgbClr val="1E3A5F"/>
                </a:solidFill>
                <a:latin typeface="Cambria" pitchFamily="34" charset="0"/>
                <a:ea typeface="Cambria" pitchFamily="34" charset="-122"/>
                <a:cs typeface="Cambria" pitchFamily="34" charset="-120"/>
              </a:rPr>
              <a:t>21</a:t>
            </a:r>
            <a:endParaRPr lang="en-US" sz="2600" dirty="0"/>
          </a:p>
        </p:txBody>
      </p:sp>
      <p:sp>
        <p:nvSpPr>
          <p:cNvPr id="19" name="Text 17"/>
          <p:cNvSpPr/>
          <p:nvPr/>
        </p:nvSpPr>
        <p:spPr>
          <a:xfrm>
            <a:off x="2551176" y="3419856"/>
            <a:ext cx="1408176" cy="219456"/>
          </a:xfrm>
          <a:prstGeom prst="rect">
            <a:avLst/>
          </a:prstGeom>
          <a:noFill/>
          <a:ln/>
        </p:spPr>
        <p:txBody>
          <a:bodyPr wrap="square" lIns="0" tIns="0" rIns="0" bIns="0" rtlCol="0" anchor="ctr"/>
          <a:lstStyle/>
          <a:p>
            <a:pPr indent="0" marL="0">
              <a:buNone/>
            </a:pPr>
            <a:r>
              <a:rPr lang="en-US" sz="850" b="1" spc="100" kern="0" dirty="0">
                <a:solidFill>
                  <a:srgbClr val="6E7889"/>
                </a:solidFill>
                <a:latin typeface="Calibri" pitchFamily="34" charset="0"/>
                <a:ea typeface="Calibri" pitchFamily="34" charset="-122"/>
                <a:cs typeface="Calibri" pitchFamily="34" charset="-120"/>
              </a:rPr>
              <a:t>RUBRIC DIMENSIONS</a:t>
            </a:r>
            <a:endParaRPr lang="en-US" sz="850" dirty="0"/>
          </a:p>
        </p:txBody>
      </p:sp>
      <p:sp>
        <p:nvSpPr>
          <p:cNvPr id="20" name="Shape 18"/>
          <p:cNvSpPr/>
          <p:nvPr/>
        </p:nvSpPr>
        <p:spPr>
          <a:xfrm>
            <a:off x="4261104" y="2852928"/>
            <a:ext cx="1700784" cy="859536"/>
          </a:xfrm>
          <a:prstGeom prst="roundRect">
            <a:avLst>
              <a:gd name="adj" fmla="val 6383"/>
            </a:avLst>
          </a:prstGeom>
          <a:solidFill>
            <a:srgbClr val="F3F5F8"/>
          </a:solidFill>
          <a:ln w="9525">
            <a:solidFill>
              <a:srgbClr val="DCE1E8"/>
            </a:solidFill>
            <a:prstDash val="solid"/>
          </a:ln>
        </p:spPr>
      </p:sp>
      <p:sp>
        <p:nvSpPr>
          <p:cNvPr id="21" name="Text 19"/>
          <p:cNvSpPr/>
          <p:nvPr/>
        </p:nvSpPr>
        <p:spPr>
          <a:xfrm>
            <a:off x="4407408" y="2980944"/>
            <a:ext cx="1408176" cy="438912"/>
          </a:xfrm>
          <a:prstGeom prst="rect">
            <a:avLst/>
          </a:prstGeom>
          <a:noFill/>
          <a:ln/>
        </p:spPr>
        <p:txBody>
          <a:bodyPr wrap="square" lIns="0" tIns="0" rIns="0" bIns="0" rtlCol="0" anchor="ctr"/>
          <a:lstStyle/>
          <a:p>
            <a:pPr indent="0" marL="0">
              <a:buNone/>
            </a:pPr>
            <a:r>
              <a:rPr lang="en-US" sz="2600" b="1" dirty="0">
                <a:solidFill>
                  <a:srgbClr val="1E3A5F"/>
                </a:solidFill>
                <a:latin typeface="Cambria" pitchFamily="34" charset="0"/>
                <a:ea typeface="Cambria" pitchFamily="34" charset="-122"/>
                <a:cs typeface="Cambria" pitchFamily="34" charset="-120"/>
              </a:rPr>
              <a:t>50</a:t>
            </a:r>
            <a:endParaRPr lang="en-US" sz="2600" dirty="0"/>
          </a:p>
        </p:txBody>
      </p:sp>
      <p:sp>
        <p:nvSpPr>
          <p:cNvPr id="22" name="Text 20"/>
          <p:cNvSpPr/>
          <p:nvPr/>
        </p:nvSpPr>
        <p:spPr>
          <a:xfrm>
            <a:off x="4407408" y="3419856"/>
            <a:ext cx="1408176" cy="219456"/>
          </a:xfrm>
          <a:prstGeom prst="rect">
            <a:avLst/>
          </a:prstGeom>
          <a:noFill/>
          <a:ln/>
        </p:spPr>
        <p:txBody>
          <a:bodyPr wrap="square" lIns="0" tIns="0" rIns="0" bIns="0" rtlCol="0" anchor="ctr"/>
          <a:lstStyle/>
          <a:p>
            <a:pPr indent="0" marL="0">
              <a:buNone/>
            </a:pPr>
            <a:r>
              <a:rPr lang="en-US" sz="850" b="1" spc="100" kern="0" dirty="0">
                <a:solidFill>
                  <a:srgbClr val="6E7889"/>
                </a:solidFill>
                <a:latin typeface="Calibri" pitchFamily="34" charset="0"/>
                <a:ea typeface="Calibri" pitchFamily="34" charset="-122"/>
                <a:cs typeface="Calibri" pitchFamily="34" charset="-120"/>
              </a:rPr>
              <a:t>FAILURE CODES</a:t>
            </a:r>
            <a:endParaRPr lang="en-US" sz="850" dirty="0"/>
          </a:p>
        </p:txBody>
      </p:sp>
      <p:sp>
        <p:nvSpPr>
          <p:cNvPr id="23" name="Text 21"/>
          <p:cNvSpPr/>
          <p:nvPr/>
        </p:nvSpPr>
        <p:spPr>
          <a:xfrm>
            <a:off x="548640" y="3968496"/>
            <a:ext cx="5266944" cy="1737360"/>
          </a:xfrm>
          <a:prstGeom prst="rect">
            <a:avLst/>
          </a:prstGeom>
          <a:noFill/>
          <a:ln/>
        </p:spPr>
        <p:txBody>
          <a:bodyPr wrap="square" lIns="0" tIns="0" rIns="0" bIns="0" rtlCol="0" anchor="t"/>
          <a:lstStyle/>
          <a:p>
            <a:pPr marL="342900" indent="-342900">
              <a:lnSpc>
                <a:spcPts val="1500"/>
              </a:lnSpc>
              <a:spcAft>
                <a:spcPts val="600"/>
              </a:spcAft>
              <a:buSzPct val="100000"/>
              <a:buChar char="•"/>
            </a:pPr>
            <a:r>
              <a:rPr lang="en-US" sz="1100" dirty="0">
                <a:solidFill>
                  <a:srgbClr val="222831"/>
                </a:solidFill>
                <a:latin typeface="Calibri" pitchFamily="34" charset="0"/>
                <a:ea typeface="Calibri" pitchFamily="34" charset="-122"/>
                <a:cs typeface="Calibri" pitchFamily="34" charset="-120"/>
              </a:rPr>
              <a:t>6 simulated annotators; mean replication 3.00 per response.</a:t>
            </a:r>
            <a:endParaRPr lang="en-US" sz="1100" dirty="0"/>
          </a:p>
          <a:p>
            <a:pPr marL="342900" indent="-342900">
              <a:lnSpc>
                <a:spcPts val="1500"/>
              </a:lnSpc>
              <a:spcAft>
                <a:spcPts val="600"/>
              </a:spcAft>
              <a:buSzPct val="100000"/>
              <a:buChar char="•"/>
            </a:pPr>
            <a:r>
              <a:rPr lang="en-US" sz="1100" dirty="0">
                <a:solidFill>
                  <a:srgbClr val="222831"/>
                </a:solidFill>
                <a:latin typeface="Calibri" pitchFamily="34" charset="0"/>
                <a:ea typeface="Calibri" pitchFamily="34" charset="-122"/>
                <a:cs typeface="Calibri" pitchFamily="34" charset="-120"/>
              </a:rPr>
              <a:t>Four constructs: agent trajectories, cited RAG answers, worked solutions, refusal stances.</a:t>
            </a:r>
            <a:endParaRPr lang="en-US" sz="1100" dirty="0"/>
          </a:p>
          <a:p>
            <a:pPr marL="342900" indent="-342900">
              <a:lnSpc>
                <a:spcPts val="1500"/>
              </a:lnSpc>
              <a:spcAft>
                <a:spcPts val="600"/>
              </a:spcAft>
              <a:buSzPct val="100000"/>
              <a:buChar char="•"/>
            </a:pPr>
            <a:r>
              <a:rPr lang="en-US" sz="1100" dirty="0">
                <a:solidFill>
                  <a:srgbClr val="222831"/>
                </a:solidFill>
                <a:latin typeface="Calibri" pitchFamily="34" charset="0"/>
                <a:ea typeface="Calibri" pitchFamily="34" charset="-122"/>
                <a:cs typeface="Calibri" pitchFamily="34" charset="-120"/>
              </a:rPr>
              <a:t>45 claims constructed from evidence and adjudicated by the gate.</a:t>
            </a:r>
            <a:endParaRPr lang="en-US" sz="1100" dirty="0"/>
          </a:p>
          <a:p>
            <a:pPr marL="342900" indent="-342900">
              <a:lnSpc>
                <a:spcPts val="1500"/>
              </a:lnSpc>
              <a:spcAft>
                <a:spcPts val="600"/>
              </a:spcAft>
              <a:buSzPct val="100000"/>
              <a:buChar char="•"/>
            </a:pPr>
            <a:r>
              <a:rPr lang="en-US" sz="1100" dirty="0">
                <a:solidFill>
                  <a:srgbClr val="222831"/>
                </a:solidFill>
                <a:latin typeface="Calibri" pitchFamily="34" charset="0"/>
                <a:ea typeface="Calibri" pitchFamily="34" charset="-122"/>
                <a:cs typeface="Calibri" pitchFamily="34" charset="-120"/>
              </a:rPr>
              <a:t>225 tests, including Krippendorff's α against the published 2011 reference.</a:t>
            </a:r>
            <a:endParaRPr lang="en-US" sz="1100" dirty="0"/>
          </a:p>
        </p:txBody>
      </p:sp>
      <p:sp>
        <p:nvSpPr>
          <p:cNvPr id="24" name="Shape 22"/>
          <p:cNvSpPr/>
          <p:nvPr/>
        </p:nvSpPr>
        <p:spPr>
          <a:xfrm>
            <a:off x="6248095" y="1883664"/>
            <a:ext cx="5394960" cy="2688336"/>
          </a:xfrm>
          <a:prstGeom prst="roundRect">
            <a:avLst>
              <a:gd name="adj" fmla="val 2041"/>
            </a:avLst>
          </a:prstGeom>
          <a:solidFill>
            <a:srgbClr val="F3F5F8"/>
          </a:solidFill>
          <a:ln w="9525">
            <a:solidFill>
              <a:srgbClr val="DCE1E8"/>
            </a:solidFill>
            <a:prstDash val="solid"/>
          </a:ln>
        </p:spPr>
      </p:sp>
      <p:sp>
        <p:nvSpPr>
          <p:cNvPr id="25" name="Text 23"/>
          <p:cNvSpPr/>
          <p:nvPr/>
        </p:nvSpPr>
        <p:spPr>
          <a:xfrm>
            <a:off x="6540703" y="2103120"/>
            <a:ext cx="4809744" cy="219456"/>
          </a:xfrm>
          <a:prstGeom prst="rect">
            <a:avLst/>
          </a:prstGeom>
          <a:noFill/>
          <a:ln/>
        </p:spPr>
        <p:txBody>
          <a:bodyPr wrap="square" lIns="0" tIns="0" rIns="0" bIns="0" rtlCol="0" anchor="ctr"/>
          <a:lstStyle/>
          <a:p>
            <a:pPr indent="0" marL="0">
              <a:buNone/>
            </a:pPr>
            <a:r>
              <a:rPr lang="en-US" sz="1050" b="1" spc="60" kern="0" dirty="0">
                <a:solidFill>
                  <a:srgbClr val="9B2226"/>
                </a:solidFill>
                <a:latin typeface="Calibri" pitchFamily="34" charset="0"/>
                <a:ea typeface="Calibri" pitchFamily="34" charset="-122"/>
                <a:cs typeface="Calibri" pitchFamily="34" charset="-120"/>
              </a:rPr>
              <a:t>NO HUMAN LABELLED ANYTHING</a:t>
            </a:r>
            <a:endParaRPr lang="en-US" sz="1050" dirty="0"/>
          </a:p>
        </p:txBody>
      </p:sp>
      <p:sp>
        <p:nvSpPr>
          <p:cNvPr id="26" name="Text 24"/>
          <p:cNvSpPr/>
          <p:nvPr/>
        </p:nvSpPr>
        <p:spPr>
          <a:xfrm>
            <a:off x="6540703" y="2414016"/>
            <a:ext cx="4809744" cy="2029968"/>
          </a:xfrm>
          <a:prstGeom prst="rect">
            <a:avLst/>
          </a:prstGeom>
          <a:noFill/>
          <a:ln/>
        </p:spPr>
        <p:txBody>
          <a:bodyPr wrap="square" lIns="0" tIns="0" rIns="0" bIns="0" rtlCol="0" anchor="t"/>
          <a:lstStyle/>
          <a:p>
            <a:pPr indent="0" marL="0">
              <a:lnSpc>
                <a:spcPts val="1500"/>
              </a:lnSpc>
              <a:spcAft>
                <a:spcPts val="800"/>
              </a:spcAft>
              <a:buNone/>
            </a:pPr>
            <a:r>
              <a:rPr lang="en-US" sz="1100" dirty="0">
                <a:solidFill>
                  <a:srgbClr val="222831"/>
                </a:solidFill>
                <a:latin typeface="Calibri" pitchFamily="34" charset="0"/>
                <a:ea typeface="Calibri" pitchFamily="34" charset="-122"/>
                <a:cs typeface="Calibri" pitchFamily="34" charset="-120"/>
              </a:rPr>
              <a:t>Every agreement coefficient here characterises the generative annotator model in annotation/pool.py, not real annotator behaviour.</a:t>
            </a:r>
            <a:endParaRPr lang="en-US" sz="1100" dirty="0"/>
          </a:p>
          <a:p>
            <a:pPr indent="0" marL="0">
              <a:lnSpc>
                <a:spcPts val="1500"/>
              </a:lnSpc>
              <a:spcAft>
                <a:spcPts val="800"/>
              </a:spcAft>
              <a:buNone/>
            </a:pPr>
            <a:r>
              <a:rPr lang="en-US" sz="1100" dirty="0">
                <a:solidFill>
                  <a:srgbClr val="222831"/>
                </a:solidFill>
                <a:latin typeface="Calibri" pitchFamily="34" charset="0"/>
                <a:ea typeface="Calibri" pitchFamily="34" charset="-122"/>
                <a:cs typeface="Calibri" pitchFamily="34" charset="-120"/>
              </a:rPr>
              <a:t>The machinery is real. Krippendorff's α reproduces the published values to four decimal places, the gate and the decision engine are working code, and pointing them at real labels is one environment variable.</a:t>
            </a:r>
            <a:endParaRPr lang="en-US" sz="1100" dirty="0"/>
          </a:p>
          <a:p>
            <a:pPr indent="0" marL="0">
              <a:lnSpc>
                <a:spcPts val="1500"/>
              </a:lnSpc>
              <a:spcAft>
                <a:spcPts val="800"/>
              </a:spcAft>
              <a:buNone/>
            </a:pPr>
            <a:r>
              <a:rPr lang="en-US" sz="1100" dirty="0">
                <a:solidFill>
                  <a:srgbClr val="222831"/>
                </a:solidFill>
                <a:latin typeface="Calibri" pitchFamily="34" charset="0"/>
                <a:ea typeface="Calibri" pitchFamily="34" charset="-122"/>
                <a:cs typeface="Calibri" pitchFamily="34" charset="-120"/>
              </a:rPr>
              <a:t>The findings are demonstrations that the pipeline detects the conditions it was built to detect on data whose ground truth is known. They are not empirical claims about any language model.</a:t>
            </a:r>
            <a:endParaRPr lang="en-US" sz="1100" dirty="0"/>
          </a:p>
        </p:txBody>
      </p:sp>
      <p:sp>
        <p:nvSpPr>
          <p:cNvPr id="27" name="Text 25"/>
          <p:cNvSpPr/>
          <p:nvPr/>
        </p:nvSpPr>
        <p:spPr>
          <a:xfrm>
            <a:off x="6248095" y="4773168"/>
            <a:ext cx="5394960" cy="219456"/>
          </a:xfrm>
          <a:prstGeom prst="rect">
            <a:avLst/>
          </a:prstGeom>
          <a:noFill/>
          <a:ln/>
        </p:spPr>
        <p:txBody>
          <a:bodyPr wrap="square" lIns="0" tIns="0" rIns="0" bIns="0" rtlCol="0" anchor="ctr"/>
          <a:lstStyle/>
          <a:p>
            <a:pPr indent="0" marL="0">
              <a:buNone/>
            </a:pPr>
            <a:r>
              <a:rPr lang="en-US" sz="1050" b="1" spc="60" kern="0" dirty="0">
                <a:solidFill>
                  <a:srgbClr val="1E3A5F"/>
                </a:solidFill>
                <a:latin typeface="Calibri" pitchFamily="34" charset="0"/>
                <a:ea typeface="Calibri" pitchFamily="34" charset="-122"/>
                <a:cs typeface="Calibri" pitchFamily="34" charset="-120"/>
              </a:rPr>
              <a:t>THE SIMULATED POOL — COMPETENCE, THE NOISE SCALER</a:t>
            </a:r>
            <a:endParaRPr lang="en-US" sz="1050" dirty="0"/>
          </a:p>
        </p:txBody>
      </p:sp>
      <p:sp>
        <p:nvSpPr>
          <p:cNvPr id="28" name="Text 26"/>
          <p:cNvSpPr/>
          <p:nvPr/>
        </p:nvSpPr>
        <p:spPr>
          <a:xfrm>
            <a:off x="6248095" y="5047488"/>
            <a:ext cx="5394960" cy="548640"/>
          </a:xfrm>
          <a:prstGeom prst="rect">
            <a:avLst/>
          </a:prstGeom>
          <a:noFill/>
          <a:ln/>
        </p:spPr>
        <p:txBody>
          <a:bodyPr wrap="square" lIns="0" tIns="0" rIns="0" bIns="0" rtlCol="0" anchor="t"/>
          <a:lstStyle/>
          <a:p>
            <a:pPr indent="0" marL="0">
              <a:lnSpc>
                <a:spcPts val="1600"/>
              </a:lnSpc>
              <a:buNone/>
            </a:pPr>
            <a:r>
              <a:rPr lang="en-US" sz="950" dirty="0">
                <a:solidFill>
                  <a:srgbClr val="222831"/>
                </a:solidFill>
                <a:latin typeface="Courier New" pitchFamily="34" charset="0"/>
                <a:ea typeface="Courier New" pitchFamily="34" charset="-122"/>
                <a:cs typeface="Courier New" pitchFamily="34" charset="-120"/>
              </a:rPr>
              <a:t>A1-senior 0.93   ·   A2-senior 0.90   ·   A3-core 0.84</a:t>
            </a:r>
            <a:endParaRPr lang="en-US" sz="950" dirty="0"/>
          </a:p>
          <a:p>
            <a:pPr indent="0" marL="0">
              <a:lnSpc>
                <a:spcPts val="1600"/>
              </a:lnSpc>
              <a:buNone/>
            </a:pPr>
            <a:r>
              <a:rPr lang="en-US" sz="950" dirty="0">
                <a:solidFill>
                  <a:srgbClr val="222831"/>
                </a:solidFill>
                <a:latin typeface="Courier New" pitchFamily="34" charset="0"/>
                <a:ea typeface="Courier New" pitchFamily="34" charset="-122"/>
                <a:cs typeface="Courier New" pitchFamily="34" charset="-120"/>
              </a:rPr>
              <a:t>A4-core 0.81   ·   A5-fast 0.72   ·   A6-untrained 0.58</a:t>
            </a:r>
            <a:endParaRPr lang="en-US" sz="950" dirty="0"/>
          </a:p>
        </p:txBody>
      </p:sp>
      <p:sp>
        <p:nvSpPr>
          <p:cNvPr id="29" name="Text 27"/>
          <p:cNvSpPr/>
          <p:nvPr/>
        </p:nvSpPr>
        <p:spPr>
          <a:xfrm>
            <a:off x="6248095" y="5614416"/>
            <a:ext cx="5394960" cy="274320"/>
          </a:xfrm>
          <a:prstGeom prst="rect">
            <a:avLst/>
          </a:prstGeom>
          <a:noFill/>
          <a:ln/>
        </p:spPr>
        <p:txBody>
          <a:bodyPr wrap="square" lIns="0" tIns="0" rIns="0" bIns="0" rtlCol="0" anchor="t"/>
          <a:lstStyle/>
          <a:p>
            <a:pPr indent="0" marL="0">
              <a:buNone/>
            </a:pPr>
            <a:r>
              <a:rPr lang="en-US" sz="950" i="1" dirty="0">
                <a:solidFill>
                  <a:srgbClr val="6E7889"/>
                </a:solidFill>
                <a:latin typeface="Calibri" pitchFamily="34" charset="0"/>
                <a:ea typeface="Calibri" pitchFamily="34" charset="-122"/>
                <a:cs typeface="Calibri" pitchFamily="34" charset="-120"/>
              </a:rPr>
              <a:t>Value position — the component replication cannot reduce — applies only to dimensions marked contested.</a:t>
            </a:r>
            <a:endParaRPr lang="en-US" sz="950" dirty="0"/>
          </a:p>
        </p:txBody>
      </p:sp>
      <p:sp>
        <p:nvSpPr>
          <p:cNvPr id="30" name="Text 28"/>
          <p:cNvSpPr/>
          <p:nvPr/>
        </p:nvSpPr>
        <p:spPr>
          <a:xfrm>
            <a:off x="548640" y="6336792"/>
            <a:ext cx="9966960" cy="219456"/>
          </a:xfrm>
          <a:prstGeom prst="rect">
            <a:avLst/>
          </a:prstGeom>
          <a:noFill/>
          <a:ln/>
        </p:spPr>
        <p:txBody>
          <a:bodyPr wrap="square" lIns="0" tIns="0" rIns="0" bIns="0" rtlCol="0" anchor="ctr"/>
          <a:lstStyle/>
          <a:p>
            <a:pPr algn="l" indent="0" marL="0">
              <a:buNone/>
            </a:pPr>
            <a:r>
              <a:rPr lang="en-US" sz="800" dirty="0">
                <a:solidFill>
                  <a:srgbClr val="6E7889"/>
                </a:solidFill>
                <a:latin typeface="Calibri" pitchFamily="34" charset="0"/>
                <a:ea typeface="Calibri" pitchFamily="34" charset="-122"/>
                <a:cs typeface="Calibri" pitchFamily="34" charset="-120"/>
              </a:rPr>
              <a:t>Counts: results/portfolio.json  md5 299bd4f19e03caa2cd7e33681340c294   ·   test count: tests/, verified by collection</a:t>
            </a:r>
            <a:endParaRPr lang="en-US" sz="800" dirty="0"/>
          </a:p>
        </p:txBody>
      </p:sp>
      <p:sp>
        <p:nvSpPr>
          <p:cNvPr id="31" name="Text 29"/>
          <p:cNvSpPr/>
          <p:nvPr/>
        </p:nvSpPr>
        <p:spPr>
          <a:xfrm>
            <a:off x="10927080" y="6336792"/>
            <a:ext cx="713232" cy="219456"/>
          </a:xfrm>
          <a:prstGeom prst="rect">
            <a:avLst/>
          </a:prstGeom>
          <a:noFill/>
          <a:ln/>
        </p:spPr>
        <p:txBody>
          <a:bodyPr wrap="square" lIns="0" tIns="0" rIns="0" bIns="0" rtlCol="0" anchor="ctr"/>
          <a:lstStyle/>
          <a:p>
            <a:pPr algn="r" indent="0" marL="0">
              <a:buNone/>
            </a:pPr>
            <a:r>
              <a:rPr lang="en-US" sz="800" dirty="0">
                <a:solidFill>
                  <a:srgbClr val="6E7889"/>
                </a:solidFill>
                <a:latin typeface="Calibri" pitchFamily="34" charset="0"/>
                <a:ea typeface="Calibri" pitchFamily="34" charset="-122"/>
                <a:cs typeface="Calibri" pitchFamily="34" charset="-120"/>
              </a:rPr>
              <a:t>2</a:t>
            </a:r>
            <a:endParaRPr lang="en-US" sz="8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548640" y="292608"/>
            <a:ext cx="11094415" cy="201168"/>
          </a:xfrm>
          <a:prstGeom prst="rect">
            <a:avLst/>
          </a:prstGeom>
          <a:noFill/>
          <a:ln/>
        </p:spPr>
        <p:txBody>
          <a:bodyPr wrap="square" lIns="0" tIns="0" rIns="0" bIns="0" rtlCol="0" anchor="ctr"/>
          <a:lstStyle/>
          <a:p>
            <a:pPr indent="0" marL="0">
              <a:buNone/>
            </a:pPr>
            <a:r>
              <a:rPr lang="en-US" sz="950" b="1" spc="160" kern="0" dirty="0">
                <a:solidFill>
                  <a:srgbClr val="6E7889"/>
                </a:solidFill>
                <a:latin typeface="Calibri" pitchFamily="34" charset="0"/>
                <a:ea typeface="Calibri" pitchFamily="34" charset="-122"/>
                <a:cs typeface="Calibri" pitchFamily="34" charset="-120"/>
              </a:rPr>
              <a:t>03  ·  HOW CONDITIONAL ARE THESE CONCLUSIONS?</a:t>
            </a:r>
            <a:endParaRPr lang="en-US" sz="950" dirty="0"/>
          </a:p>
        </p:txBody>
      </p:sp>
      <p:sp>
        <p:nvSpPr>
          <p:cNvPr id="3" name="Text 1"/>
          <p:cNvSpPr/>
          <p:nvPr/>
        </p:nvSpPr>
        <p:spPr>
          <a:xfrm>
            <a:off x="548640" y="530352"/>
            <a:ext cx="11094415" cy="786384"/>
          </a:xfrm>
          <a:prstGeom prst="rect">
            <a:avLst/>
          </a:prstGeom>
          <a:noFill/>
          <a:ln/>
        </p:spPr>
        <p:txBody>
          <a:bodyPr wrap="square" lIns="0" tIns="0" rIns="0" bIns="0" rtlCol="0" anchor="t"/>
          <a:lstStyle/>
          <a:p>
            <a:pPr indent="0" marL="0">
              <a:lnSpc>
                <a:spcPts val="3200"/>
              </a:lnSpc>
              <a:buNone/>
            </a:pPr>
            <a:r>
              <a:rPr lang="en-US" sz="2600" b="1" dirty="0">
                <a:solidFill>
                  <a:srgbClr val="1E3A5F"/>
                </a:solidFill>
                <a:latin typeface="Cambria" pitchFamily="34" charset="0"/>
                <a:ea typeface="Cambria" pitchFamily="34" charset="-122"/>
                <a:cs typeface="Cambria" pitchFamily="34" charset="-120"/>
              </a:rPr>
              <a:t>The conclusions are conditional, and I measured how conditional: 196 pipeline runs</a:t>
            </a:r>
            <a:endParaRPr lang="en-US" sz="2600" dirty="0"/>
          </a:p>
        </p:txBody>
      </p:sp>
      <p:sp>
        <p:nvSpPr>
          <p:cNvPr id="4" name="Text 2"/>
          <p:cNvSpPr/>
          <p:nvPr/>
        </p:nvSpPr>
        <p:spPr>
          <a:xfrm>
            <a:off x="548640" y="1371600"/>
            <a:ext cx="11094415" cy="402336"/>
          </a:xfrm>
          <a:prstGeom prst="rect">
            <a:avLst/>
          </a:prstGeom>
          <a:noFill/>
          <a:ln/>
        </p:spPr>
        <p:txBody>
          <a:bodyPr wrap="square" lIns="0" tIns="0" rIns="0" bIns="0" rtlCol="0" anchor="t"/>
          <a:lstStyle/>
          <a:p>
            <a:pPr indent="0" marL="0">
              <a:lnSpc>
                <a:spcPts val="1600"/>
              </a:lnSpc>
              <a:buNone/>
            </a:pPr>
            <a:r>
              <a:rPr lang="en-US" sz="1200" dirty="0">
                <a:solidFill>
                  <a:srgbClr val="6E7889"/>
                </a:solidFill>
                <a:latin typeface="Calibri" pitchFamily="34" charset="0"/>
                <a:ea typeface="Calibri" pitchFamily="34" charset="-122"/>
                <a:cs typeface="Calibri" pitchFamily="34" charset="-120"/>
              </a:rPr>
              <a:t>Five of 21 dimensions are marked contested by hand in annotation/effects.py. That flag is an input, not a finding — so make sensitivity re-runs the whole pipeline under perturbed assumptions and publishes what moves.</a:t>
            </a:r>
            <a:endParaRPr lang="en-US" sz="12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548640" y="1975104"/>
          <a:ext cx="9144000" cy="914400"/>
        </p:xfrm>
        <a:graphic>
          <a:graphicData uri="http://schemas.openxmlformats.org/drawingml/2006/table">
            <a:tbl>
              <a:tblPr/>
              <a:tblGrid>
                <a:gridCol w="4251960"/>
                <a:gridCol w="1709928"/>
                <a:gridCol w="1709928"/>
                <a:gridCol w="1709928"/>
                <a:gridCol w="1712671"/>
              </a:tblGrid>
              <a:tr h="269748">
                <a:tc>
                  <a:txBody>
                    <a:bodyPr/>
                    <a:lstStyle/>
                    <a:p>
                      <a:pPr algn="l" indent="0" marL="0">
                        <a:buNone/>
                      </a:pPr>
                      <a:r>
                        <a:rPr lang="en-US" sz="950" b="1" dirty="0">
                          <a:solidFill>
                            <a:srgbClr val="FFFFFF"/>
                          </a:solidFill>
                          <a:latin typeface="Calibri" pitchFamily="34" charset="0"/>
                          <a:ea typeface="Calibri" pitchFamily="34" charset="-122"/>
                          <a:cs typeface="Calibri" pitchFamily="34" charset="-120"/>
                        </a:rPr>
                        <a:t>Perturbation</a:t>
                      </a:r>
                      <a:endParaRPr lang="en-US" sz="950" dirty="0">
                        <a:latin typeface="Calibri" charset="0"/>
                        <a:ea typeface="Calibri" charset="0"/>
                        <a:cs typeface="Calibri" charset="0"/>
                      </a:endParaRPr>
                    </a:p>
                  </a:txBody>
                  <a:tcPr marL="76200" marR="76200" marT="25400" marB="25400" anchor="ctr">
                    <a:lnL w="0" cap="flat" cmpd="sng" algn="ctr">
                      <a:noFill/>
                    </a:lnL>
                    <a:lnR w="0" cap="flat" cmpd="sng" algn="ctr">
                      <a:noFill/>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1E3A5F"/>
                    </a:solidFill>
                  </a:tcPr>
                </a:tc>
                <a:tc>
                  <a:txBody>
                    <a:bodyPr/>
                    <a:lstStyle/>
                    <a:p>
                      <a:pPr algn="ctr" indent="0" marL="0">
                        <a:buNone/>
                      </a:pPr>
                      <a:r>
                        <a:rPr lang="en-US" sz="950" b="1" dirty="0">
                          <a:solidFill>
                            <a:srgbClr val="FFFFFF"/>
                          </a:solidFill>
                          <a:latin typeface="Calibri" pitchFamily="34" charset="0"/>
                          <a:ea typeface="Calibri" pitchFamily="34" charset="-122"/>
                          <a:cs typeface="Calibri" pitchFamily="34" charset="-120"/>
                        </a:rPr>
                        <a:t>agentic</a:t>
                      </a:r>
                      <a:endParaRPr lang="en-US" sz="950" dirty="0">
                        <a:latin typeface="Calibri" charset="0"/>
                        <a:ea typeface="Calibri" charset="0"/>
                        <a:cs typeface="Calibri" charset="0"/>
                      </a:endParaRPr>
                    </a:p>
                  </a:txBody>
                  <a:tcPr marL="76200" marR="76200" marT="25400" marB="25400" anchor="ctr">
                    <a:lnL w="0" cap="flat" cmpd="sng" algn="ctr">
                      <a:noFill/>
                    </a:lnL>
                    <a:lnR w="0" cap="flat" cmpd="sng" algn="ctr">
                      <a:noFill/>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1E3A5F"/>
                    </a:solidFill>
                  </a:tcPr>
                </a:tc>
                <a:tc>
                  <a:txBody>
                    <a:bodyPr/>
                    <a:lstStyle/>
                    <a:p>
                      <a:pPr algn="ctr" indent="0" marL="0">
                        <a:buNone/>
                      </a:pPr>
                      <a:r>
                        <a:rPr lang="en-US" sz="950" b="1" dirty="0">
                          <a:solidFill>
                            <a:srgbClr val="FFFFFF"/>
                          </a:solidFill>
                          <a:latin typeface="Calibri" pitchFamily="34" charset="0"/>
                          <a:ea typeface="Calibri" pitchFamily="34" charset="-122"/>
                          <a:cs typeface="Calibri" pitchFamily="34" charset="-120"/>
                        </a:rPr>
                        <a:t>grounding</a:t>
                      </a:r>
                      <a:endParaRPr lang="en-US" sz="950" dirty="0">
                        <a:latin typeface="Calibri" charset="0"/>
                        <a:ea typeface="Calibri" charset="0"/>
                        <a:cs typeface="Calibri" charset="0"/>
                      </a:endParaRPr>
                    </a:p>
                  </a:txBody>
                  <a:tcPr marL="76200" marR="76200" marT="25400" marB="25400" anchor="ctr">
                    <a:lnL w="0" cap="flat" cmpd="sng" algn="ctr">
                      <a:noFill/>
                    </a:lnL>
                    <a:lnR w="0" cap="flat" cmpd="sng" algn="ctr">
                      <a:noFill/>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1E3A5F"/>
                    </a:solidFill>
                  </a:tcPr>
                </a:tc>
                <a:tc>
                  <a:txBody>
                    <a:bodyPr/>
                    <a:lstStyle/>
                    <a:p>
                      <a:pPr algn="ctr" indent="0" marL="0">
                        <a:buNone/>
                      </a:pPr>
                      <a:r>
                        <a:rPr lang="en-US" sz="950" b="1" dirty="0">
                          <a:solidFill>
                            <a:srgbClr val="FFFFFF"/>
                          </a:solidFill>
                          <a:latin typeface="Calibri" pitchFamily="34" charset="0"/>
                          <a:ea typeface="Calibri" pitchFamily="34" charset="-122"/>
                          <a:cs typeface="Calibri" pitchFamily="34" charset="-120"/>
                        </a:rPr>
                        <a:t>reasoning</a:t>
                      </a:r>
                      <a:endParaRPr lang="en-US" sz="950" dirty="0">
                        <a:latin typeface="Calibri" charset="0"/>
                        <a:ea typeface="Calibri" charset="0"/>
                        <a:cs typeface="Calibri" charset="0"/>
                      </a:endParaRPr>
                    </a:p>
                  </a:txBody>
                  <a:tcPr marL="76200" marR="76200" marT="25400" marB="25400" anchor="ctr">
                    <a:lnL w="0" cap="flat" cmpd="sng" algn="ctr">
                      <a:noFill/>
                    </a:lnL>
                    <a:lnR w="0" cap="flat" cmpd="sng" algn="ctr">
                      <a:noFill/>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1E3A5F"/>
                    </a:solidFill>
                  </a:tcPr>
                </a:tc>
                <a:tc>
                  <a:txBody>
                    <a:bodyPr/>
                    <a:lstStyle/>
                    <a:p>
                      <a:pPr algn="ctr" indent="0" marL="0">
                        <a:buNone/>
                      </a:pPr>
                      <a:r>
                        <a:rPr lang="en-US" sz="950" b="1" dirty="0">
                          <a:solidFill>
                            <a:srgbClr val="FFFFFF"/>
                          </a:solidFill>
                          <a:latin typeface="Calibri" pitchFamily="34" charset="0"/>
                          <a:ea typeface="Calibri" pitchFamily="34" charset="-122"/>
                          <a:cs typeface="Calibri" pitchFamily="34" charset="-120"/>
                        </a:rPr>
                        <a:t>refusal</a:t>
                      </a:r>
                      <a:endParaRPr lang="en-US" sz="950" dirty="0">
                        <a:latin typeface="Calibri" charset="0"/>
                        <a:ea typeface="Calibri" charset="0"/>
                        <a:cs typeface="Calibri" charset="0"/>
                      </a:endParaRPr>
                    </a:p>
                  </a:txBody>
                  <a:tcPr marL="76200" marR="76200" marT="25400" marB="25400" anchor="ctr">
                    <a:lnL w="0" cap="flat" cmpd="sng" algn="ctr">
                      <a:noFill/>
                    </a:lnL>
                    <a:lnR w="0" cap="flat" cmpd="sng" algn="ctr">
                      <a:noFill/>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1E3A5F"/>
                    </a:solidFill>
                  </a:tcPr>
                </a:tc>
              </a:tr>
              <a:tr h="269748">
                <a:tc>
                  <a:txBody>
                    <a:bodyPr/>
                    <a:lstStyle/>
                    <a:p>
                      <a:pPr algn="l" indent="0" marL="0">
                        <a:buNone/>
                      </a:pPr>
                      <a:r>
                        <a:rPr lang="en-US" sz="950" b="1" dirty="0">
                          <a:solidFill>
                            <a:srgbClr val="222831"/>
                          </a:solidFill>
                          <a:latin typeface="Calibri" pitchFamily="34" charset="0"/>
                          <a:ea typeface="Calibri" pitchFamily="34" charset="-122"/>
                          <a:cs typeface="Calibri" pitchFamily="34" charset="-120"/>
                        </a:rPr>
                        <a:t>Baseline — the run this deck reports</a:t>
                      </a:r>
                      <a:endParaRPr lang="en-US" sz="950" dirty="0">
                        <a:latin typeface="Calibri" charset="0"/>
                        <a:ea typeface="Calibri" charset="0"/>
                        <a:cs typeface="Calibri" charset="0"/>
                      </a:endParaRPr>
                    </a:p>
                  </a:txBody>
                  <a:tcPr marL="76200" marR="76200" marT="25400" marB="25400" anchor="ctr">
                    <a:lnL w="0" cap="flat" cmpd="sng" algn="ctr">
                      <a:noFill/>
                    </a:lnL>
                    <a:lnR w="0" cap="flat" cmpd="sng" algn="ctr">
                      <a:noFill/>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tcPr>
                </a:tc>
                <a:tc>
                  <a:txBody>
                    <a:bodyPr/>
                    <a:lstStyle/>
                    <a:p>
                      <a:pPr algn="ctr" indent="0" marL="0">
                        <a:buNone/>
                      </a:pPr>
                      <a:r>
                        <a:rPr lang="en-US" sz="950" b="1" dirty="0">
                          <a:solidFill>
                            <a:srgbClr val="2C6E49"/>
                          </a:solidFill>
                          <a:latin typeface="Calibri" pitchFamily="34" charset="0"/>
                          <a:ea typeface="Calibri" pitchFamily="34" charset="-122"/>
                          <a:cs typeface="Calibri" pitchFamily="34" charset="-120"/>
                        </a:rPr>
                        <a:t>INVEST</a:t>
                      </a:r>
                      <a:endParaRPr lang="en-US" sz="950" dirty="0">
                        <a:latin typeface="Calibri" charset="0"/>
                        <a:ea typeface="Calibri" charset="0"/>
                        <a:cs typeface="Calibri" charset="0"/>
                      </a:endParaRPr>
                    </a:p>
                  </a:txBody>
                  <a:tcPr marL="76200" marR="76200" marT="25400" marB="25400" anchor="ctr">
                    <a:lnL w="0" cap="flat" cmpd="sng" algn="ctr">
                      <a:noFill/>
                    </a:lnL>
                    <a:lnR w="0" cap="flat" cmpd="sng" algn="ctr">
                      <a:noFill/>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tcPr>
                </a:tc>
                <a:tc>
                  <a:txBody>
                    <a:bodyPr/>
                    <a:lstStyle/>
                    <a:p>
                      <a:pPr algn="ctr" indent="0" marL="0">
                        <a:buNone/>
                      </a:pPr>
                      <a:r>
                        <a:rPr lang="en-US" sz="950" b="1" dirty="0">
                          <a:solidFill>
                            <a:srgbClr val="222831"/>
                          </a:solidFill>
                          <a:latin typeface="Calibri" pitchFamily="34" charset="0"/>
                          <a:ea typeface="Calibri" pitchFamily="34" charset="-122"/>
                          <a:cs typeface="Calibri" pitchFamily="34" charset="-120"/>
                        </a:rPr>
                        <a:t>ITERATE</a:t>
                      </a:r>
                      <a:endParaRPr lang="en-US" sz="950" dirty="0">
                        <a:latin typeface="Calibri" charset="0"/>
                        <a:ea typeface="Calibri" charset="0"/>
                        <a:cs typeface="Calibri" charset="0"/>
                      </a:endParaRPr>
                    </a:p>
                  </a:txBody>
                  <a:tcPr marL="76200" marR="76200" marT="25400" marB="25400" anchor="ctr">
                    <a:lnL w="0" cap="flat" cmpd="sng" algn="ctr">
                      <a:noFill/>
                    </a:lnL>
                    <a:lnR w="0" cap="flat" cmpd="sng" algn="ctr">
                      <a:noFill/>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tcPr>
                </a:tc>
                <a:tc>
                  <a:txBody>
                    <a:bodyPr/>
                    <a:lstStyle/>
                    <a:p>
                      <a:pPr algn="ctr" indent="0" marL="0">
                        <a:buNone/>
                      </a:pPr>
                      <a:r>
                        <a:rPr lang="en-US" sz="950" b="1" dirty="0">
                          <a:solidFill>
                            <a:srgbClr val="222831"/>
                          </a:solidFill>
                          <a:latin typeface="Calibri" pitchFamily="34" charset="0"/>
                          <a:ea typeface="Calibri" pitchFamily="34" charset="-122"/>
                          <a:cs typeface="Calibri" pitchFamily="34" charset="-120"/>
                        </a:rPr>
                        <a:t>ITERATE</a:t>
                      </a:r>
                      <a:endParaRPr lang="en-US" sz="950" dirty="0">
                        <a:latin typeface="Calibri" charset="0"/>
                        <a:ea typeface="Calibri" charset="0"/>
                        <a:cs typeface="Calibri" charset="0"/>
                      </a:endParaRPr>
                    </a:p>
                  </a:txBody>
                  <a:tcPr marL="76200" marR="76200" marT="25400" marB="25400" anchor="ctr">
                    <a:lnL w="0" cap="flat" cmpd="sng" algn="ctr">
                      <a:noFill/>
                    </a:lnL>
                    <a:lnR w="0" cap="flat" cmpd="sng" algn="ctr">
                      <a:noFill/>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tcPr>
                </a:tc>
                <a:tc>
                  <a:txBody>
                    <a:bodyPr/>
                    <a:lstStyle/>
                    <a:p>
                      <a:pPr algn="ctr" indent="0" marL="0">
                        <a:buNone/>
                      </a:pPr>
                      <a:r>
                        <a:rPr lang="en-US" sz="950" b="1" dirty="0">
                          <a:solidFill>
                            <a:srgbClr val="9B2226"/>
                          </a:solidFill>
                          <a:latin typeface="Calibri" pitchFamily="34" charset="0"/>
                          <a:ea typeface="Calibri" pitchFamily="34" charset="-122"/>
                          <a:cs typeface="Calibri" pitchFamily="34" charset="-120"/>
                        </a:rPr>
                        <a:t>STOP</a:t>
                      </a:r>
                      <a:endParaRPr lang="en-US" sz="950" dirty="0">
                        <a:latin typeface="Calibri" charset="0"/>
                        <a:ea typeface="Calibri" charset="0"/>
                        <a:cs typeface="Calibri" charset="0"/>
                      </a:endParaRPr>
                    </a:p>
                  </a:txBody>
                  <a:tcPr marL="76200" marR="76200" marT="25400" marB="25400" anchor="ctr">
                    <a:lnL w="0" cap="flat" cmpd="sng" algn="ctr">
                      <a:noFill/>
                    </a:lnL>
                    <a:lnR w="0" cap="flat" cmpd="sng" algn="ctr">
                      <a:noFill/>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tcPr>
                </a:tc>
              </a:tr>
              <a:tr h="269748">
                <a:tc>
                  <a:txBody>
                    <a:bodyPr/>
                    <a:lstStyle/>
                    <a:p>
                      <a:pPr algn="l" indent="0" marL="0">
                        <a:buNone/>
                      </a:pPr>
                      <a:r>
                        <a:rPr lang="en-US" sz="950" dirty="0">
                          <a:solidFill>
                            <a:srgbClr val="222831"/>
                          </a:solidFill>
                          <a:latin typeface="Calibri" pitchFamily="34" charset="0"/>
                          <a:ea typeface="Calibri" pitchFamily="34" charset="-122"/>
                          <a:cs typeface="Calibri" pitchFamily="34" charset="-120"/>
                        </a:rPr>
                        <a:t>Clear refusal's three contested flags</a:t>
                      </a:r>
                      <a:endParaRPr lang="en-US" sz="950" dirty="0">
                        <a:latin typeface="Calibri" charset="0"/>
                        <a:ea typeface="Calibri" charset="0"/>
                        <a:cs typeface="Calibri" charset="0"/>
                      </a:endParaRPr>
                    </a:p>
                  </a:txBody>
                  <a:tcPr marL="76200" marR="76200" marT="25400" marB="25400" anchor="ctr">
                    <a:lnL w="0" cap="flat" cmpd="sng" algn="ctr">
                      <a:noFill/>
                    </a:lnL>
                    <a:lnR w="0" cap="flat" cmpd="sng" algn="ctr">
                      <a:noFill/>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tcPr>
                </a:tc>
                <a:tc>
                  <a:txBody>
                    <a:bodyPr/>
                    <a:lstStyle/>
                    <a:p>
                      <a:pPr algn="ctr" indent="0" marL="0">
                        <a:buNone/>
                      </a:pPr>
                      <a:r>
                        <a:rPr lang="en-US" sz="950" dirty="0">
                          <a:solidFill>
                            <a:srgbClr val="6E7889"/>
                          </a:solidFill>
                          <a:latin typeface="Calibri" pitchFamily="34" charset="0"/>
                          <a:ea typeface="Calibri" pitchFamily="34" charset="-122"/>
                          <a:cs typeface="Calibri" pitchFamily="34" charset="-120"/>
                        </a:rPr>
                        <a:t>invest</a:t>
                      </a:r>
                      <a:endParaRPr lang="en-US" sz="950" dirty="0">
                        <a:latin typeface="Calibri" charset="0"/>
                        <a:ea typeface="Calibri" charset="0"/>
                        <a:cs typeface="Calibri" charset="0"/>
                      </a:endParaRPr>
                    </a:p>
                  </a:txBody>
                  <a:tcPr marL="76200" marR="76200" marT="25400" marB="25400" anchor="ctr">
                    <a:lnL w="0" cap="flat" cmpd="sng" algn="ctr">
                      <a:noFill/>
                    </a:lnL>
                    <a:lnR w="0" cap="flat" cmpd="sng" algn="ctr">
                      <a:noFill/>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tcPr>
                </a:tc>
                <a:tc>
                  <a:txBody>
                    <a:bodyPr/>
                    <a:lstStyle/>
                    <a:p>
                      <a:pPr algn="ctr" indent="0" marL="0">
                        <a:buNone/>
                      </a:pPr>
                      <a:r>
                        <a:rPr lang="en-US" sz="950" dirty="0">
                          <a:solidFill>
                            <a:srgbClr val="6E7889"/>
                          </a:solidFill>
                          <a:latin typeface="Calibri" pitchFamily="34" charset="0"/>
                          <a:ea typeface="Calibri" pitchFamily="34" charset="-122"/>
                          <a:cs typeface="Calibri" pitchFamily="34" charset="-120"/>
                        </a:rPr>
                        <a:t>iterate</a:t>
                      </a:r>
                      <a:endParaRPr lang="en-US" sz="950" dirty="0">
                        <a:latin typeface="Calibri" charset="0"/>
                        <a:ea typeface="Calibri" charset="0"/>
                        <a:cs typeface="Calibri" charset="0"/>
                      </a:endParaRPr>
                    </a:p>
                  </a:txBody>
                  <a:tcPr marL="76200" marR="76200" marT="25400" marB="25400" anchor="ctr">
                    <a:lnL w="0" cap="flat" cmpd="sng" algn="ctr">
                      <a:noFill/>
                    </a:lnL>
                    <a:lnR w="0" cap="flat" cmpd="sng" algn="ctr">
                      <a:noFill/>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tcPr>
                </a:tc>
                <a:tc>
                  <a:txBody>
                    <a:bodyPr/>
                    <a:lstStyle/>
                    <a:p>
                      <a:pPr algn="ctr" indent="0" marL="0">
                        <a:buNone/>
                      </a:pPr>
                      <a:r>
                        <a:rPr lang="en-US" sz="950" dirty="0">
                          <a:solidFill>
                            <a:srgbClr val="6E7889"/>
                          </a:solidFill>
                          <a:latin typeface="Calibri" pitchFamily="34" charset="0"/>
                          <a:ea typeface="Calibri" pitchFamily="34" charset="-122"/>
                          <a:cs typeface="Calibri" pitchFamily="34" charset="-120"/>
                        </a:rPr>
                        <a:t>iterate</a:t>
                      </a:r>
                      <a:endParaRPr lang="en-US" sz="950" dirty="0">
                        <a:latin typeface="Calibri" charset="0"/>
                        <a:ea typeface="Calibri" charset="0"/>
                        <a:cs typeface="Calibri" charset="0"/>
                      </a:endParaRPr>
                    </a:p>
                  </a:txBody>
                  <a:tcPr marL="76200" marR="76200" marT="25400" marB="25400" anchor="ctr">
                    <a:lnL w="0" cap="flat" cmpd="sng" algn="ctr">
                      <a:noFill/>
                    </a:lnL>
                    <a:lnR w="0" cap="flat" cmpd="sng" algn="ctr">
                      <a:noFill/>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tcPr>
                </a:tc>
                <a:tc>
                  <a:txBody>
                    <a:bodyPr/>
                    <a:lstStyle/>
                    <a:p>
                      <a:pPr algn="ctr" indent="0" marL="0">
                        <a:buNone/>
                      </a:pPr>
                      <a:r>
                        <a:rPr lang="en-US" sz="950" b="1" dirty="0">
                          <a:solidFill>
                            <a:srgbClr val="9A6B12"/>
                          </a:solidFill>
                          <a:latin typeface="Calibri" pitchFamily="34" charset="0"/>
                          <a:ea typeface="Calibri" pitchFamily="34" charset="-122"/>
                          <a:cs typeface="Calibri" pitchFamily="34" charset="-120"/>
                        </a:rPr>
                        <a:t>ITERATE</a:t>
                      </a:r>
                      <a:endParaRPr lang="en-US" sz="950" dirty="0">
                        <a:latin typeface="Calibri" charset="0"/>
                        <a:ea typeface="Calibri" charset="0"/>
                        <a:cs typeface="Calibri" charset="0"/>
                      </a:endParaRPr>
                    </a:p>
                  </a:txBody>
                  <a:tcPr marL="76200" marR="76200" marT="25400" marB="25400" anchor="ctr">
                    <a:lnL w="0" cap="flat" cmpd="sng" algn="ctr">
                      <a:noFill/>
                    </a:lnL>
                    <a:lnR w="0" cap="flat" cmpd="sng" algn="ctr">
                      <a:noFill/>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tcPr>
                </a:tc>
              </a:tr>
              <a:tr h="269748">
                <a:tc>
                  <a:txBody>
                    <a:bodyPr/>
                    <a:lstStyle/>
                    <a:p>
                      <a:pPr algn="l" indent="0" marL="0">
                        <a:buNone/>
                      </a:pPr>
                      <a:r>
                        <a:rPr lang="en-US" sz="950" dirty="0">
                          <a:solidFill>
                            <a:srgbClr val="222831"/>
                          </a:solidFill>
                          <a:latin typeface="Calibri" pitchFamily="34" charset="0"/>
                          <a:ea typeface="Calibri" pitchFamily="34" charset="-122"/>
                          <a:cs typeface="Calibri" pitchFamily="34" charset="-120"/>
                        </a:rPr>
                        <a:t>Clear every contested flag in the portfolio</a:t>
                      </a:r>
                      <a:endParaRPr lang="en-US" sz="950" dirty="0">
                        <a:latin typeface="Calibri" charset="0"/>
                        <a:ea typeface="Calibri" charset="0"/>
                        <a:cs typeface="Calibri" charset="0"/>
                      </a:endParaRPr>
                    </a:p>
                  </a:txBody>
                  <a:tcPr marL="76200" marR="76200" marT="25400" marB="25400" anchor="ctr">
                    <a:lnL w="0" cap="flat" cmpd="sng" algn="ctr">
                      <a:noFill/>
                    </a:lnL>
                    <a:lnR w="0" cap="flat" cmpd="sng" algn="ctr">
                      <a:noFill/>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tcPr>
                </a:tc>
                <a:tc>
                  <a:txBody>
                    <a:bodyPr/>
                    <a:lstStyle/>
                    <a:p>
                      <a:pPr algn="ctr" indent="0" marL="0">
                        <a:buNone/>
                      </a:pPr>
                      <a:r>
                        <a:rPr lang="en-US" sz="950" dirty="0">
                          <a:solidFill>
                            <a:srgbClr val="6E7889"/>
                          </a:solidFill>
                          <a:latin typeface="Calibri" pitchFamily="34" charset="0"/>
                          <a:ea typeface="Calibri" pitchFamily="34" charset="-122"/>
                          <a:cs typeface="Calibri" pitchFamily="34" charset="-120"/>
                        </a:rPr>
                        <a:t>invest</a:t>
                      </a:r>
                      <a:endParaRPr lang="en-US" sz="950" dirty="0">
                        <a:latin typeface="Calibri" charset="0"/>
                        <a:ea typeface="Calibri" charset="0"/>
                        <a:cs typeface="Calibri" charset="0"/>
                      </a:endParaRPr>
                    </a:p>
                  </a:txBody>
                  <a:tcPr marL="76200" marR="76200" marT="25400" marB="25400" anchor="ctr">
                    <a:lnL w="0" cap="flat" cmpd="sng" algn="ctr">
                      <a:noFill/>
                    </a:lnL>
                    <a:lnR w="0" cap="flat" cmpd="sng" algn="ctr">
                      <a:noFill/>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tcPr>
                </a:tc>
                <a:tc>
                  <a:txBody>
                    <a:bodyPr/>
                    <a:lstStyle/>
                    <a:p>
                      <a:pPr algn="ctr" indent="0" marL="0">
                        <a:buNone/>
                      </a:pPr>
                      <a:r>
                        <a:rPr lang="en-US" sz="950" dirty="0">
                          <a:solidFill>
                            <a:srgbClr val="6E7889"/>
                          </a:solidFill>
                          <a:latin typeface="Calibri" pitchFamily="34" charset="0"/>
                          <a:ea typeface="Calibri" pitchFamily="34" charset="-122"/>
                          <a:cs typeface="Calibri" pitchFamily="34" charset="-120"/>
                        </a:rPr>
                        <a:t>iterate</a:t>
                      </a:r>
                      <a:endParaRPr lang="en-US" sz="950" dirty="0">
                        <a:latin typeface="Calibri" charset="0"/>
                        <a:ea typeface="Calibri" charset="0"/>
                        <a:cs typeface="Calibri" charset="0"/>
                      </a:endParaRPr>
                    </a:p>
                  </a:txBody>
                  <a:tcPr marL="76200" marR="76200" marT="25400" marB="25400" anchor="ctr">
                    <a:lnL w="0" cap="flat" cmpd="sng" algn="ctr">
                      <a:noFill/>
                    </a:lnL>
                    <a:lnR w="0" cap="flat" cmpd="sng" algn="ctr">
                      <a:noFill/>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tcPr>
                </a:tc>
                <a:tc>
                  <a:txBody>
                    <a:bodyPr/>
                    <a:lstStyle/>
                    <a:p>
                      <a:pPr algn="ctr" indent="0" marL="0">
                        <a:buNone/>
                      </a:pPr>
                      <a:r>
                        <a:rPr lang="en-US" sz="950" b="1" dirty="0">
                          <a:solidFill>
                            <a:srgbClr val="9A6B12"/>
                          </a:solidFill>
                          <a:latin typeface="Calibri" pitchFamily="34" charset="0"/>
                          <a:ea typeface="Calibri" pitchFamily="34" charset="-122"/>
                          <a:cs typeface="Calibri" pitchFamily="34" charset="-120"/>
                        </a:rPr>
                        <a:t>HOLD</a:t>
                      </a:r>
                      <a:endParaRPr lang="en-US" sz="950" dirty="0">
                        <a:latin typeface="Calibri" charset="0"/>
                        <a:ea typeface="Calibri" charset="0"/>
                        <a:cs typeface="Calibri" charset="0"/>
                      </a:endParaRPr>
                    </a:p>
                  </a:txBody>
                  <a:tcPr marL="76200" marR="76200" marT="25400" marB="25400" anchor="ctr">
                    <a:lnL w="0" cap="flat" cmpd="sng" algn="ctr">
                      <a:noFill/>
                    </a:lnL>
                    <a:lnR w="0" cap="flat" cmpd="sng" algn="ctr">
                      <a:noFill/>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tcPr>
                </a:tc>
                <a:tc>
                  <a:txBody>
                    <a:bodyPr/>
                    <a:lstStyle/>
                    <a:p>
                      <a:pPr algn="ctr" indent="0" marL="0">
                        <a:buNone/>
                      </a:pPr>
                      <a:r>
                        <a:rPr lang="en-US" sz="950" b="1" dirty="0">
                          <a:solidFill>
                            <a:srgbClr val="9A6B12"/>
                          </a:solidFill>
                          <a:latin typeface="Calibri" pitchFamily="34" charset="0"/>
                          <a:ea typeface="Calibri" pitchFamily="34" charset="-122"/>
                          <a:cs typeface="Calibri" pitchFamily="34" charset="-120"/>
                        </a:rPr>
                        <a:t>ITERATE</a:t>
                      </a:r>
                      <a:endParaRPr lang="en-US" sz="950" dirty="0">
                        <a:latin typeface="Calibri" charset="0"/>
                        <a:ea typeface="Calibri" charset="0"/>
                        <a:cs typeface="Calibri" charset="0"/>
                      </a:endParaRPr>
                    </a:p>
                  </a:txBody>
                  <a:tcPr marL="76200" marR="76200" marT="25400" marB="25400" anchor="ctr">
                    <a:lnL w="0" cap="flat" cmpd="sng" algn="ctr">
                      <a:noFill/>
                    </a:lnL>
                    <a:lnR w="0" cap="flat" cmpd="sng" algn="ctr">
                      <a:noFill/>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tcPr>
                </a:tc>
              </a:tr>
              <a:tr h="269748">
                <a:tc>
                  <a:txBody>
                    <a:bodyPr/>
                    <a:lstStyle/>
                    <a:p>
                      <a:pPr algn="l" indent="0" marL="0">
                        <a:buNone/>
                      </a:pPr>
                      <a:r>
                        <a:rPr lang="en-US" sz="950" dirty="0">
                          <a:solidFill>
                            <a:srgbClr val="222831"/>
                          </a:solidFill>
                          <a:latin typeface="Calibri" pitchFamily="34" charset="0"/>
                          <a:ea typeface="Calibri" pitchFamily="34" charset="-122"/>
                          <a:cs typeface="Calibri" pitchFamily="34" charset="-120"/>
                        </a:rPr>
                        <a:t>Mark every dimension in the portfolio contested</a:t>
                      </a:r>
                      <a:endParaRPr lang="en-US" sz="950" dirty="0">
                        <a:latin typeface="Calibri" charset="0"/>
                        <a:ea typeface="Calibri" charset="0"/>
                        <a:cs typeface="Calibri" charset="0"/>
                      </a:endParaRPr>
                    </a:p>
                  </a:txBody>
                  <a:tcPr marL="76200" marR="76200" marT="25400" marB="25400" anchor="ctr">
                    <a:lnL w="0" cap="flat" cmpd="sng" algn="ctr">
                      <a:noFill/>
                    </a:lnL>
                    <a:lnR w="0" cap="flat" cmpd="sng" algn="ctr">
                      <a:noFill/>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tcPr>
                </a:tc>
                <a:tc>
                  <a:txBody>
                    <a:bodyPr/>
                    <a:lstStyle/>
                    <a:p>
                      <a:pPr algn="ctr" indent="0" marL="0">
                        <a:buNone/>
                      </a:pPr>
                      <a:r>
                        <a:rPr lang="en-US" sz="950" b="1" dirty="0">
                          <a:solidFill>
                            <a:srgbClr val="9A6B12"/>
                          </a:solidFill>
                          <a:latin typeface="Calibri" pitchFamily="34" charset="0"/>
                          <a:ea typeface="Calibri" pitchFamily="34" charset="-122"/>
                          <a:cs typeface="Calibri" pitchFamily="34" charset="-120"/>
                        </a:rPr>
                        <a:t>ITERATE</a:t>
                      </a:r>
                      <a:endParaRPr lang="en-US" sz="950" dirty="0">
                        <a:latin typeface="Calibri" charset="0"/>
                        <a:ea typeface="Calibri" charset="0"/>
                        <a:cs typeface="Calibri" charset="0"/>
                      </a:endParaRPr>
                    </a:p>
                  </a:txBody>
                  <a:tcPr marL="76200" marR="76200" marT="25400" marB="25400" anchor="ctr">
                    <a:lnL w="0" cap="flat" cmpd="sng" algn="ctr">
                      <a:noFill/>
                    </a:lnL>
                    <a:lnR w="0" cap="flat" cmpd="sng" algn="ctr">
                      <a:noFill/>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tcPr>
                </a:tc>
                <a:tc>
                  <a:txBody>
                    <a:bodyPr/>
                    <a:lstStyle/>
                    <a:p>
                      <a:pPr algn="ctr" indent="0" marL="0">
                        <a:buNone/>
                      </a:pPr>
                      <a:r>
                        <a:rPr lang="en-US" sz="950" dirty="0">
                          <a:solidFill>
                            <a:srgbClr val="6E7889"/>
                          </a:solidFill>
                          <a:latin typeface="Calibri" pitchFamily="34" charset="0"/>
                          <a:ea typeface="Calibri" pitchFamily="34" charset="-122"/>
                          <a:cs typeface="Calibri" pitchFamily="34" charset="-120"/>
                        </a:rPr>
                        <a:t>iterate</a:t>
                      </a:r>
                      <a:endParaRPr lang="en-US" sz="950" dirty="0">
                        <a:latin typeface="Calibri" charset="0"/>
                        <a:ea typeface="Calibri" charset="0"/>
                        <a:cs typeface="Calibri" charset="0"/>
                      </a:endParaRPr>
                    </a:p>
                  </a:txBody>
                  <a:tcPr marL="76200" marR="76200" marT="25400" marB="25400" anchor="ctr">
                    <a:lnL w="0" cap="flat" cmpd="sng" algn="ctr">
                      <a:noFill/>
                    </a:lnL>
                    <a:lnR w="0" cap="flat" cmpd="sng" algn="ctr">
                      <a:noFill/>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tcPr>
                </a:tc>
                <a:tc>
                  <a:txBody>
                    <a:bodyPr/>
                    <a:lstStyle/>
                    <a:p>
                      <a:pPr algn="ctr" indent="0" marL="0">
                        <a:buNone/>
                      </a:pPr>
                      <a:r>
                        <a:rPr lang="en-US" sz="950" dirty="0">
                          <a:solidFill>
                            <a:srgbClr val="6E7889"/>
                          </a:solidFill>
                          <a:latin typeface="Calibri" pitchFamily="34" charset="0"/>
                          <a:ea typeface="Calibri" pitchFamily="34" charset="-122"/>
                          <a:cs typeface="Calibri" pitchFamily="34" charset="-120"/>
                        </a:rPr>
                        <a:t>iterate</a:t>
                      </a:r>
                      <a:endParaRPr lang="en-US" sz="950" dirty="0">
                        <a:latin typeface="Calibri" charset="0"/>
                        <a:ea typeface="Calibri" charset="0"/>
                        <a:cs typeface="Calibri" charset="0"/>
                      </a:endParaRPr>
                    </a:p>
                  </a:txBody>
                  <a:tcPr marL="76200" marR="76200" marT="25400" marB="25400" anchor="ctr">
                    <a:lnL w="0" cap="flat" cmpd="sng" algn="ctr">
                      <a:noFill/>
                    </a:lnL>
                    <a:lnR w="0" cap="flat" cmpd="sng" algn="ctr">
                      <a:noFill/>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tcPr>
                </a:tc>
                <a:tc>
                  <a:txBody>
                    <a:bodyPr/>
                    <a:lstStyle/>
                    <a:p>
                      <a:pPr algn="ctr" indent="0" marL="0">
                        <a:buNone/>
                      </a:pPr>
                      <a:r>
                        <a:rPr lang="en-US" sz="950" b="1" dirty="0">
                          <a:solidFill>
                            <a:srgbClr val="9A6B12"/>
                          </a:solidFill>
                          <a:latin typeface="Calibri" pitchFamily="34" charset="0"/>
                          <a:ea typeface="Calibri" pitchFamily="34" charset="-122"/>
                          <a:cs typeface="Calibri" pitchFamily="34" charset="-120"/>
                        </a:rPr>
                        <a:t>ITERATE</a:t>
                      </a:r>
                      <a:endParaRPr lang="en-US" sz="950" dirty="0">
                        <a:latin typeface="Calibri" charset="0"/>
                        <a:ea typeface="Calibri" charset="0"/>
                        <a:cs typeface="Calibri" charset="0"/>
                      </a:endParaRPr>
                    </a:p>
                  </a:txBody>
                  <a:tcPr marL="76200" marR="76200" marT="25400" marB="25400" anchor="ctr">
                    <a:lnL w="0" cap="flat" cmpd="sng" algn="ctr">
                      <a:noFill/>
                    </a:lnL>
                    <a:lnR w="0" cap="flat" cmpd="sng" algn="ctr">
                      <a:noFill/>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tcPr>
                </a:tc>
              </a:tr>
              <a:tr h="269748">
                <a:tc>
                  <a:txBody>
                    <a:bodyPr/>
                    <a:lstStyle/>
                    <a:p>
                      <a:pPr algn="l" indent="0" marL="0">
                        <a:buNone/>
                      </a:pPr>
                      <a:r>
                        <a:rPr lang="en-US" sz="950" dirty="0">
                          <a:solidFill>
                            <a:srgbClr val="222831"/>
                          </a:solidFill>
                          <a:latin typeface="Calibri" pitchFamily="34" charset="0"/>
                          <a:ea typeface="Calibri" pitchFamily="34" charset="-122"/>
                          <a:cs typeface="Calibri" pitchFamily="34" charset="-120"/>
                        </a:rPr>
                        <a:t>The reviewer's three-for-three swap onto agentic</a:t>
                      </a:r>
                      <a:endParaRPr lang="en-US" sz="950" dirty="0">
                        <a:latin typeface="Calibri" charset="0"/>
                        <a:ea typeface="Calibri" charset="0"/>
                        <a:cs typeface="Calibri" charset="0"/>
                      </a:endParaRPr>
                    </a:p>
                  </a:txBody>
                  <a:tcPr marL="76200" marR="76200" marT="25400" marB="25400" anchor="ctr">
                    <a:lnL w="0" cap="flat" cmpd="sng" algn="ctr">
                      <a:noFill/>
                    </a:lnL>
                    <a:lnR w="0" cap="flat" cmpd="sng" algn="ctr">
                      <a:noFill/>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tcPr>
                </a:tc>
                <a:tc>
                  <a:txBody>
                    <a:bodyPr/>
                    <a:lstStyle/>
                    <a:p>
                      <a:pPr algn="ctr" indent="0" marL="0">
                        <a:buNone/>
                      </a:pPr>
                      <a:r>
                        <a:rPr lang="en-US" sz="950" b="1" dirty="0">
                          <a:solidFill>
                            <a:srgbClr val="9A6B12"/>
                          </a:solidFill>
                          <a:latin typeface="Calibri" pitchFamily="34" charset="0"/>
                          <a:ea typeface="Calibri" pitchFamily="34" charset="-122"/>
                          <a:cs typeface="Calibri" pitchFamily="34" charset="-120"/>
                        </a:rPr>
                        <a:t>ITERATE</a:t>
                      </a:r>
                      <a:endParaRPr lang="en-US" sz="950" dirty="0">
                        <a:latin typeface="Calibri" charset="0"/>
                        <a:ea typeface="Calibri" charset="0"/>
                        <a:cs typeface="Calibri" charset="0"/>
                      </a:endParaRPr>
                    </a:p>
                  </a:txBody>
                  <a:tcPr marL="76200" marR="76200" marT="25400" marB="25400" anchor="ctr">
                    <a:lnL w="0" cap="flat" cmpd="sng" algn="ctr">
                      <a:noFill/>
                    </a:lnL>
                    <a:lnR w="0" cap="flat" cmpd="sng" algn="ctr">
                      <a:noFill/>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tcPr>
                </a:tc>
                <a:tc>
                  <a:txBody>
                    <a:bodyPr/>
                    <a:lstStyle/>
                    <a:p>
                      <a:pPr algn="ctr" indent="0" marL="0">
                        <a:buNone/>
                      </a:pPr>
                      <a:r>
                        <a:rPr lang="en-US" sz="950" dirty="0">
                          <a:solidFill>
                            <a:srgbClr val="6E7889"/>
                          </a:solidFill>
                          <a:latin typeface="Calibri" pitchFamily="34" charset="0"/>
                          <a:ea typeface="Calibri" pitchFamily="34" charset="-122"/>
                          <a:cs typeface="Calibri" pitchFamily="34" charset="-120"/>
                        </a:rPr>
                        <a:t>iterate</a:t>
                      </a:r>
                      <a:endParaRPr lang="en-US" sz="950" dirty="0">
                        <a:latin typeface="Calibri" charset="0"/>
                        <a:ea typeface="Calibri" charset="0"/>
                        <a:cs typeface="Calibri" charset="0"/>
                      </a:endParaRPr>
                    </a:p>
                  </a:txBody>
                  <a:tcPr marL="76200" marR="76200" marT="25400" marB="25400" anchor="ctr">
                    <a:lnL w="0" cap="flat" cmpd="sng" algn="ctr">
                      <a:noFill/>
                    </a:lnL>
                    <a:lnR w="0" cap="flat" cmpd="sng" algn="ctr">
                      <a:noFill/>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tcPr>
                </a:tc>
                <a:tc>
                  <a:txBody>
                    <a:bodyPr/>
                    <a:lstStyle/>
                    <a:p>
                      <a:pPr algn="ctr" indent="0" marL="0">
                        <a:buNone/>
                      </a:pPr>
                      <a:r>
                        <a:rPr lang="en-US" sz="950" dirty="0">
                          <a:solidFill>
                            <a:srgbClr val="6E7889"/>
                          </a:solidFill>
                          <a:latin typeface="Calibri" pitchFamily="34" charset="0"/>
                          <a:ea typeface="Calibri" pitchFamily="34" charset="-122"/>
                          <a:cs typeface="Calibri" pitchFamily="34" charset="-120"/>
                        </a:rPr>
                        <a:t>iterate</a:t>
                      </a:r>
                      <a:endParaRPr lang="en-US" sz="950" dirty="0">
                        <a:latin typeface="Calibri" charset="0"/>
                        <a:ea typeface="Calibri" charset="0"/>
                        <a:cs typeface="Calibri" charset="0"/>
                      </a:endParaRPr>
                    </a:p>
                  </a:txBody>
                  <a:tcPr marL="76200" marR="76200" marT="25400" marB="25400" anchor="ctr">
                    <a:lnL w="0" cap="flat" cmpd="sng" algn="ctr">
                      <a:noFill/>
                    </a:lnL>
                    <a:lnR w="0" cap="flat" cmpd="sng" algn="ctr">
                      <a:noFill/>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tcPr>
                </a:tc>
                <a:tc>
                  <a:txBody>
                    <a:bodyPr/>
                    <a:lstStyle/>
                    <a:p>
                      <a:pPr algn="ctr" indent="0" marL="0">
                        <a:buNone/>
                      </a:pPr>
                      <a:r>
                        <a:rPr lang="en-US" sz="950" b="1" dirty="0">
                          <a:solidFill>
                            <a:srgbClr val="9A6B12"/>
                          </a:solidFill>
                          <a:latin typeface="Calibri" pitchFamily="34" charset="0"/>
                          <a:ea typeface="Calibri" pitchFamily="34" charset="-122"/>
                          <a:cs typeface="Calibri" pitchFamily="34" charset="-120"/>
                        </a:rPr>
                        <a:t>ITERATE</a:t>
                      </a:r>
                      <a:endParaRPr lang="en-US" sz="950" dirty="0">
                        <a:latin typeface="Calibri" charset="0"/>
                        <a:ea typeface="Calibri" charset="0"/>
                        <a:cs typeface="Calibri" charset="0"/>
                      </a:endParaRPr>
                    </a:p>
                  </a:txBody>
                  <a:tcPr marL="76200" marR="76200" marT="25400" marB="25400" anchor="ctr">
                    <a:lnL w="0" cap="flat" cmpd="sng" algn="ctr">
                      <a:noFill/>
                    </a:lnL>
                    <a:lnR w="0" cap="flat" cmpd="sng" algn="ctr">
                      <a:noFill/>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tcPr>
                </a:tc>
              </a:tr>
              <a:tr h="269748">
                <a:tc>
                  <a:txBody>
                    <a:bodyPr/>
                    <a:lstStyle/>
                    <a:p>
                      <a:pPr algn="l" indent="0" marL="0">
                        <a:buNone/>
                      </a:pPr>
                      <a:r>
                        <a:rPr lang="en-US" sz="950" dirty="0">
                          <a:solidFill>
                            <a:srgbClr val="222831"/>
                          </a:solidFill>
                          <a:latin typeface="Calibri" pitchFamily="34" charset="0"/>
                          <a:ea typeface="Calibri" pitchFamily="34" charset="-122"/>
                          <a:cs typeface="Calibri" pitchFamily="34" charset="-120"/>
                        </a:rPr>
                        <a:t>Reassign the same 5 flags at random across 21 dimensions, 20 seeds</a:t>
                      </a:r>
                      <a:endParaRPr lang="en-US" sz="950" dirty="0">
                        <a:latin typeface="Calibri" charset="0"/>
                        <a:ea typeface="Calibri" charset="0"/>
                        <a:cs typeface="Calibri" charset="0"/>
                      </a:endParaRPr>
                    </a:p>
                  </a:txBody>
                  <a:tcPr marL="76200" marR="76200" marT="25400" marB="25400" anchor="ctr">
                    <a:lnL w="0" cap="flat" cmpd="sng" algn="ctr">
                      <a:noFill/>
                    </a:lnL>
                    <a:lnR w="0" cap="flat" cmpd="sng" algn="ctr">
                      <a:noFill/>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tcPr>
                </a:tc>
                <a:tc>
                  <a:txBody>
                    <a:bodyPr/>
                    <a:lstStyle/>
                    <a:p>
                      <a:pPr algn="ctr" indent="0" marL="0">
                        <a:buNone/>
                      </a:pPr>
                      <a:r>
                        <a:rPr lang="en-US" sz="950" b="1" dirty="0">
                          <a:solidFill>
                            <a:srgbClr val="9A6B12"/>
                          </a:solidFill>
                          <a:latin typeface="Calibri" pitchFamily="34" charset="0"/>
                          <a:ea typeface="Calibri" pitchFamily="34" charset="-122"/>
                          <a:cs typeface="Calibri" pitchFamily="34" charset="-120"/>
                        </a:rPr>
                        <a:t>invest 6/20</a:t>
                      </a:r>
                      <a:endParaRPr lang="en-US" sz="950" dirty="0">
                        <a:latin typeface="Calibri" charset="0"/>
                        <a:ea typeface="Calibri" charset="0"/>
                        <a:cs typeface="Calibri" charset="0"/>
                      </a:endParaRPr>
                    </a:p>
                  </a:txBody>
                  <a:tcPr marL="76200" marR="76200" marT="25400" marB="25400" anchor="ctr">
                    <a:lnL w="0" cap="flat" cmpd="sng" algn="ctr">
                      <a:noFill/>
                    </a:lnL>
                    <a:lnR w="0" cap="flat" cmpd="sng" algn="ctr">
                      <a:noFill/>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tcPr>
                </a:tc>
                <a:tc>
                  <a:txBody>
                    <a:bodyPr/>
                    <a:lstStyle/>
                    <a:p>
                      <a:pPr algn="ctr" indent="0" marL="0">
                        <a:buNone/>
                      </a:pPr>
                      <a:r>
                        <a:rPr lang="en-US" sz="950" dirty="0">
                          <a:solidFill>
                            <a:srgbClr val="6E7889"/>
                          </a:solidFill>
                          <a:latin typeface="Calibri" pitchFamily="34" charset="0"/>
                          <a:ea typeface="Calibri" pitchFamily="34" charset="-122"/>
                          <a:cs typeface="Calibri" pitchFamily="34" charset="-120"/>
                        </a:rPr>
                        <a:t>iterate 16/20</a:t>
                      </a:r>
                      <a:endParaRPr lang="en-US" sz="950" dirty="0">
                        <a:latin typeface="Calibri" charset="0"/>
                        <a:ea typeface="Calibri" charset="0"/>
                        <a:cs typeface="Calibri" charset="0"/>
                      </a:endParaRPr>
                    </a:p>
                  </a:txBody>
                  <a:tcPr marL="76200" marR="76200" marT="25400" marB="25400" anchor="ctr">
                    <a:lnL w="0" cap="flat" cmpd="sng" algn="ctr">
                      <a:noFill/>
                    </a:lnL>
                    <a:lnR w="0" cap="flat" cmpd="sng" algn="ctr">
                      <a:noFill/>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tcPr>
                </a:tc>
                <a:tc>
                  <a:txBody>
                    <a:bodyPr/>
                    <a:lstStyle/>
                    <a:p>
                      <a:pPr algn="ctr" indent="0" marL="0">
                        <a:buNone/>
                      </a:pPr>
                      <a:r>
                        <a:rPr lang="en-US" sz="950" b="1" dirty="0">
                          <a:solidFill>
                            <a:srgbClr val="9A6B12"/>
                          </a:solidFill>
                          <a:latin typeface="Calibri" pitchFamily="34" charset="0"/>
                          <a:ea typeface="Calibri" pitchFamily="34" charset="-122"/>
                          <a:cs typeface="Calibri" pitchFamily="34" charset="-120"/>
                        </a:rPr>
                        <a:t>iterate 5/20</a:t>
                      </a:r>
                      <a:endParaRPr lang="en-US" sz="950" dirty="0">
                        <a:latin typeface="Calibri" charset="0"/>
                        <a:ea typeface="Calibri" charset="0"/>
                        <a:cs typeface="Calibri" charset="0"/>
                      </a:endParaRPr>
                    </a:p>
                  </a:txBody>
                  <a:tcPr marL="76200" marR="76200" marT="25400" marB="25400" anchor="ctr">
                    <a:lnL w="0" cap="flat" cmpd="sng" algn="ctr">
                      <a:noFill/>
                    </a:lnL>
                    <a:lnR w="0" cap="flat" cmpd="sng" algn="ctr">
                      <a:noFill/>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tcPr>
                </a:tc>
                <a:tc>
                  <a:txBody>
                    <a:bodyPr/>
                    <a:lstStyle/>
                    <a:p>
                      <a:pPr algn="ctr" indent="0" marL="0">
                        <a:buNone/>
                      </a:pPr>
                      <a:r>
                        <a:rPr lang="en-US" sz="950" b="1" dirty="0">
                          <a:solidFill>
                            <a:srgbClr val="9A6B12"/>
                          </a:solidFill>
                          <a:latin typeface="Calibri" pitchFamily="34" charset="0"/>
                          <a:ea typeface="Calibri" pitchFamily="34" charset="-122"/>
                          <a:cs typeface="Calibri" pitchFamily="34" charset="-120"/>
                        </a:rPr>
                        <a:t>stop 11/20</a:t>
                      </a:r>
                      <a:endParaRPr lang="en-US" sz="950" dirty="0">
                        <a:latin typeface="Calibri" charset="0"/>
                        <a:ea typeface="Calibri" charset="0"/>
                        <a:cs typeface="Calibri" charset="0"/>
                      </a:endParaRPr>
                    </a:p>
                  </a:txBody>
                  <a:tcPr marL="76200" marR="76200" marT="25400" marB="25400" anchor="ctr">
                    <a:lnL w="0" cap="flat" cmpd="sng" algn="ctr">
                      <a:noFill/>
                    </a:lnL>
                    <a:lnR w="0" cap="flat" cmpd="sng" algn="ctr">
                      <a:noFill/>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tcPr>
                </a:tc>
              </a:tr>
              <a:tr h="269748">
                <a:tc>
                  <a:txBody>
                    <a:bodyPr/>
                    <a:lstStyle/>
                    <a:p>
                      <a:pPr algn="l" indent="0" marL="0">
                        <a:buNone/>
                      </a:pPr>
                      <a:r>
                        <a:rPr lang="en-US" sz="950" dirty="0">
                          <a:solidFill>
                            <a:srgbClr val="222831"/>
                          </a:solidFill>
                          <a:latin typeface="Calibri" pitchFamily="34" charset="0"/>
                          <a:ea typeface="Calibri" pitchFamily="34" charset="-122"/>
                          <a:cs typeface="Calibri" pitchFamily="34" charset="-120"/>
                        </a:rPr>
                        <a:t>Remove annotator A2-senior, or A3-core  (7-batch reference)</a:t>
                      </a:r>
                      <a:endParaRPr lang="en-US" sz="950" dirty="0">
                        <a:latin typeface="Calibri" charset="0"/>
                        <a:ea typeface="Calibri" charset="0"/>
                        <a:cs typeface="Calibri" charset="0"/>
                      </a:endParaRPr>
                    </a:p>
                  </a:txBody>
                  <a:tcPr marL="76200" marR="76200" marT="25400" marB="25400" anchor="ctr">
                    <a:lnL w="0" cap="flat" cmpd="sng" algn="ctr">
                      <a:noFill/>
                    </a:lnL>
                    <a:lnR w="0" cap="flat" cmpd="sng" algn="ctr">
                      <a:noFill/>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tcPr>
                </a:tc>
                <a:tc>
                  <a:txBody>
                    <a:bodyPr/>
                    <a:lstStyle/>
                    <a:p>
                      <a:pPr algn="ctr" indent="0" marL="0">
                        <a:buNone/>
                      </a:pPr>
                      <a:r>
                        <a:rPr lang="en-US" sz="950" b="1" dirty="0">
                          <a:solidFill>
                            <a:srgbClr val="9A6B12"/>
                          </a:solidFill>
                          <a:latin typeface="Calibri" pitchFamily="34" charset="0"/>
                          <a:ea typeface="Calibri" pitchFamily="34" charset="-122"/>
                          <a:cs typeface="Calibri" pitchFamily="34" charset="-120"/>
                        </a:rPr>
                        <a:t>ITERATE</a:t>
                      </a:r>
                      <a:endParaRPr lang="en-US" sz="950" dirty="0">
                        <a:latin typeface="Calibri" charset="0"/>
                        <a:ea typeface="Calibri" charset="0"/>
                        <a:cs typeface="Calibri" charset="0"/>
                      </a:endParaRPr>
                    </a:p>
                  </a:txBody>
                  <a:tcPr marL="76200" marR="76200" marT="25400" marB="25400" anchor="ctr">
                    <a:lnL w="0" cap="flat" cmpd="sng" algn="ctr">
                      <a:noFill/>
                    </a:lnL>
                    <a:lnR w="0" cap="flat" cmpd="sng" algn="ctr">
                      <a:noFill/>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tcPr>
                </a:tc>
                <a:tc>
                  <a:txBody>
                    <a:bodyPr/>
                    <a:lstStyle/>
                    <a:p>
                      <a:pPr algn="ctr" indent="0" marL="0">
                        <a:buNone/>
                      </a:pPr>
                      <a:r>
                        <a:rPr lang="en-US" sz="950" dirty="0">
                          <a:solidFill>
                            <a:srgbClr val="6E7889"/>
                          </a:solidFill>
                          <a:latin typeface="Calibri" pitchFamily="34" charset="0"/>
                          <a:ea typeface="Calibri" pitchFamily="34" charset="-122"/>
                          <a:cs typeface="Calibri" pitchFamily="34" charset="-120"/>
                        </a:rPr>
                        <a:t>iterate</a:t>
                      </a:r>
                      <a:endParaRPr lang="en-US" sz="950" dirty="0">
                        <a:latin typeface="Calibri" charset="0"/>
                        <a:ea typeface="Calibri" charset="0"/>
                        <a:cs typeface="Calibri" charset="0"/>
                      </a:endParaRPr>
                    </a:p>
                  </a:txBody>
                  <a:tcPr marL="76200" marR="76200" marT="25400" marB="25400" anchor="ctr">
                    <a:lnL w="0" cap="flat" cmpd="sng" algn="ctr">
                      <a:noFill/>
                    </a:lnL>
                    <a:lnR w="0" cap="flat" cmpd="sng" algn="ctr">
                      <a:noFill/>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tcPr>
                </a:tc>
                <a:tc>
                  <a:txBody>
                    <a:bodyPr/>
                    <a:lstStyle/>
                    <a:p>
                      <a:pPr algn="ctr" indent="0" marL="0">
                        <a:buNone/>
                      </a:pPr>
                      <a:r>
                        <a:rPr lang="en-US" sz="950" dirty="0">
                          <a:solidFill>
                            <a:srgbClr val="6E7889"/>
                          </a:solidFill>
                          <a:latin typeface="Calibri" pitchFamily="34" charset="0"/>
                          <a:ea typeface="Calibri" pitchFamily="34" charset="-122"/>
                          <a:cs typeface="Calibri" pitchFamily="34" charset="-120"/>
                        </a:rPr>
                        <a:t>iterate</a:t>
                      </a:r>
                      <a:endParaRPr lang="en-US" sz="950" dirty="0">
                        <a:latin typeface="Calibri" charset="0"/>
                        <a:ea typeface="Calibri" charset="0"/>
                        <a:cs typeface="Calibri" charset="0"/>
                      </a:endParaRPr>
                    </a:p>
                  </a:txBody>
                  <a:tcPr marL="76200" marR="76200" marT="25400" marB="25400" anchor="ctr">
                    <a:lnL w="0" cap="flat" cmpd="sng" algn="ctr">
                      <a:noFill/>
                    </a:lnL>
                    <a:lnR w="0" cap="flat" cmpd="sng" algn="ctr">
                      <a:noFill/>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tcPr>
                </a:tc>
                <a:tc>
                  <a:txBody>
                    <a:bodyPr/>
                    <a:lstStyle/>
                    <a:p>
                      <a:pPr algn="ctr" indent="0" marL="0">
                        <a:buNone/>
                      </a:pPr>
                      <a:r>
                        <a:rPr lang="en-US" sz="950" dirty="0">
                          <a:solidFill>
                            <a:srgbClr val="6E7889"/>
                          </a:solidFill>
                          <a:latin typeface="Calibri" pitchFamily="34" charset="0"/>
                          <a:ea typeface="Calibri" pitchFamily="34" charset="-122"/>
                          <a:cs typeface="Calibri" pitchFamily="34" charset="-120"/>
                        </a:rPr>
                        <a:t>stop</a:t>
                      </a:r>
                      <a:endParaRPr lang="en-US" sz="950" dirty="0">
                        <a:latin typeface="Calibri" charset="0"/>
                        <a:ea typeface="Calibri" charset="0"/>
                        <a:cs typeface="Calibri" charset="0"/>
                      </a:endParaRPr>
                    </a:p>
                  </a:txBody>
                  <a:tcPr marL="76200" marR="76200" marT="25400" marB="25400" anchor="ctr">
                    <a:lnL w="0" cap="flat" cmpd="sng" algn="ctr">
                      <a:noFill/>
                    </a:lnL>
                    <a:lnR w="0" cap="flat" cmpd="sng" algn="ctr">
                      <a:noFill/>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tcPr>
                </a:tc>
              </a:tr>
            </a:tbl>
          </a:graphicData>
        </a:graphic>
      </p:graphicFrame>
      <p:sp>
        <p:nvSpPr>
          <p:cNvPr id="6" name="Shape 3"/>
          <p:cNvSpPr/>
          <p:nvPr/>
        </p:nvSpPr>
        <p:spPr>
          <a:xfrm>
            <a:off x="548640" y="4315968"/>
            <a:ext cx="5394960" cy="1627632"/>
          </a:xfrm>
          <a:prstGeom prst="roundRect">
            <a:avLst>
              <a:gd name="adj" fmla="val 3371"/>
            </a:avLst>
          </a:prstGeom>
          <a:solidFill>
            <a:srgbClr val="F3F5F8"/>
          </a:solidFill>
          <a:ln w="9525">
            <a:solidFill>
              <a:srgbClr val="DCE1E8"/>
            </a:solidFill>
            <a:prstDash val="solid"/>
          </a:ln>
        </p:spPr>
      </p:sp>
      <p:sp>
        <p:nvSpPr>
          <p:cNvPr id="7" name="Text 4"/>
          <p:cNvSpPr/>
          <p:nvPr/>
        </p:nvSpPr>
        <p:spPr>
          <a:xfrm>
            <a:off x="804672" y="4517136"/>
            <a:ext cx="4882896" cy="219456"/>
          </a:xfrm>
          <a:prstGeom prst="rect">
            <a:avLst/>
          </a:prstGeom>
          <a:noFill/>
          <a:ln/>
        </p:spPr>
        <p:txBody>
          <a:bodyPr wrap="square" lIns="0" tIns="0" rIns="0" bIns="0" rtlCol="0" anchor="ctr"/>
          <a:lstStyle/>
          <a:p>
            <a:pPr indent="0" marL="0">
              <a:buNone/>
            </a:pPr>
            <a:r>
              <a:rPr lang="en-US" sz="1050" b="1" spc="60" kern="0" dirty="0">
                <a:solidFill>
                  <a:srgbClr val="1E3A5F"/>
                </a:solidFill>
                <a:latin typeface="Calibri" pitchFamily="34" charset="0"/>
                <a:ea typeface="Calibri" pitchFamily="34" charset="-122"/>
                <a:cs typeface="Calibri" pitchFamily="34" charset="-120"/>
              </a:rPr>
              <a:t>HOW THE ANALYSIS CLASSIFIES ITS OWN VERDICTS</a:t>
            </a:r>
            <a:endParaRPr lang="en-US" sz="1050" dirty="0"/>
          </a:p>
        </p:txBody>
      </p:sp>
      <p:sp>
        <p:nvSpPr>
          <p:cNvPr id="8" name="Text 5"/>
          <p:cNvSpPr/>
          <p:nvPr/>
        </p:nvSpPr>
        <p:spPr>
          <a:xfrm>
            <a:off x="804672" y="4846320"/>
            <a:ext cx="1005840" cy="256032"/>
          </a:xfrm>
          <a:prstGeom prst="rect">
            <a:avLst/>
          </a:prstGeom>
          <a:noFill/>
          <a:ln/>
        </p:spPr>
        <p:txBody>
          <a:bodyPr wrap="square" lIns="0" tIns="0" rIns="0" bIns="0" rtlCol="0" anchor="ctr"/>
          <a:lstStyle/>
          <a:p>
            <a:pPr indent="0" marL="0">
              <a:buNone/>
            </a:pPr>
            <a:r>
              <a:rPr lang="en-US" sz="950" dirty="0">
                <a:solidFill>
                  <a:srgbClr val="222831"/>
                </a:solidFill>
                <a:latin typeface="Courier New" pitchFamily="34" charset="0"/>
                <a:ea typeface="Courier New" pitchFamily="34" charset="-122"/>
                <a:cs typeface="Courier New" pitchFamily="34" charset="-120"/>
              </a:rPr>
              <a:t>agentic</a:t>
            </a:r>
            <a:endParaRPr lang="en-US" sz="950" dirty="0"/>
          </a:p>
        </p:txBody>
      </p:sp>
      <p:sp>
        <p:nvSpPr>
          <p:cNvPr id="9" name="Shape 6"/>
          <p:cNvSpPr/>
          <p:nvPr/>
        </p:nvSpPr>
        <p:spPr>
          <a:xfrm>
            <a:off x="1828800" y="4846320"/>
            <a:ext cx="1207008" cy="256032"/>
          </a:xfrm>
          <a:prstGeom prst="roundRect">
            <a:avLst>
              <a:gd name="adj" fmla="val 17857"/>
            </a:avLst>
          </a:prstGeom>
          <a:solidFill>
            <a:srgbClr val="9B2226"/>
          </a:solidFill>
          <a:ln/>
        </p:spPr>
      </p:sp>
      <p:sp>
        <p:nvSpPr>
          <p:cNvPr id="10" name="Text 7"/>
          <p:cNvSpPr/>
          <p:nvPr/>
        </p:nvSpPr>
        <p:spPr>
          <a:xfrm>
            <a:off x="1828800" y="4846320"/>
            <a:ext cx="1207008" cy="256032"/>
          </a:xfrm>
          <a:prstGeom prst="rect">
            <a:avLst/>
          </a:prstGeom>
          <a:noFill/>
          <a:ln/>
        </p:spPr>
        <p:txBody>
          <a:bodyPr wrap="square" lIns="0" tIns="0" rIns="0" bIns="0" rtlCol="0" anchor="ctr"/>
          <a:lstStyle/>
          <a:p>
            <a:pPr algn="ctr" indent="0" marL="0">
              <a:buNone/>
            </a:pPr>
            <a:r>
              <a:rPr lang="en-US" sz="900" b="1" spc="80" kern="0" dirty="0">
                <a:solidFill>
                  <a:srgbClr val="FFFFFF"/>
                </a:solidFill>
                <a:latin typeface="Calibri" pitchFamily="34" charset="0"/>
                <a:ea typeface="Calibri" pitchFamily="34" charset="-122"/>
                <a:cs typeface="Calibri" pitchFamily="34" charset="-120"/>
              </a:rPr>
              <a:t>FRAGILE</a:t>
            </a:r>
            <a:endParaRPr lang="en-US" sz="900" dirty="0"/>
          </a:p>
        </p:txBody>
      </p:sp>
      <p:sp>
        <p:nvSpPr>
          <p:cNvPr id="11" name="Text 8"/>
          <p:cNvSpPr/>
          <p:nvPr/>
        </p:nvSpPr>
        <p:spPr>
          <a:xfrm>
            <a:off x="3291840" y="4846320"/>
            <a:ext cx="1005840" cy="256032"/>
          </a:xfrm>
          <a:prstGeom prst="rect">
            <a:avLst/>
          </a:prstGeom>
          <a:noFill/>
          <a:ln/>
        </p:spPr>
        <p:txBody>
          <a:bodyPr wrap="square" lIns="0" tIns="0" rIns="0" bIns="0" rtlCol="0" anchor="ctr"/>
          <a:lstStyle/>
          <a:p>
            <a:pPr indent="0" marL="0">
              <a:buNone/>
            </a:pPr>
            <a:r>
              <a:rPr lang="en-US" sz="950" dirty="0">
                <a:solidFill>
                  <a:srgbClr val="222831"/>
                </a:solidFill>
                <a:latin typeface="Courier New" pitchFamily="34" charset="0"/>
                <a:ea typeface="Courier New" pitchFamily="34" charset="-122"/>
                <a:cs typeface="Courier New" pitchFamily="34" charset="-120"/>
              </a:rPr>
              <a:t>grounding</a:t>
            </a:r>
            <a:endParaRPr lang="en-US" sz="950" dirty="0"/>
          </a:p>
        </p:txBody>
      </p:sp>
      <p:sp>
        <p:nvSpPr>
          <p:cNvPr id="12" name="Shape 9"/>
          <p:cNvSpPr/>
          <p:nvPr/>
        </p:nvSpPr>
        <p:spPr>
          <a:xfrm>
            <a:off x="4315968" y="4846320"/>
            <a:ext cx="1207008" cy="256032"/>
          </a:xfrm>
          <a:prstGeom prst="roundRect">
            <a:avLst>
              <a:gd name="adj" fmla="val 17857"/>
            </a:avLst>
          </a:prstGeom>
          <a:solidFill>
            <a:srgbClr val="9A6B12"/>
          </a:solidFill>
          <a:ln/>
        </p:spPr>
      </p:sp>
      <p:sp>
        <p:nvSpPr>
          <p:cNvPr id="13" name="Text 10"/>
          <p:cNvSpPr/>
          <p:nvPr/>
        </p:nvSpPr>
        <p:spPr>
          <a:xfrm>
            <a:off x="4315968" y="4846320"/>
            <a:ext cx="1207008" cy="256032"/>
          </a:xfrm>
          <a:prstGeom prst="rect">
            <a:avLst/>
          </a:prstGeom>
          <a:noFill/>
          <a:ln/>
        </p:spPr>
        <p:txBody>
          <a:bodyPr wrap="square" lIns="0" tIns="0" rIns="0" bIns="0" rtlCol="0" anchor="ctr"/>
          <a:lstStyle/>
          <a:p>
            <a:pPr algn="ctr" indent="0" marL="0">
              <a:buNone/>
            </a:pPr>
            <a:r>
              <a:rPr lang="en-US" sz="900" b="1" spc="80" kern="0" dirty="0">
                <a:solidFill>
                  <a:srgbClr val="FFFFFF"/>
                </a:solidFill>
                <a:latin typeface="Calibri" pitchFamily="34" charset="0"/>
                <a:ea typeface="Calibri" pitchFamily="34" charset="-122"/>
                <a:cs typeface="Calibri" pitchFamily="34" charset="-120"/>
              </a:rPr>
              <a:t>CONDITIONAL</a:t>
            </a:r>
            <a:endParaRPr lang="en-US" sz="900" dirty="0"/>
          </a:p>
        </p:txBody>
      </p:sp>
      <p:sp>
        <p:nvSpPr>
          <p:cNvPr id="14" name="Text 11"/>
          <p:cNvSpPr/>
          <p:nvPr/>
        </p:nvSpPr>
        <p:spPr>
          <a:xfrm>
            <a:off x="804672" y="5230368"/>
            <a:ext cx="1005840" cy="256032"/>
          </a:xfrm>
          <a:prstGeom prst="rect">
            <a:avLst/>
          </a:prstGeom>
          <a:noFill/>
          <a:ln/>
        </p:spPr>
        <p:txBody>
          <a:bodyPr wrap="square" lIns="0" tIns="0" rIns="0" bIns="0" rtlCol="0" anchor="ctr"/>
          <a:lstStyle/>
          <a:p>
            <a:pPr indent="0" marL="0">
              <a:buNone/>
            </a:pPr>
            <a:r>
              <a:rPr lang="en-US" sz="950" dirty="0">
                <a:solidFill>
                  <a:srgbClr val="222831"/>
                </a:solidFill>
                <a:latin typeface="Courier New" pitchFamily="34" charset="0"/>
                <a:ea typeface="Courier New" pitchFamily="34" charset="-122"/>
                <a:cs typeface="Courier New" pitchFamily="34" charset="-120"/>
              </a:rPr>
              <a:t>reasoning</a:t>
            </a:r>
            <a:endParaRPr lang="en-US" sz="950" dirty="0"/>
          </a:p>
        </p:txBody>
      </p:sp>
      <p:sp>
        <p:nvSpPr>
          <p:cNvPr id="15" name="Shape 12"/>
          <p:cNvSpPr/>
          <p:nvPr/>
        </p:nvSpPr>
        <p:spPr>
          <a:xfrm>
            <a:off x="1828800" y="5230368"/>
            <a:ext cx="1207008" cy="256032"/>
          </a:xfrm>
          <a:prstGeom prst="roundRect">
            <a:avLst>
              <a:gd name="adj" fmla="val 17857"/>
            </a:avLst>
          </a:prstGeom>
          <a:solidFill>
            <a:srgbClr val="9A6B12"/>
          </a:solidFill>
          <a:ln/>
        </p:spPr>
      </p:sp>
      <p:sp>
        <p:nvSpPr>
          <p:cNvPr id="16" name="Text 13"/>
          <p:cNvSpPr/>
          <p:nvPr/>
        </p:nvSpPr>
        <p:spPr>
          <a:xfrm>
            <a:off x="1828800" y="5230368"/>
            <a:ext cx="1207008" cy="256032"/>
          </a:xfrm>
          <a:prstGeom prst="rect">
            <a:avLst/>
          </a:prstGeom>
          <a:noFill/>
          <a:ln/>
        </p:spPr>
        <p:txBody>
          <a:bodyPr wrap="square" lIns="0" tIns="0" rIns="0" bIns="0" rtlCol="0" anchor="ctr"/>
          <a:lstStyle/>
          <a:p>
            <a:pPr algn="ctr" indent="0" marL="0">
              <a:buNone/>
            </a:pPr>
            <a:r>
              <a:rPr lang="en-US" sz="900" b="1" spc="80" kern="0" dirty="0">
                <a:solidFill>
                  <a:srgbClr val="FFFFFF"/>
                </a:solidFill>
                <a:latin typeface="Calibri" pitchFamily="34" charset="0"/>
                <a:ea typeface="Calibri" pitchFamily="34" charset="-122"/>
                <a:cs typeface="Calibri" pitchFamily="34" charset="-120"/>
              </a:rPr>
              <a:t>CONDITIONAL</a:t>
            </a:r>
            <a:endParaRPr lang="en-US" sz="900" dirty="0"/>
          </a:p>
        </p:txBody>
      </p:sp>
      <p:sp>
        <p:nvSpPr>
          <p:cNvPr id="17" name="Text 14"/>
          <p:cNvSpPr/>
          <p:nvPr/>
        </p:nvSpPr>
        <p:spPr>
          <a:xfrm>
            <a:off x="3291840" y="5230368"/>
            <a:ext cx="1005840" cy="256032"/>
          </a:xfrm>
          <a:prstGeom prst="rect">
            <a:avLst/>
          </a:prstGeom>
          <a:noFill/>
          <a:ln/>
        </p:spPr>
        <p:txBody>
          <a:bodyPr wrap="square" lIns="0" tIns="0" rIns="0" bIns="0" rtlCol="0" anchor="ctr"/>
          <a:lstStyle/>
          <a:p>
            <a:pPr indent="0" marL="0">
              <a:buNone/>
            </a:pPr>
            <a:r>
              <a:rPr lang="en-US" sz="950" dirty="0">
                <a:solidFill>
                  <a:srgbClr val="222831"/>
                </a:solidFill>
                <a:latin typeface="Courier New" pitchFamily="34" charset="0"/>
                <a:ea typeface="Courier New" pitchFamily="34" charset="-122"/>
                <a:cs typeface="Courier New" pitchFamily="34" charset="-120"/>
              </a:rPr>
              <a:t>refusal</a:t>
            </a:r>
            <a:endParaRPr lang="en-US" sz="950" dirty="0"/>
          </a:p>
        </p:txBody>
      </p:sp>
      <p:sp>
        <p:nvSpPr>
          <p:cNvPr id="18" name="Shape 15"/>
          <p:cNvSpPr/>
          <p:nvPr/>
        </p:nvSpPr>
        <p:spPr>
          <a:xfrm>
            <a:off x="4315968" y="5230368"/>
            <a:ext cx="1207008" cy="256032"/>
          </a:xfrm>
          <a:prstGeom prst="roundRect">
            <a:avLst>
              <a:gd name="adj" fmla="val 17857"/>
            </a:avLst>
          </a:prstGeom>
          <a:solidFill>
            <a:srgbClr val="9A6B12"/>
          </a:solidFill>
          <a:ln/>
        </p:spPr>
      </p:sp>
      <p:sp>
        <p:nvSpPr>
          <p:cNvPr id="19" name="Text 16"/>
          <p:cNvSpPr/>
          <p:nvPr/>
        </p:nvSpPr>
        <p:spPr>
          <a:xfrm>
            <a:off x="4315968" y="5230368"/>
            <a:ext cx="1207008" cy="256032"/>
          </a:xfrm>
          <a:prstGeom prst="rect">
            <a:avLst/>
          </a:prstGeom>
          <a:noFill/>
          <a:ln/>
        </p:spPr>
        <p:txBody>
          <a:bodyPr wrap="square" lIns="0" tIns="0" rIns="0" bIns="0" rtlCol="0" anchor="ctr"/>
          <a:lstStyle/>
          <a:p>
            <a:pPr algn="ctr" indent="0" marL="0">
              <a:buNone/>
            </a:pPr>
            <a:r>
              <a:rPr lang="en-US" sz="900" b="1" spc="80" kern="0" dirty="0">
                <a:solidFill>
                  <a:srgbClr val="FFFFFF"/>
                </a:solidFill>
                <a:latin typeface="Calibri" pitchFamily="34" charset="0"/>
                <a:ea typeface="Calibri" pitchFamily="34" charset="-122"/>
                <a:cs typeface="Calibri" pitchFamily="34" charset="-120"/>
              </a:rPr>
              <a:t>CONDITIONAL</a:t>
            </a:r>
            <a:endParaRPr lang="en-US" sz="900" dirty="0"/>
          </a:p>
        </p:txBody>
      </p:sp>
      <p:sp>
        <p:nvSpPr>
          <p:cNvPr id="20" name="Text 17"/>
          <p:cNvSpPr/>
          <p:nvPr/>
        </p:nvSpPr>
        <p:spPr>
          <a:xfrm>
            <a:off x="804672" y="5614416"/>
            <a:ext cx="4882896" cy="237744"/>
          </a:xfrm>
          <a:prstGeom prst="rect">
            <a:avLst/>
          </a:prstGeom>
          <a:noFill/>
          <a:ln/>
        </p:spPr>
        <p:txBody>
          <a:bodyPr wrap="square" lIns="0" tIns="0" rIns="0" bIns="0" rtlCol="0" anchor="ctr"/>
          <a:lstStyle/>
          <a:p>
            <a:pPr indent="0" marL="0">
              <a:buNone/>
            </a:pPr>
            <a:r>
              <a:rPr lang="en-US" sz="1050" i="1" dirty="0">
                <a:solidFill>
                  <a:srgbClr val="6E7889"/>
                </a:solidFill>
                <a:latin typeface="Calibri" pitchFamily="34" charset="0"/>
                <a:ea typeface="Calibri" pitchFamily="34" charset="-122"/>
                <a:cs typeface="Calibri" pitchFamily="34" charset="-120"/>
              </a:rPr>
              <a:t>Nothing is ROBUST.</a:t>
            </a:r>
            <a:endParaRPr lang="en-US" sz="1050" dirty="0"/>
          </a:p>
        </p:txBody>
      </p:sp>
      <p:sp>
        <p:nvSpPr>
          <p:cNvPr id="21" name="Shape 18"/>
          <p:cNvSpPr/>
          <p:nvPr/>
        </p:nvSpPr>
        <p:spPr>
          <a:xfrm>
            <a:off x="6248095" y="4315968"/>
            <a:ext cx="5394960" cy="1627632"/>
          </a:xfrm>
          <a:prstGeom prst="roundRect">
            <a:avLst>
              <a:gd name="adj" fmla="val 3371"/>
            </a:avLst>
          </a:prstGeom>
          <a:solidFill>
            <a:srgbClr val="F3F5F8"/>
          </a:solidFill>
          <a:ln w="9525">
            <a:solidFill>
              <a:srgbClr val="DCE1E8"/>
            </a:solidFill>
            <a:prstDash val="solid"/>
          </a:ln>
        </p:spPr>
      </p:sp>
      <p:sp>
        <p:nvSpPr>
          <p:cNvPr id="22" name="Text 19"/>
          <p:cNvSpPr/>
          <p:nvPr/>
        </p:nvSpPr>
        <p:spPr>
          <a:xfrm>
            <a:off x="6504127" y="4517136"/>
            <a:ext cx="4882896" cy="219456"/>
          </a:xfrm>
          <a:prstGeom prst="rect">
            <a:avLst/>
          </a:prstGeom>
          <a:noFill/>
          <a:ln/>
        </p:spPr>
        <p:txBody>
          <a:bodyPr wrap="square" lIns="0" tIns="0" rIns="0" bIns="0" rtlCol="0" anchor="ctr"/>
          <a:lstStyle/>
          <a:p>
            <a:pPr indent="0" marL="0">
              <a:buNone/>
            </a:pPr>
            <a:r>
              <a:rPr lang="en-US" sz="1050" b="1" spc="60" kern="0" dirty="0">
                <a:solidFill>
                  <a:srgbClr val="1E3A5F"/>
                </a:solidFill>
                <a:latin typeface="Calibri" pitchFamily="34" charset="0"/>
                <a:ea typeface="Calibri" pitchFamily="34" charset="-122"/>
                <a:cs typeface="Calibri" pitchFamily="34" charset="-120"/>
              </a:rPr>
              <a:t>THE CUT CLOSEST TO FLIPPING</a:t>
            </a:r>
            <a:endParaRPr lang="en-US" sz="1050" dirty="0"/>
          </a:p>
        </p:txBody>
      </p:sp>
      <p:sp>
        <p:nvSpPr>
          <p:cNvPr id="23" name="Text 20"/>
          <p:cNvSpPr/>
          <p:nvPr/>
        </p:nvSpPr>
        <p:spPr>
          <a:xfrm>
            <a:off x="6504127" y="4828032"/>
            <a:ext cx="4882896" cy="1042416"/>
          </a:xfrm>
          <a:prstGeom prst="rect">
            <a:avLst/>
          </a:prstGeom>
          <a:noFill/>
          <a:ln/>
        </p:spPr>
        <p:txBody>
          <a:bodyPr wrap="square" lIns="0" tIns="0" rIns="0" bIns="0" rtlCol="0" anchor="t"/>
          <a:lstStyle/>
          <a:p>
            <a:pPr indent="0" marL="0">
              <a:lnSpc>
                <a:spcPts val="1500"/>
              </a:lnSpc>
              <a:spcAft>
                <a:spcPts val="600"/>
              </a:spcAft>
              <a:buNone/>
            </a:pPr>
            <a:r>
              <a:rPr lang="en-US" sz="1050" dirty="0">
                <a:solidFill>
                  <a:srgbClr val="222831"/>
                </a:solidFill>
                <a:latin typeface="Calibri" pitchFamily="34" charset="0"/>
                <a:ea typeface="Calibri" pitchFamily="34" charset="-122"/>
                <a:cs typeface="Calibri" pitchFamily="34" charset="-120"/>
              </a:rPr>
              <a:t>max_flagged_annotator_fraction is set to 0.34 against an observed 0.333, and flips at 0.332969 — a 2.1% margin, on all four tracks at once.</a:t>
            </a:r>
            <a:endParaRPr lang="en-US" sz="1050" dirty="0"/>
          </a:p>
          <a:p>
            <a:pPr indent="0" marL="0">
              <a:lnSpc>
                <a:spcPts val="1500"/>
              </a:lnSpc>
              <a:spcAft>
                <a:spcPts val="600"/>
              </a:spcAft>
              <a:buNone/>
            </a:pPr>
            <a:r>
              <a:rPr lang="en-US" sz="1050" dirty="0">
                <a:solidFill>
                  <a:srgbClr val="222831"/>
                </a:solidFill>
                <a:latin typeface="Calibri" pitchFamily="34" charset="0"/>
                <a:ea typeface="Calibri" pitchFamily="34" charset="-122"/>
                <a:cs typeface="Calibri" pitchFamily="34" charset="-120"/>
              </a:rPr>
              <a:t>12 of 96 threshold-by-track pairs are FRAGILE; 10 can flip a whole recommendation.</a:t>
            </a:r>
            <a:endParaRPr lang="en-US" sz="1050" dirty="0"/>
          </a:p>
        </p:txBody>
      </p:sp>
      <p:sp>
        <p:nvSpPr>
          <p:cNvPr id="24" name="Text 21"/>
          <p:cNvSpPr/>
          <p:nvPr/>
        </p:nvSpPr>
        <p:spPr>
          <a:xfrm>
            <a:off x="548640" y="6336792"/>
            <a:ext cx="9966960" cy="219456"/>
          </a:xfrm>
          <a:prstGeom prst="rect">
            <a:avLst/>
          </a:prstGeom>
          <a:noFill/>
          <a:ln/>
        </p:spPr>
        <p:txBody>
          <a:bodyPr wrap="square" lIns="0" tIns="0" rIns="0" bIns="0" rtlCol="0" anchor="ctr"/>
          <a:lstStyle/>
          <a:p>
            <a:pPr algn="l" indent="0" marL="0">
              <a:buNone/>
            </a:pPr>
            <a:r>
              <a:rPr lang="en-US" sz="800" dirty="0">
                <a:solidFill>
                  <a:srgbClr val="6E7889"/>
                </a:solidFill>
                <a:latin typeface="Calibri" pitchFamily="34" charset="0"/>
                <a:ea typeface="Calibri" pitchFamily="34" charset="-122"/>
                <a:cs typeface="Calibri" pitchFamily="34" charset="-120"/>
              </a:rPr>
              <a:t>results/sensitivity.json  md5 ba0a9291c1f80a2a66dc077c6f19e9b8   ·   196 runs, 473.1 s   ·   26 contested-flag configurations, 96 threshold sweeps, 6 leave-one-annotator-out runs</a:t>
            </a:r>
            <a:endParaRPr lang="en-US" sz="800" dirty="0"/>
          </a:p>
        </p:txBody>
      </p:sp>
      <p:sp>
        <p:nvSpPr>
          <p:cNvPr id="25" name="Text 22"/>
          <p:cNvSpPr/>
          <p:nvPr/>
        </p:nvSpPr>
        <p:spPr>
          <a:xfrm>
            <a:off x="10927080" y="6336792"/>
            <a:ext cx="713232" cy="219456"/>
          </a:xfrm>
          <a:prstGeom prst="rect">
            <a:avLst/>
          </a:prstGeom>
          <a:noFill/>
          <a:ln/>
        </p:spPr>
        <p:txBody>
          <a:bodyPr wrap="square" lIns="0" tIns="0" rIns="0" bIns="0" rtlCol="0" anchor="ctr"/>
          <a:lstStyle/>
          <a:p>
            <a:pPr algn="r" indent="0" marL="0">
              <a:buNone/>
            </a:pPr>
            <a:r>
              <a:rPr lang="en-US" sz="800" dirty="0">
                <a:solidFill>
                  <a:srgbClr val="6E7889"/>
                </a:solidFill>
                <a:latin typeface="Calibri" pitchFamily="34" charset="0"/>
                <a:ea typeface="Calibri" pitchFamily="34" charset="-122"/>
                <a:cs typeface="Calibri" pitchFamily="34" charset="-120"/>
              </a:rPr>
              <a:t>3</a:t>
            </a:r>
            <a:endParaRPr lang="en-US" sz="8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548640" y="292608"/>
            <a:ext cx="11094415" cy="201168"/>
          </a:xfrm>
          <a:prstGeom prst="rect">
            <a:avLst/>
          </a:prstGeom>
          <a:noFill/>
          <a:ln/>
        </p:spPr>
        <p:txBody>
          <a:bodyPr wrap="square" lIns="0" tIns="0" rIns="0" bIns="0" rtlCol="0" anchor="ctr"/>
          <a:lstStyle/>
          <a:p>
            <a:pPr indent="0" marL="0">
              <a:buNone/>
            </a:pPr>
            <a:r>
              <a:rPr lang="en-US" sz="950" b="1" spc="160" kern="0" dirty="0">
                <a:solidFill>
                  <a:srgbClr val="6E7889"/>
                </a:solidFill>
                <a:latin typeface="Calibri" pitchFamily="34" charset="0"/>
                <a:ea typeface="Calibri" pitchFamily="34" charset="-122"/>
                <a:cs typeface="Calibri" pitchFamily="34" charset="-120"/>
              </a:rPr>
              <a:t>04  ·  THE PROBLEM</a:t>
            </a:r>
            <a:endParaRPr lang="en-US" sz="950" dirty="0"/>
          </a:p>
        </p:txBody>
      </p:sp>
      <p:sp>
        <p:nvSpPr>
          <p:cNvPr id="3" name="Text 1"/>
          <p:cNvSpPr/>
          <p:nvPr/>
        </p:nvSpPr>
        <p:spPr>
          <a:xfrm>
            <a:off x="548640" y="530352"/>
            <a:ext cx="11094415" cy="786384"/>
          </a:xfrm>
          <a:prstGeom prst="rect">
            <a:avLst/>
          </a:prstGeom>
          <a:noFill/>
          <a:ln/>
        </p:spPr>
        <p:txBody>
          <a:bodyPr wrap="square" lIns="0" tIns="0" rIns="0" bIns="0" rtlCol="0" anchor="t"/>
          <a:lstStyle/>
          <a:p>
            <a:pPr indent="0" marL="0">
              <a:lnSpc>
                <a:spcPts val="3200"/>
              </a:lnSpc>
              <a:buNone/>
            </a:pPr>
            <a:r>
              <a:rPr lang="en-US" sz="2600" b="1" dirty="0">
                <a:solidFill>
                  <a:srgbClr val="1E3A5F"/>
                </a:solidFill>
                <a:latin typeface="Cambria" pitchFamily="34" charset="0"/>
                <a:ea typeface="Cambria" pitchFamily="34" charset="-122"/>
                <a:cs typeface="Cambria" pitchFamily="34" charset="-120"/>
              </a:rPr>
              <a:t>Signal, not coverage, is the bottleneck</a:t>
            </a:r>
            <a:endParaRPr lang="en-US" sz="2600" dirty="0"/>
          </a:p>
        </p:txBody>
      </p:sp>
      <p:sp>
        <p:nvSpPr>
          <p:cNvPr id="4" name="Text 2"/>
          <p:cNvSpPr/>
          <p:nvPr/>
        </p:nvSpPr>
        <p:spPr>
          <a:xfrm>
            <a:off x="548640" y="1371600"/>
            <a:ext cx="11094415" cy="402336"/>
          </a:xfrm>
          <a:prstGeom prst="rect">
            <a:avLst/>
          </a:prstGeom>
          <a:noFill/>
          <a:ln/>
        </p:spPr>
        <p:txBody>
          <a:bodyPr wrap="square" lIns="0" tIns="0" rIns="0" bIns="0" rtlCol="0" anchor="t"/>
          <a:lstStyle/>
          <a:p>
            <a:pPr indent="0" marL="0">
              <a:lnSpc>
                <a:spcPts val="1600"/>
              </a:lnSpc>
              <a:buNone/>
            </a:pPr>
            <a:r>
              <a:rPr lang="en-US" sz="1200" dirty="0">
                <a:solidFill>
                  <a:srgbClr val="6E7889"/>
                </a:solidFill>
                <a:latin typeface="Calibri" pitchFamily="34" charset="0"/>
                <a:ea typeface="Calibri" pitchFamily="34" charset="-122"/>
                <a:cs typeface="Calibri" pitchFamily="34" charset="-120"/>
              </a:rPr>
              <a:t>Coverage is the funded problem. Whether the number has the resolving power for the decision it is about to inform is the unfunded one.</a:t>
            </a:r>
            <a:endParaRPr lang="en-US" sz="1200" dirty="0"/>
          </a:p>
        </p:txBody>
      </p:sp>
      <p:sp>
        <p:nvSpPr>
          <p:cNvPr id="5" name="Text 3"/>
          <p:cNvSpPr/>
          <p:nvPr/>
        </p:nvSpPr>
        <p:spPr>
          <a:xfrm>
            <a:off x="548640" y="1920240"/>
            <a:ext cx="5266944" cy="2286000"/>
          </a:xfrm>
          <a:prstGeom prst="rect">
            <a:avLst/>
          </a:prstGeom>
          <a:noFill/>
          <a:ln/>
        </p:spPr>
        <p:txBody>
          <a:bodyPr wrap="square" lIns="0" tIns="0" rIns="0" bIns="0" rtlCol="0" anchor="t"/>
          <a:lstStyle/>
          <a:p>
            <a:pPr marL="342900" indent="-342900">
              <a:lnSpc>
                <a:spcPts val="1500"/>
              </a:lnSpc>
              <a:spcAft>
                <a:spcPts val="900"/>
              </a:spcAft>
              <a:buSzPct val="100000"/>
              <a:buChar char="•"/>
            </a:pPr>
            <a:r>
              <a:rPr lang="en-US" sz="1200" dirty="0">
                <a:solidFill>
                  <a:srgbClr val="222831"/>
                </a:solidFill>
                <a:latin typeface="Calibri" pitchFamily="34" charset="0"/>
                <a:ea typeface="Calibri" pitchFamily="34" charset="-122"/>
                <a:cs typeface="Calibri" pitchFamily="34" charset="-120"/>
              </a:rPr>
              <a:t>Eval programmes are resourced to collect more: more items, more domains, more annotators, more model versions.</a:t>
            </a:r>
            <a:endParaRPr lang="en-US" sz="1200" dirty="0"/>
          </a:p>
          <a:p>
            <a:pPr marL="342900" indent="-342900">
              <a:lnSpc>
                <a:spcPts val="1500"/>
              </a:lnSpc>
              <a:spcAft>
                <a:spcPts val="900"/>
              </a:spcAft>
              <a:buSzPct val="100000"/>
              <a:buChar char="•"/>
            </a:pPr>
            <a:r>
              <a:rPr lang="en-US" sz="1200" dirty="0">
                <a:solidFill>
                  <a:srgbClr val="222831"/>
                </a:solidFill>
                <a:latin typeface="Calibri" pitchFamily="34" charset="0"/>
                <a:ea typeface="Calibri" pitchFamily="34" charset="-122"/>
                <a:cs typeface="Calibri" pitchFamily="34" charset="-120"/>
              </a:rPr>
              <a:t>Almost none are resourced to ask whether the resulting number can carry the sentence someone is about to build on it.</a:t>
            </a:r>
            <a:endParaRPr lang="en-US" sz="1200" dirty="0"/>
          </a:p>
          <a:p>
            <a:pPr marL="342900" indent="-342900">
              <a:lnSpc>
                <a:spcPts val="1500"/>
              </a:lnSpc>
              <a:spcAft>
                <a:spcPts val="900"/>
              </a:spcAft>
              <a:buSzPct val="100000"/>
              <a:buChar char="•"/>
            </a:pPr>
            <a:r>
              <a:rPr lang="en-US" sz="1200" dirty="0">
                <a:solidFill>
                  <a:srgbClr val="222831"/>
                </a:solidFill>
                <a:latin typeface="Calibri" pitchFamily="34" charset="0"/>
                <a:ea typeface="Calibri" pitchFamily="34" charset="-122"/>
                <a:cs typeface="Calibri" pitchFamily="34" charset="-120"/>
              </a:rPr>
              <a:t>By the time the claim is public, questioning it is a political act rather than a technical one.</a:t>
            </a:r>
            <a:endParaRPr lang="en-US" sz="1200" dirty="0"/>
          </a:p>
        </p:txBody>
      </p:sp>
      <p:sp>
        <p:nvSpPr>
          <p:cNvPr id="6" name="Shape 4"/>
          <p:cNvSpPr/>
          <p:nvPr/>
        </p:nvSpPr>
        <p:spPr>
          <a:xfrm>
            <a:off x="548640" y="3840480"/>
            <a:ext cx="5394960" cy="2084832"/>
          </a:xfrm>
          <a:prstGeom prst="roundRect">
            <a:avLst>
              <a:gd name="adj" fmla="val 2632"/>
            </a:avLst>
          </a:prstGeom>
          <a:solidFill>
            <a:srgbClr val="F3F5F8"/>
          </a:solidFill>
          <a:ln w="9525">
            <a:solidFill>
              <a:srgbClr val="DCE1E8"/>
            </a:solidFill>
            <a:prstDash val="solid"/>
          </a:ln>
        </p:spPr>
      </p:sp>
      <p:sp>
        <p:nvSpPr>
          <p:cNvPr id="7" name="Text 5"/>
          <p:cNvSpPr/>
          <p:nvPr/>
        </p:nvSpPr>
        <p:spPr>
          <a:xfrm>
            <a:off x="804672" y="4059936"/>
            <a:ext cx="4882896" cy="219456"/>
          </a:xfrm>
          <a:prstGeom prst="rect">
            <a:avLst/>
          </a:prstGeom>
          <a:noFill/>
          <a:ln/>
        </p:spPr>
        <p:txBody>
          <a:bodyPr wrap="square" lIns="0" tIns="0" rIns="0" bIns="0" rtlCol="0" anchor="ctr"/>
          <a:lstStyle/>
          <a:p>
            <a:pPr indent="0" marL="0">
              <a:buNone/>
            </a:pPr>
            <a:r>
              <a:rPr lang="en-US" sz="1050" b="1" spc="60" kern="0" dirty="0">
                <a:solidFill>
                  <a:srgbClr val="1E3A5F"/>
                </a:solidFill>
                <a:latin typeface="Calibri" pitchFamily="34" charset="0"/>
                <a:ea typeface="Calibri" pitchFamily="34" charset="-122"/>
                <a:cs typeface="Calibri" pitchFamily="34" charset="-120"/>
              </a:rPr>
              <a:t>SO THE CHECK HAS TO BE MECHANICAL</a:t>
            </a:r>
            <a:endParaRPr lang="en-US" sz="1050" dirty="0"/>
          </a:p>
        </p:txBody>
      </p:sp>
      <p:sp>
        <p:nvSpPr>
          <p:cNvPr id="8" name="Text 6"/>
          <p:cNvSpPr/>
          <p:nvPr/>
        </p:nvSpPr>
        <p:spPr>
          <a:xfrm>
            <a:off x="804672" y="4370832"/>
            <a:ext cx="4882896" cy="1426464"/>
          </a:xfrm>
          <a:prstGeom prst="rect">
            <a:avLst/>
          </a:prstGeom>
          <a:noFill/>
          <a:ln/>
        </p:spPr>
        <p:txBody>
          <a:bodyPr wrap="square" lIns="0" tIns="0" rIns="0" bIns="0" rtlCol="0" anchor="t"/>
          <a:lstStyle/>
          <a:p>
            <a:pPr indent="0" marL="0">
              <a:lnSpc>
                <a:spcPts val="1500"/>
              </a:lnSpc>
              <a:spcAft>
                <a:spcPts val="800"/>
              </a:spcAft>
              <a:buNone/>
            </a:pPr>
            <a:r>
              <a:rPr lang="en-US" sz="1050" dirty="0">
                <a:solidFill>
                  <a:srgbClr val="222831"/>
                </a:solidFill>
                <a:latin typeface="Calibri" pitchFamily="34" charset="0"/>
                <a:ea typeface="Calibri" pitchFamily="34" charset="-122"/>
                <a:cs typeface="Calibri" pitchFamily="34" charset="-120"/>
              </a:rPr>
              <a:t>Thresholds are declared before results exist, claims are constructed from evidence rather than written by hand, and a BLOCK is not advisory: the report renders the block reason where the number would have been.</a:t>
            </a:r>
            <a:endParaRPr lang="en-US" sz="1050" dirty="0"/>
          </a:p>
          <a:p>
            <a:pPr indent="0" marL="0">
              <a:lnSpc>
                <a:spcPts val="1500"/>
              </a:lnSpc>
              <a:spcAft>
                <a:spcPts val="800"/>
              </a:spcAft>
              <a:buNone/>
            </a:pPr>
            <a:r>
              <a:rPr lang="en-US" sz="1050" dirty="0">
                <a:solidFill>
                  <a:srgbClr val="222831"/>
                </a:solidFill>
                <a:latin typeface="Calibri" pitchFamily="34" charset="0"/>
                <a:ea typeface="Calibri" pitchFamily="34" charset="-122"/>
                <a:cs typeface="Calibri" pitchFamily="34" charset="-120"/>
              </a:rPr>
              <a:t>The same discipline is then turned on the harness itself — 23 of 45 claims withheld, five red-team probes per track, and 196 runs pricing every verdict against the assumptions behind it.</a:t>
            </a:r>
            <a:endParaRPr lang="en-US" sz="1050" dirty="0"/>
          </a:p>
        </p:txBody>
      </p:sp>
      <p:sp>
        <p:nvSpPr>
          <p:cNvPr id="9" name="Shape 7"/>
          <p:cNvSpPr/>
          <p:nvPr/>
        </p:nvSpPr>
        <p:spPr>
          <a:xfrm>
            <a:off x="6248095" y="1920240"/>
            <a:ext cx="5394960" cy="4005072"/>
          </a:xfrm>
          <a:prstGeom prst="roundRect">
            <a:avLst>
              <a:gd name="adj" fmla="val 1370"/>
            </a:avLst>
          </a:prstGeom>
          <a:solidFill>
            <a:srgbClr val="F3F5F8"/>
          </a:solidFill>
          <a:ln w="9525">
            <a:solidFill>
              <a:srgbClr val="DCE1E8"/>
            </a:solidFill>
            <a:prstDash val="solid"/>
          </a:ln>
        </p:spPr>
      </p:sp>
      <p:sp>
        <p:nvSpPr>
          <p:cNvPr id="10" name="Text 8"/>
          <p:cNvSpPr/>
          <p:nvPr/>
        </p:nvSpPr>
        <p:spPr>
          <a:xfrm>
            <a:off x="6540703" y="2157984"/>
            <a:ext cx="4809744" cy="219456"/>
          </a:xfrm>
          <a:prstGeom prst="rect">
            <a:avLst/>
          </a:prstGeom>
          <a:noFill/>
          <a:ln/>
        </p:spPr>
        <p:txBody>
          <a:bodyPr wrap="square" lIns="0" tIns="0" rIns="0" bIns="0" rtlCol="0" anchor="ctr"/>
          <a:lstStyle/>
          <a:p>
            <a:pPr indent="0" marL="0">
              <a:buNone/>
            </a:pPr>
            <a:r>
              <a:rPr lang="en-US" sz="1050" b="1" spc="60" kern="0" dirty="0">
                <a:solidFill>
                  <a:srgbClr val="1E3A5F"/>
                </a:solidFill>
                <a:latin typeface="Calibri" pitchFamily="34" charset="0"/>
                <a:ea typeface="Calibri" pitchFamily="34" charset="-122"/>
                <a:cs typeface="Calibri" pitchFamily="34" charset="-120"/>
              </a:rPr>
              <a:t>THE FAILURE MODE, CONCRETELY</a:t>
            </a:r>
            <a:endParaRPr lang="en-US" sz="1050" dirty="0"/>
          </a:p>
        </p:txBody>
      </p:sp>
      <p:sp>
        <p:nvSpPr>
          <p:cNvPr id="11" name="Text 9"/>
          <p:cNvSpPr/>
          <p:nvPr/>
        </p:nvSpPr>
        <p:spPr>
          <a:xfrm>
            <a:off x="6540703" y="2414016"/>
            <a:ext cx="4809744" cy="237744"/>
          </a:xfrm>
          <a:prstGeom prst="rect">
            <a:avLst/>
          </a:prstGeom>
          <a:noFill/>
          <a:ln/>
        </p:spPr>
        <p:txBody>
          <a:bodyPr wrap="square" lIns="0" tIns="0" rIns="0" bIns="0" rtlCol="0" anchor="ctr"/>
          <a:lstStyle/>
          <a:p>
            <a:pPr indent="0" marL="0">
              <a:buNone/>
            </a:pPr>
            <a:r>
              <a:rPr lang="en-US" sz="1000" dirty="0">
                <a:solidFill>
                  <a:srgbClr val="6E7889"/>
                </a:solidFill>
                <a:latin typeface="Courier New" pitchFamily="34" charset="0"/>
                <a:ea typeface="Courier New" pitchFamily="34" charset="-122"/>
                <a:cs typeface="Courier New" pitchFamily="34" charset="-120"/>
              </a:rPr>
              <a:t>agentic  ·  candidate v2 vs candidate v3</a:t>
            </a:r>
            <a:endParaRPr lang="en-US" sz="1000" dirty="0"/>
          </a:p>
        </p:txBody>
      </p:sp>
      <p:sp>
        <p:nvSpPr>
          <p:cNvPr id="12" name="Text 10"/>
          <p:cNvSpPr/>
          <p:nvPr/>
        </p:nvSpPr>
        <p:spPr>
          <a:xfrm>
            <a:off x="6540703" y="2761488"/>
            <a:ext cx="1143000" cy="512064"/>
          </a:xfrm>
          <a:prstGeom prst="rect">
            <a:avLst/>
          </a:prstGeom>
          <a:noFill/>
          <a:ln/>
        </p:spPr>
        <p:txBody>
          <a:bodyPr wrap="square" lIns="0" tIns="0" rIns="0" bIns="0" rtlCol="0" anchor="ctr"/>
          <a:lstStyle/>
          <a:p>
            <a:pPr indent="0" marL="0">
              <a:buNone/>
            </a:pPr>
            <a:r>
              <a:rPr lang="en-US" sz="2700" b="1" dirty="0">
                <a:solidFill>
                  <a:srgbClr val="222831"/>
                </a:solidFill>
                <a:latin typeface="Cambria" pitchFamily="34" charset="0"/>
                <a:ea typeface="Cambria" pitchFamily="34" charset="-122"/>
                <a:cs typeface="Cambria" pitchFamily="34" charset="-120"/>
              </a:rPr>
              <a:t>0.0329</a:t>
            </a:r>
            <a:endParaRPr lang="en-US" sz="2700" dirty="0"/>
          </a:p>
        </p:txBody>
      </p:sp>
      <p:sp>
        <p:nvSpPr>
          <p:cNvPr id="13" name="Text 11"/>
          <p:cNvSpPr/>
          <p:nvPr/>
        </p:nvSpPr>
        <p:spPr>
          <a:xfrm>
            <a:off x="7784287" y="2761488"/>
            <a:ext cx="3566160" cy="512064"/>
          </a:xfrm>
          <a:prstGeom prst="rect">
            <a:avLst/>
          </a:prstGeom>
          <a:noFill/>
          <a:ln/>
        </p:spPr>
        <p:txBody>
          <a:bodyPr wrap="square" lIns="0" tIns="0" rIns="0" bIns="0" rtlCol="0" anchor="ctr"/>
          <a:lstStyle/>
          <a:p>
            <a:pPr indent="0" marL="0">
              <a:lnSpc>
                <a:spcPts val="1400"/>
              </a:lnSpc>
              <a:buNone/>
            </a:pPr>
            <a:r>
              <a:rPr lang="en-US" sz="1050" dirty="0">
                <a:solidFill>
                  <a:srgbClr val="6E7889"/>
                </a:solidFill>
                <a:latin typeface="Calibri" pitchFamily="34" charset="0"/>
                <a:ea typeface="Calibri" pitchFamily="34" charset="-122"/>
                <a:cs typeface="Calibri" pitchFamily="34" charset="-120"/>
              </a:rPr>
              <a:t>observed difference between the two candidates</a:t>
            </a:r>
            <a:endParaRPr lang="en-US" sz="1050" dirty="0"/>
          </a:p>
        </p:txBody>
      </p:sp>
      <p:sp>
        <p:nvSpPr>
          <p:cNvPr id="14" name="Text 12"/>
          <p:cNvSpPr/>
          <p:nvPr/>
        </p:nvSpPr>
        <p:spPr>
          <a:xfrm>
            <a:off x="6540703" y="3474720"/>
            <a:ext cx="1143000" cy="512064"/>
          </a:xfrm>
          <a:prstGeom prst="rect">
            <a:avLst/>
          </a:prstGeom>
          <a:noFill/>
          <a:ln/>
        </p:spPr>
        <p:txBody>
          <a:bodyPr wrap="square" lIns="0" tIns="0" rIns="0" bIns="0" rtlCol="0" anchor="ctr"/>
          <a:lstStyle/>
          <a:p>
            <a:pPr indent="0" marL="0">
              <a:buNone/>
            </a:pPr>
            <a:r>
              <a:rPr lang="en-US" sz="2700" b="1" dirty="0">
                <a:solidFill>
                  <a:srgbClr val="9B2226"/>
                </a:solidFill>
                <a:latin typeface="Cambria" pitchFamily="34" charset="0"/>
                <a:ea typeface="Cambria" pitchFamily="34" charset="-122"/>
                <a:cs typeface="Cambria" pitchFamily="34" charset="-120"/>
              </a:rPr>
              <a:t>0.0944</a:t>
            </a:r>
            <a:endParaRPr lang="en-US" sz="2700" dirty="0"/>
          </a:p>
        </p:txBody>
      </p:sp>
      <p:sp>
        <p:nvSpPr>
          <p:cNvPr id="15" name="Text 13"/>
          <p:cNvSpPr/>
          <p:nvPr/>
        </p:nvSpPr>
        <p:spPr>
          <a:xfrm>
            <a:off x="7784287" y="3474720"/>
            <a:ext cx="3566160" cy="512064"/>
          </a:xfrm>
          <a:prstGeom prst="rect">
            <a:avLst/>
          </a:prstGeom>
          <a:noFill/>
          <a:ln/>
        </p:spPr>
        <p:txBody>
          <a:bodyPr wrap="square" lIns="0" tIns="0" rIns="0" bIns="0" rtlCol="0" anchor="ctr"/>
          <a:lstStyle/>
          <a:p>
            <a:pPr indent="0" marL="0">
              <a:lnSpc>
                <a:spcPts val="1400"/>
              </a:lnSpc>
              <a:buNone/>
            </a:pPr>
            <a:r>
              <a:rPr lang="en-US" sz="1050" dirty="0">
                <a:solidFill>
                  <a:srgbClr val="6E7889"/>
                </a:solidFill>
                <a:latin typeface="Calibri" pitchFamily="34" charset="0"/>
                <a:ea typeface="Calibri" pitchFamily="34" charset="-122"/>
                <a:cs typeface="Calibri" pitchFamily="34" charset="-120"/>
              </a:rPr>
              <a:t>smallest difference this design can resolve</a:t>
            </a:r>
            <a:endParaRPr lang="en-US" sz="1050" dirty="0"/>
          </a:p>
        </p:txBody>
      </p:sp>
      <p:sp>
        <p:nvSpPr>
          <p:cNvPr id="16" name="Text 14"/>
          <p:cNvSpPr/>
          <p:nvPr/>
        </p:nvSpPr>
        <p:spPr>
          <a:xfrm>
            <a:off x="6540703" y="4224528"/>
            <a:ext cx="4809744" cy="237744"/>
          </a:xfrm>
          <a:prstGeom prst="rect">
            <a:avLst/>
          </a:prstGeom>
          <a:noFill/>
          <a:ln/>
        </p:spPr>
        <p:txBody>
          <a:bodyPr wrap="square" lIns="0" tIns="0" rIns="0" bIns="0" rtlCol="0" anchor="ctr"/>
          <a:lstStyle/>
          <a:p>
            <a:pPr indent="0" marL="0">
              <a:buNone/>
            </a:pPr>
            <a:r>
              <a:rPr lang="en-US" sz="1050" b="1" dirty="0">
                <a:solidFill>
                  <a:srgbClr val="222831"/>
                </a:solidFill>
                <a:latin typeface="Calibri" pitchFamily="34" charset="0"/>
                <a:ea typeface="Calibri" pitchFamily="34" charset="-122"/>
                <a:cs typeface="Calibri" pitchFamily="34" charset="-120"/>
              </a:rPr>
              <a:t>95% CI  [−0.1000, 0.0320] — spans zero.   Permutation p = 0.331.</a:t>
            </a:r>
            <a:endParaRPr lang="en-US" sz="1050" dirty="0"/>
          </a:p>
        </p:txBody>
      </p:sp>
      <p:sp>
        <p:nvSpPr>
          <p:cNvPr id="17" name="Text 15"/>
          <p:cNvSpPr/>
          <p:nvPr/>
        </p:nvSpPr>
        <p:spPr>
          <a:xfrm>
            <a:off x="6540703" y="4553712"/>
            <a:ext cx="4809744" cy="786384"/>
          </a:xfrm>
          <a:prstGeom prst="rect">
            <a:avLst/>
          </a:prstGeom>
          <a:noFill/>
          <a:ln/>
        </p:spPr>
        <p:txBody>
          <a:bodyPr wrap="square" lIns="0" tIns="0" rIns="0" bIns="0" rtlCol="0" anchor="t"/>
          <a:lstStyle/>
          <a:p>
            <a:pPr indent="0" marL="0">
              <a:lnSpc>
                <a:spcPts val="1500"/>
              </a:lnSpc>
              <a:buNone/>
            </a:pPr>
            <a:r>
              <a:rPr lang="en-US" sz="1050" dirty="0">
                <a:solidFill>
                  <a:srgbClr val="222831"/>
                </a:solidFill>
                <a:latin typeface="Calibri" pitchFamily="34" charset="0"/>
                <a:ea typeface="Calibri" pitchFamily="34" charset="-122"/>
                <a:cs typeface="Calibri" pitchFamily="34" charset="-120"/>
              </a:rPr>
              <a:t>The sentence it would have supported: “v3 is three points better — ship it.” That sentence is unsupported, and nothing in a scoring script stops it.</a:t>
            </a:r>
            <a:endParaRPr lang="en-US" sz="1050" dirty="0"/>
          </a:p>
        </p:txBody>
      </p:sp>
      <p:sp>
        <p:nvSpPr>
          <p:cNvPr id="18" name="Shape 16"/>
          <p:cNvSpPr/>
          <p:nvPr/>
        </p:nvSpPr>
        <p:spPr>
          <a:xfrm>
            <a:off x="6540703" y="5394960"/>
            <a:ext cx="1051560" cy="256032"/>
          </a:xfrm>
          <a:prstGeom prst="roundRect">
            <a:avLst>
              <a:gd name="adj" fmla="val 17857"/>
            </a:avLst>
          </a:prstGeom>
          <a:solidFill>
            <a:srgbClr val="9B2226"/>
          </a:solidFill>
          <a:ln/>
        </p:spPr>
      </p:sp>
      <p:sp>
        <p:nvSpPr>
          <p:cNvPr id="19" name="Text 17"/>
          <p:cNvSpPr/>
          <p:nvPr/>
        </p:nvSpPr>
        <p:spPr>
          <a:xfrm>
            <a:off x="6540703" y="5394960"/>
            <a:ext cx="1051560" cy="256032"/>
          </a:xfrm>
          <a:prstGeom prst="rect">
            <a:avLst/>
          </a:prstGeom>
          <a:noFill/>
          <a:ln/>
        </p:spPr>
        <p:txBody>
          <a:bodyPr wrap="square" lIns="0" tIns="0" rIns="0" bIns="0" rtlCol="0" anchor="ctr"/>
          <a:lstStyle/>
          <a:p>
            <a:pPr algn="ctr" indent="0" marL="0">
              <a:buNone/>
            </a:pPr>
            <a:r>
              <a:rPr lang="en-US" sz="900" b="1" spc="80" kern="0" dirty="0">
                <a:solidFill>
                  <a:srgbClr val="FFFFFF"/>
                </a:solidFill>
                <a:latin typeface="Calibri" pitchFamily="34" charset="0"/>
                <a:ea typeface="Calibri" pitchFamily="34" charset="-122"/>
                <a:cs typeface="Calibri" pitchFamily="34" charset="-120"/>
              </a:rPr>
              <a:t>BLOCKED</a:t>
            </a:r>
            <a:endParaRPr lang="en-US" sz="900" dirty="0"/>
          </a:p>
        </p:txBody>
      </p:sp>
      <p:sp>
        <p:nvSpPr>
          <p:cNvPr id="20" name="Text 18"/>
          <p:cNvSpPr/>
          <p:nvPr/>
        </p:nvSpPr>
        <p:spPr>
          <a:xfrm>
            <a:off x="548640" y="6336792"/>
            <a:ext cx="9966960" cy="219456"/>
          </a:xfrm>
          <a:prstGeom prst="rect">
            <a:avLst/>
          </a:prstGeom>
          <a:noFill/>
          <a:ln/>
        </p:spPr>
        <p:txBody>
          <a:bodyPr wrap="square" lIns="0" tIns="0" rIns="0" bIns="0" rtlCol="0" anchor="ctr"/>
          <a:lstStyle/>
          <a:p>
            <a:pPr algn="l" indent="0" marL="0">
              <a:buNone/>
            </a:pPr>
            <a:r>
              <a:rPr lang="en-US" sz="800" dirty="0">
                <a:solidFill>
                  <a:srgbClr val="6E7889"/>
                </a:solidFill>
                <a:latin typeface="Calibri" pitchFamily="34" charset="0"/>
                <a:ea typeface="Calibri" pitchFamily="34" charset="-122"/>
                <a:cs typeface="Calibri" pitchFamily="34" charset="-120"/>
              </a:rPr>
              <a:t>results/portfolio.json  md5 299bd4f19e03caa2cd7e33681340c294  ·  tracks.agentic.comparison.sut-candidate-v2_vs_sut-candidate-v3</a:t>
            </a:r>
            <a:endParaRPr lang="en-US" sz="800" dirty="0"/>
          </a:p>
        </p:txBody>
      </p:sp>
      <p:sp>
        <p:nvSpPr>
          <p:cNvPr id="21" name="Text 19"/>
          <p:cNvSpPr/>
          <p:nvPr/>
        </p:nvSpPr>
        <p:spPr>
          <a:xfrm>
            <a:off x="10927080" y="6336792"/>
            <a:ext cx="713232" cy="219456"/>
          </a:xfrm>
          <a:prstGeom prst="rect">
            <a:avLst/>
          </a:prstGeom>
          <a:noFill/>
          <a:ln/>
        </p:spPr>
        <p:txBody>
          <a:bodyPr wrap="square" lIns="0" tIns="0" rIns="0" bIns="0" rtlCol="0" anchor="ctr"/>
          <a:lstStyle/>
          <a:p>
            <a:pPr algn="r" indent="0" marL="0">
              <a:buNone/>
            </a:pPr>
            <a:r>
              <a:rPr lang="en-US" sz="800" dirty="0">
                <a:solidFill>
                  <a:srgbClr val="6E7889"/>
                </a:solidFill>
                <a:latin typeface="Calibri" pitchFamily="34" charset="0"/>
                <a:ea typeface="Calibri" pitchFamily="34" charset="-122"/>
                <a:cs typeface="Calibri" pitchFamily="34" charset="-120"/>
              </a:rPr>
              <a:t>4</a:t>
            </a:r>
            <a:endParaRPr lang="en-US" sz="8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548640" y="292608"/>
            <a:ext cx="11094415" cy="201168"/>
          </a:xfrm>
          <a:prstGeom prst="rect">
            <a:avLst/>
          </a:prstGeom>
          <a:noFill/>
          <a:ln/>
        </p:spPr>
        <p:txBody>
          <a:bodyPr wrap="square" lIns="0" tIns="0" rIns="0" bIns="0" rtlCol="0" anchor="ctr"/>
          <a:lstStyle/>
          <a:p>
            <a:pPr indent="0" marL="0">
              <a:buNone/>
            </a:pPr>
            <a:r>
              <a:rPr lang="en-US" sz="950" b="1" spc="160" kern="0" dirty="0">
                <a:solidFill>
                  <a:srgbClr val="6E7889"/>
                </a:solidFill>
                <a:latin typeface="Calibri" pitchFamily="34" charset="0"/>
                <a:ea typeface="Calibri" pitchFamily="34" charset="-122"/>
                <a:cs typeface="Calibri" pitchFamily="34" charset="-120"/>
              </a:rPr>
              <a:t>05  ·  ARCHITECTURE</a:t>
            </a:r>
            <a:endParaRPr lang="en-US" sz="950" dirty="0"/>
          </a:p>
        </p:txBody>
      </p:sp>
      <p:sp>
        <p:nvSpPr>
          <p:cNvPr id="3" name="Text 1"/>
          <p:cNvSpPr/>
          <p:nvPr/>
        </p:nvSpPr>
        <p:spPr>
          <a:xfrm>
            <a:off x="548640" y="530352"/>
            <a:ext cx="11094415" cy="786384"/>
          </a:xfrm>
          <a:prstGeom prst="rect">
            <a:avLst/>
          </a:prstGeom>
          <a:noFill/>
          <a:ln/>
        </p:spPr>
        <p:txBody>
          <a:bodyPr wrap="square" lIns="0" tIns="0" rIns="0" bIns="0" rtlCol="0" anchor="t"/>
          <a:lstStyle/>
          <a:p>
            <a:pPr indent="0" marL="0">
              <a:lnSpc>
                <a:spcPts val="3200"/>
              </a:lnSpc>
              <a:buNone/>
            </a:pPr>
            <a:r>
              <a:rPr lang="en-US" sz="2600" b="1" dirty="0">
                <a:solidFill>
                  <a:srgbClr val="1E3A5F"/>
                </a:solidFill>
                <a:latin typeface="Cambria" pitchFamily="34" charset="0"/>
                <a:ea typeface="Cambria" pitchFamily="34" charset="-122"/>
                <a:cs typeface="Cambria" pitchFamily="34" charset="-120"/>
              </a:rPr>
              <a:t>One pipeline, eight stages — and a depth tier that decides what each track is allowed to say</a:t>
            </a:r>
            <a:endParaRPr lang="en-US" sz="2600" dirty="0"/>
          </a:p>
        </p:txBody>
      </p:sp>
      <p:sp>
        <p:nvSpPr>
          <p:cNvPr id="4" name="Text 2"/>
          <p:cNvSpPr/>
          <p:nvPr/>
        </p:nvSpPr>
        <p:spPr>
          <a:xfrm>
            <a:off x="548640" y="1371600"/>
            <a:ext cx="11094415" cy="402336"/>
          </a:xfrm>
          <a:prstGeom prst="rect">
            <a:avLst/>
          </a:prstGeom>
          <a:noFill/>
          <a:ln/>
        </p:spPr>
        <p:txBody>
          <a:bodyPr wrap="square" lIns="0" tIns="0" rIns="0" bIns="0" rtlCol="0" anchor="t"/>
          <a:lstStyle/>
          <a:p>
            <a:pPr indent="0" marL="0">
              <a:lnSpc>
                <a:spcPts val="1600"/>
              </a:lnSpc>
              <a:buNone/>
            </a:pPr>
            <a:r>
              <a:rPr lang="en-US" sz="1200" dirty="0">
                <a:solidFill>
                  <a:srgbClr val="6E7889"/>
                </a:solidFill>
                <a:latin typeface="Calibri" pitchFamily="34" charset="0"/>
                <a:ea typeface="Calibri" pitchFamily="34" charset="-122"/>
                <a:cs typeface="Calibri" pitchFamily="34" charset="-120"/>
              </a:rPr>
              <a:t>Tracks are auto-discovered with pkgutil: a module exposing SPEC, seed_items() and fixture_responses() is picked up with no harness edit, verified by adding and removing a fifth track.</a:t>
            </a:r>
            <a:endParaRPr lang="en-US" sz="1200" dirty="0"/>
          </a:p>
        </p:txBody>
      </p:sp>
      <p:sp>
        <p:nvSpPr>
          <p:cNvPr id="5" name="Shape 3"/>
          <p:cNvSpPr/>
          <p:nvPr/>
        </p:nvSpPr>
        <p:spPr>
          <a:xfrm>
            <a:off x="548640" y="1956816"/>
            <a:ext cx="1280160" cy="512064"/>
          </a:xfrm>
          <a:prstGeom prst="roundRect">
            <a:avLst>
              <a:gd name="adj" fmla="val 10714"/>
            </a:avLst>
          </a:prstGeom>
          <a:solidFill>
            <a:srgbClr val="F3F5F8"/>
          </a:solidFill>
          <a:ln w="9525">
            <a:solidFill>
              <a:srgbClr val="DCE1E8"/>
            </a:solidFill>
            <a:prstDash val="solid"/>
          </a:ln>
        </p:spPr>
      </p:sp>
      <p:sp>
        <p:nvSpPr>
          <p:cNvPr id="6" name="Text 4"/>
          <p:cNvSpPr/>
          <p:nvPr/>
        </p:nvSpPr>
        <p:spPr>
          <a:xfrm>
            <a:off x="548640" y="1956816"/>
            <a:ext cx="1280160" cy="512064"/>
          </a:xfrm>
          <a:prstGeom prst="rect">
            <a:avLst/>
          </a:prstGeom>
          <a:noFill/>
          <a:ln/>
        </p:spPr>
        <p:txBody>
          <a:bodyPr wrap="square" lIns="0" tIns="0" rIns="0" bIns="0" rtlCol="0" anchor="ctr"/>
          <a:lstStyle/>
          <a:p>
            <a:pPr algn="ctr" indent="0" marL="0">
              <a:buNone/>
            </a:pPr>
            <a:r>
              <a:rPr lang="en-US" sz="1050" dirty="0">
                <a:solidFill>
                  <a:srgbClr val="222831"/>
                </a:solidFill>
                <a:latin typeface="Courier New" pitchFamily="34" charset="0"/>
                <a:ea typeface="Courier New" pitchFamily="34" charset="-122"/>
                <a:cs typeface="Courier New" pitchFamily="34" charset="-120"/>
              </a:rPr>
              <a:t>generate</a:t>
            </a:r>
            <a:endParaRPr lang="en-US" sz="1050" dirty="0"/>
          </a:p>
        </p:txBody>
      </p:sp>
      <p:sp>
        <p:nvSpPr>
          <p:cNvPr id="7" name="Shape 5"/>
          <p:cNvSpPr/>
          <p:nvPr/>
        </p:nvSpPr>
        <p:spPr>
          <a:xfrm>
            <a:off x="1949958" y="1956816"/>
            <a:ext cx="1280160" cy="512064"/>
          </a:xfrm>
          <a:prstGeom prst="roundRect">
            <a:avLst>
              <a:gd name="adj" fmla="val 10714"/>
            </a:avLst>
          </a:prstGeom>
          <a:solidFill>
            <a:srgbClr val="F3F5F8"/>
          </a:solidFill>
          <a:ln w="9525">
            <a:solidFill>
              <a:srgbClr val="DCE1E8"/>
            </a:solidFill>
            <a:prstDash val="solid"/>
          </a:ln>
        </p:spPr>
      </p:sp>
      <p:sp>
        <p:nvSpPr>
          <p:cNvPr id="8" name="Text 6"/>
          <p:cNvSpPr/>
          <p:nvPr/>
        </p:nvSpPr>
        <p:spPr>
          <a:xfrm>
            <a:off x="1949958" y="1956816"/>
            <a:ext cx="1280160" cy="512064"/>
          </a:xfrm>
          <a:prstGeom prst="rect">
            <a:avLst/>
          </a:prstGeom>
          <a:noFill/>
          <a:ln/>
        </p:spPr>
        <p:txBody>
          <a:bodyPr wrap="square" lIns="0" tIns="0" rIns="0" bIns="0" rtlCol="0" anchor="ctr"/>
          <a:lstStyle/>
          <a:p>
            <a:pPr algn="ctr" indent="0" marL="0">
              <a:buNone/>
            </a:pPr>
            <a:r>
              <a:rPr lang="en-US" sz="1050" dirty="0">
                <a:solidFill>
                  <a:srgbClr val="222831"/>
                </a:solidFill>
                <a:latin typeface="Courier New" pitchFamily="34" charset="0"/>
                <a:ea typeface="Courier New" pitchFamily="34" charset="-122"/>
                <a:cs typeface="Courier New" pitchFamily="34" charset="-120"/>
              </a:rPr>
              <a:t>annotate</a:t>
            </a:r>
            <a:endParaRPr lang="en-US" sz="1050" dirty="0"/>
          </a:p>
        </p:txBody>
      </p:sp>
      <p:sp>
        <p:nvSpPr>
          <p:cNvPr id="9" name="Shape 7"/>
          <p:cNvSpPr/>
          <p:nvPr/>
        </p:nvSpPr>
        <p:spPr>
          <a:xfrm>
            <a:off x="3351276" y="1956816"/>
            <a:ext cx="1280160" cy="512064"/>
          </a:xfrm>
          <a:prstGeom prst="roundRect">
            <a:avLst>
              <a:gd name="adj" fmla="val 10714"/>
            </a:avLst>
          </a:prstGeom>
          <a:solidFill>
            <a:srgbClr val="F3F5F8"/>
          </a:solidFill>
          <a:ln w="9525">
            <a:solidFill>
              <a:srgbClr val="DCE1E8"/>
            </a:solidFill>
            <a:prstDash val="solid"/>
          </a:ln>
        </p:spPr>
      </p:sp>
      <p:sp>
        <p:nvSpPr>
          <p:cNvPr id="10" name="Text 8"/>
          <p:cNvSpPr/>
          <p:nvPr/>
        </p:nvSpPr>
        <p:spPr>
          <a:xfrm>
            <a:off x="3351276" y="1956816"/>
            <a:ext cx="1280160" cy="512064"/>
          </a:xfrm>
          <a:prstGeom prst="rect">
            <a:avLst/>
          </a:prstGeom>
          <a:noFill/>
          <a:ln/>
        </p:spPr>
        <p:txBody>
          <a:bodyPr wrap="square" lIns="0" tIns="0" rIns="0" bIns="0" rtlCol="0" anchor="ctr"/>
          <a:lstStyle/>
          <a:p>
            <a:pPr algn="ctr" indent="0" marL="0">
              <a:buNone/>
            </a:pPr>
            <a:r>
              <a:rPr lang="en-US" sz="1050" dirty="0">
                <a:solidFill>
                  <a:srgbClr val="222831"/>
                </a:solidFill>
                <a:latin typeface="Courier New" pitchFamily="34" charset="0"/>
                <a:ea typeface="Courier New" pitchFamily="34" charset="-122"/>
                <a:cs typeface="Courier New" pitchFamily="34" charset="-120"/>
              </a:rPr>
              <a:t>triage</a:t>
            </a:r>
            <a:endParaRPr lang="en-US" sz="1050" dirty="0"/>
          </a:p>
        </p:txBody>
      </p:sp>
      <p:sp>
        <p:nvSpPr>
          <p:cNvPr id="11" name="Shape 9"/>
          <p:cNvSpPr/>
          <p:nvPr/>
        </p:nvSpPr>
        <p:spPr>
          <a:xfrm>
            <a:off x="4752594" y="1956816"/>
            <a:ext cx="1280160" cy="512064"/>
          </a:xfrm>
          <a:prstGeom prst="roundRect">
            <a:avLst>
              <a:gd name="adj" fmla="val 10714"/>
            </a:avLst>
          </a:prstGeom>
          <a:solidFill>
            <a:srgbClr val="F3F5F8"/>
          </a:solidFill>
          <a:ln w="9525">
            <a:solidFill>
              <a:srgbClr val="DCE1E8"/>
            </a:solidFill>
            <a:prstDash val="solid"/>
          </a:ln>
        </p:spPr>
      </p:sp>
      <p:sp>
        <p:nvSpPr>
          <p:cNvPr id="12" name="Text 10"/>
          <p:cNvSpPr/>
          <p:nvPr/>
        </p:nvSpPr>
        <p:spPr>
          <a:xfrm>
            <a:off x="4752594" y="1956816"/>
            <a:ext cx="1280160" cy="512064"/>
          </a:xfrm>
          <a:prstGeom prst="rect">
            <a:avLst/>
          </a:prstGeom>
          <a:noFill/>
          <a:ln/>
        </p:spPr>
        <p:txBody>
          <a:bodyPr wrap="square" lIns="0" tIns="0" rIns="0" bIns="0" rtlCol="0" anchor="ctr"/>
          <a:lstStyle/>
          <a:p>
            <a:pPr algn="ctr" indent="0" marL="0">
              <a:buNone/>
            </a:pPr>
            <a:r>
              <a:rPr lang="en-US" sz="1050" dirty="0">
                <a:solidFill>
                  <a:srgbClr val="222831"/>
                </a:solidFill>
                <a:latin typeface="Courier New" pitchFamily="34" charset="0"/>
                <a:ea typeface="Courier New" pitchFamily="34" charset="-122"/>
                <a:cs typeface="Courier New" pitchFamily="34" charset="-120"/>
              </a:rPr>
              <a:t>adjudicate</a:t>
            </a:r>
            <a:endParaRPr lang="en-US" sz="1050" dirty="0"/>
          </a:p>
        </p:txBody>
      </p:sp>
      <p:sp>
        <p:nvSpPr>
          <p:cNvPr id="13" name="Shape 11"/>
          <p:cNvSpPr/>
          <p:nvPr/>
        </p:nvSpPr>
        <p:spPr>
          <a:xfrm>
            <a:off x="6153912" y="1956816"/>
            <a:ext cx="1280160" cy="512064"/>
          </a:xfrm>
          <a:prstGeom prst="roundRect">
            <a:avLst>
              <a:gd name="adj" fmla="val 10714"/>
            </a:avLst>
          </a:prstGeom>
          <a:solidFill>
            <a:srgbClr val="F3F5F8"/>
          </a:solidFill>
          <a:ln w="9525">
            <a:solidFill>
              <a:srgbClr val="DCE1E8"/>
            </a:solidFill>
            <a:prstDash val="solid"/>
          </a:ln>
        </p:spPr>
      </p:sp>
      <p:sp>
        <p:nvSpPr>
          <p:cNvPr id="14" name="Text 12"/>
          <p:cNvSpPr/>
          <p:nvPr/>
        </p:nvSpPr>
        <p:spPr>
          <a:xfrm>
            <a:off x="6153912" y="1956816"/>
            <a:ext cx="1280160" cy="512064"/>
          </a:xfrm>
          <a:prstGeom prst="rect">
            <a:avLst/>
          </a:prstGeom>
          <a:noFill/>
          <a:ln/>
        </p:spPr>
        <p:txBody>
          <a:bodyPr wrap="square" lIns="0" tIns="0" rIns="0" bIns="0" rtlCol="0" anchor="ctr"/>
          <a:lstStyle/>
          <a:p>
            <a:pPr algn="ctr" indent="0" marL="0">
              <a:buNone/>
            </a:pPr>
            <a:r>
              <a:rPr lang="en-US" sz="1050" dirty="0">
                <a:solidFill>
                  <a:srgbClr val="222831"/>
                </a:solidFill>
                <a:latin typeface="Courier New" pitchFamily="34" charset="0"/>
                <a:ea typeface="Courier New" pitchFamily="34" charset="-122"/>
                <a:cs typeface="Courier New" pitchFamily="34" charset="-120"/>
              </a:rPr>
              <a:t>score</a:t>
            </a:r>
            <a:endParaRPr lang="en-US" sz="1050" dirty="0"/>
          </a:p>
        </p:txBody>
      </p:sp>
      <p:sp>
        <p:nvSpPr>
          <p:cNvPr id="15" name="Shape 13"/>
          <p:cNvSpPr/>
          <p:nvPr/>
        </p:nvSpPr>
        <p:spPr>
          <a:xfrm>
            <a:off x="7555230" y="1956816"/>
            <a:ext cx="1280160" cy="512064"/>
          </a:xfrm>
          <a:prstGeom prst="roundRect">
            <a:avLst>
              <a:gd name="adj" fmla="val 10714"/>
            </a:avLst>
          </a:prstGeom>
          <a:solidFill>
            <a:srgbClr val="F3F5F8"/>
          </a:solidFill>
          <a:ln w="9525">
            <a:solidFill>
              <a:srgbClr val="DCE1E8"/>
            </a:solidFill>
            <a:prstDash val="solid"/>
          </a:ln>
        </p:spPr>
      </p:sp>
      <p:sp>
        <p:nvSpPr>
          <p:cNvPr id="16" name="Text 14"/>
          <p:cNvSpPr/>
          <p:nvPr/>
        </p:nvSpPr>
        <p:spPr>
          <a:xfrm>
            <a:off x="7555230" y="1956816"/>
            <a:ext cx="1280160" cy="512064"/>
          </a:xfrm>
          <a:prstGeom prst="rect">
            <a:avLst/>
          </a:prstGeom>
          <a:noFill/>
          <a:ln/>
        </p:spPr>
        <p:txBody>
          <a:bodyPr wrap="square" lIns="0" tIns="0" rIns="0" bIns="0" rtlCol="0" anchor="ctr"/>
          <a:lstStyle/>
          <a:p>
            <a:pPr algn="ctr" indent="0" marL="0">
              <a:buNone/>
            </a:pPr>
            <a:r>
              <a:rPr lang="en-US" sz="1050" dirty="0">
                <a:solidFill>
                  <a:srgbClr val="222831"/>
                </a:solidFill>
                <a:latin typeface="Courier New" pitchFamily="34" charset="0"/>
                <a:ea typeface="Courier New" pitchFamily="34" charset="-122"/>
                <a:cs typeface="Courier New" pitchFamily="34" charset="-120"/>
              </a:rPr>
              <a:t>probe</a:t>
            </a:r>
            <a:endParaRPr lang="en-US" sz="1050" dirty="0"/>
          </a:p>
        </p:txBody>
      </p:sp>
      <p:sp>
        <p:nvSpPr>
          <p:cNvPr id="17" name="Shape 15"/>
          <p:cNvSpPr/>
          <p:nvPr/>
        </p:nvSpPr>
        <p:spPr>
          <a:xfrm>
            <a:off x="8956548" y="1956816"/>
            <a:ext cx="1280160" cy="512064"/>
          </a:xfrm>
          <a:prstGeom prst="roundRect">
            <a:avLst>
              <a:gd name="adj" fmla="val 10714"/>
            </a:avLst>
          </a:prstGeom>
          <a:solidFill>
            <a:srgbClr val="1E3A5F"/>
          </a:solidFill>
          <a:ln w="9525">
            <a:solidFill>
              <a:srgbClr val="1E3A5F"/>
            </a:solidFill>
            <a:prstDash val="solid"/>
          </a:ln>
        </p:spPr>
      </p:sp>
      <p:sp>
        <p:nvSpPr>
          <p:cNvPr id="18" name="Text 16"/>
          <p:cNvSpPr/>
          <p:nvPr/>
        </p:nvSpPr>
        <p:spPr>
          <a:xfrm>
            <a:off x="8956548" y="1956816"/>
            <a:ext cx="1280160" cy="512064"/>
          </a:xfrm>
          <a:prstGeom prst="rect">
            <a:avLst/>
          </a:prstGeom>
          <a:noFill/>
          <a:ln/>
        </p:spPr>
        <p:txBody>
          <a:bodyPr wrap="square" lIns="0" tIns="0" rIns="0" bIns="0" rtlCol="0" anchor="ctr"/>
          <a:lstStyle/>
          <a:p>
            <a:pPr algn="ctr" indent="0" marL="0">
              <a:buNone/>
            </a:pPr>
            <a:r>
              <a:rPr lang="en-US" sz="1050" b="1" dirty="0">
                <a:solidFill>
                  <a:srgbClr val="FFFFFF"/>
                </a:solidFill>
                <a:latin typeface="Courier New" pitchFamily="34" charset="0"/>
                <a:ea typeface="Courier New" pitchFamily="34" charset="-122"/>
                <a:cs typeface="Courier New" pitchFamily="34" charset="-120"/>
              </a:rPr>
              <a:t>gate</a:t>
            </a:r>
            <a:endParaRPr lang="en-US" sz="1050" dirty="0"/>
          </a:p>
        </p:txBody>
      </p:sp>
      <p:sp>
        <p:nvSpPr>
          <p:cNvPr id="19" name="Shape 17"/>
          <p:cNvSpPr/>
          <p:nvPr/>
        </p:nvSpPr>
        <p:spPr>
          <a:xfrm>
            <a:off x="10357866" y="1956816"/>
            <a:ext cx="1280160" cy="512064"/>
          </a:xfrm>
          <a:prstGeom prst="roundRect">
            <a:avLst>
              <a:gd name="adj" fmla="val 10714"/>
            </a:avLst>
          </a:prstGeom>
          <a:solidFill>
            <a:srgbClr val="1E3A5F"/>
          </a:solidFill>
          <a:ln w="9525">
            <a:solidFill>
              <a:srgbClr val="1E3A5F"/>
            </a:solidFill>
            <a:prstDash val="solid"/>
          </a:ln>
        </p:spPr>
      </p:sp>
      <p:sp>
        <p:nvSpPr>
          <p:cNvPr id="20" name="Text 18"/>
          <p:cNvSpPr/>
          <p:nvPr/>
        </p:nvSpPr>
        <p:spPr>
          <a:xfrm>
            <a:off x="10357866" y="1956816"/>
            <a:ext cx="1280160" cy="512064"/>
          </a:xfrm>
          <a:prstGeom prst="rect">
            <a:avLst/>
          </a:prstGeom>
          <a:noFill/>
          <a:ln/>
        </p:spPr>
        <p:txBody>
          <a:bodyPr wrap="square" lIns="0" tIns="0" rIns="0" bIns="0" rtlCol="0" anchor="ctr"/>
          <a:lstStyle/>
          <a:p>
            <a:pPr algn="ctr" indent="0" marL="0">
              <a:buNone/>
            </a:pPr>
            <a:r>
              <a:rPr lang="en-US" sz="1050" b="1" dirty="0">
                <a:solidFill>
                  <a:srgbClr val="FFFFFF"/>
                </a:solidFill>
                <a:latin typeface="Courier New" pitchFamily="34" charset="0"/>
                <a:ea typeface="Courier New" pitchFamily="34" charset="-122"/>
                <a:cs typeface="Courier New" pitchFamily="34" charset="-120"/>
              </a:rPr>
              <a:t>decide</a:t>
            </a:r>
            <a:endParaRPr lang="en-US" sz="1050" dirty="0"/>
          </a:p>
        </p:txBody>
      </p:sp>
      <p:sp>
        <p:nvSpPr>
          <p:cNvPr id="21" name="Text 19"/>
          <p:cNvSpPr/>
          <p:nvPr/>
        </p:nvSpPr>
        <p:spPr>
          <a:xfrm>
            <a:off x="548640" y="2596896"/>
            <a:ext cx="11094415" cy="256032"/>
          </a:xfrm>
          <a:prstGeom prst="rect">
            <a:avLst/>
          </a:prstGeom>
          <a:noFill/>
          <a:ln/>
        </p:spPr>
        <p:txBody>
          <a:bodyPr wrap="square" lIns="0" tIns="0" rIns="0" bIns="0" rtlCol="0" anchor="ctr"/>
          <a:lstStyle/>
          <a:p>
            <a:pPr indent="0" marL="0">
              <a:buNone/>
            </a:pPr>
            <a:r>
              <a:rPr lang="en-US" sz="1100" dirty="0">
                <a:solidFill>
                  <a:srgbClr val="6E7889"/>
                </a:solidFill>
                <a:latin typeface="Calibri" pitchFamily="34" charset="0"/>
                <a:ea typeface="Calibri" pitchFamily="34" charset="-122"/>
                <a:cs typeface="Calibri" pitchFamily="34" charset="-120"/>
              </a:rPr>
              <a:t>Stages 1–6 are what most harnesses have. Stages 7 and 8 — the signal gate and the decision engine — are the ones that make a number publishable or withhold it.</a:t>
            </a:r>
            <a:endParaRPr lang="en-US" sz="1100" dirty="0"/>
          </a:p>
        </p:txBody>
      </p:sp>
      <p:graphicFrame>
        <p:nvGraphicFramePr>
          <p:cNvPr id="6" name="Table 0"/>
          <p:cNvGraphicFramePr>
            <a:graphicFrameLocks noGrp="1"/>
          </p:cNvGraphicFramePr>
          <p:nvPr>
            <p:extLst>
              <p:ext uri="{D42A27DB-BD31-4B8C-83A1-F6EECF244321}">
                <p14:modId xmlns:p14="http://schemas.microsoft.com/office/powerpoint/2010/main" val="1579011935"/>
              </p:ext>
            </p:extLst>
          </p:nvPr>
        </p:nvGraphicFramePr>
        <p:xfrm>
          <a:off x="548640" y="2980944"/>
          <a:ext cx="9144000" cy="914400"/>
        </p:xfrm>
        <a:graphic>
          <a:graphicData uri="http://schemas.openxmlformats.org/drawingml/2006/table">
            <a:tbl>
              <a:tblPr/>
              <a:tblGrid>
                <a:gridCol w="1234440"/>
                <a:gridCol w="1874520"/>
                <a:gridCol w="1234440"/>
                <a:gridCol w="731520"/>
                <a:gridCol w="6019495"/>
              </a:tblGrid>
              <a:tr h="384048">
                <a:tc>
                  <a:txBody>
                    <a:bodyPr/>
                    <a:lstStyle/>
                    <a:p>
                      <a:pPr algn="l" indent="0" marL="0">
                        <a:buNone/>
                      </a:pPr>
                      <a:r>
                        <a:rPr lang="en-US" sz="950" b="1" dirty="0">
                          <a:solidFill>
                            <a:srgbClr val="FFFFFF"/>
                          </a:solidFill>
                          <a:latin typeface="Calibri" pitchFamily="34" charset="0"/>
                          <a:ea typeface="Calibri" pitchFamily="34" charset="-122"/>
                          <a:cs typeface="Calibri" pitchFamily="34" charset="-120"/>
                        </a:rPr>
                        <a:t>Track</a:t>
                      </a:r>
                      <a:endParaRPr lang="en-US" sz="950" dirty="0">
                        <a:latin typeface="Calibri" charset="0"/>
                        <a:ea typeface="Calibri" charset="0"/>
                        <a:cs typeface="Calibri" charset="0"/>
                      </a:endParaRPr>
                    </a:p>
                  </a:txBody>
                  <a:tcPr marL="76200" marR="76200" marT="25400" marB="25400" anchor="ctr">
                    <a:lnL w="0" cap="flat" cmpd="sng" algn="ctr">
                      <a:noFill/>
                    </a:lnL>
                    <a:lnR w="0" cap="flat" cmpd="sng" algn="ctr">
                      <a:noFill/>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1E3A5F"/>
                    </a:solidFill>
                  </a:tcPr>
                </a:tc>
                <a:tc>
                  <a:txBody>
                    <a:bodyPr/>
                    <a:lstStyle/>
                    <a:p>
                      <a:pPr algn="ctr" indent="0" marL="0">
                        <a:buNone/>
                      </a:pPr>
                      <a:r>
                        <a:rPr lang="en-US" sz="950" b="1" dirty="0">
                          <a:solidFill>
                            <a:srgbClr val="FFFFFF"/>
                          </a:solidFill>
                          <a:latin typeface="Calibri" pitchFamily="34" charset="0"/>
                          <a:ea typeface="Calibri" pitchFamily="34" charset="-122"/>
                          <a:cs typeface="Calibri" pitchFamily="34" charset="-120"/>
                        </a:rPr>
                        <a:t>Construct</a:t>
                      </a:r>
                      <a:endParaRPr lang="en-US" sz="950" dirty="0">
                        <a:latin typeface="Calibri" charset="0"/>
                        <a:ea typeface="Calibri" charset="0"/>
                        <a:cs typeface="Calibri" charset="0"/>
                      </a:endParaRPr>
                    </a:p>
                  </a:txBody>
                  <a:tcPr marL="76200" marR="76200" marT="25400" marB="25400" anchor="ctr">
                    <a:lnL w="0" cap="flat" cmpd="sng" algn="ctr">
                      <a:noFill/>
                    </a:lnL>
                    <a:lnR w="0" cap="flat" cmpd="sng" algn="ctr">
                      <a:noFill/>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1E3A5F"/>
                    </a:solidFill>
                  </a:tcPr>
                </a:tc>
                <a:tc>
                  <a:txBody>
                    <a:bodyPr/>
                    <a:lstStyle/>
                    <a:p>
                      <a:pPr algn="ctr" indent="0" marL="0">
                        <a:buNone/>
                      </a:pPr>
                      <a:r>
                        <a:rPr lang="en-US" sz="950" b="1" dirty="0">
                          <a:solidFill>
                            <a:srgbClr val="FFFFFF"/>
                          </a:solidFill>
                          <a:latin typeface="Calibri" pitchFamily="34" charset="0"/>
                          <a:ea typeface="Calibri" pitchFamily="34" charset="-122"/>
                          <a:cs typeface="Calibri" pitchFamily="34" charset="-120"/>
                        </a:rPr>
                        <a:t>Depth tier</a:t>
                      </a:r>
                      <a:endParaRPr lang="en-US" sz="950" dirty="0">
                        <a:latin typeface="Calibri" charset="0"/>
                        <a:ea typeface="Calibri" charset="0"/>
                        <a:cs typeface="Calibri" charset="0"/>
                      </a:endParaRPr>
                    </a:p>
                  </a:txBody>
                  <a:tcPr marL="76200" marR="76200" marT="25400" marB="25400" anchor="ctr">
                    <a:lnL w="0" cap="flat" cmpd="sng" algn="ctr">
                      <a:noFill/>
                    </a:lnL>
                    <a:lnR w="0" cap="flat" cmpd="sng" algn="ctr">
                      <a:noFill/>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1E3A5F"/>
                    </a:solidFill>
                  </a:tcPr>
                </a:tc>
                <a:tc>
                  <a:txBody>
                    <a:bodyPr/>
                    <a:lstStyle/>
                    <a:p>
                      <a:pPr algn="ctr" indent="0" marL="0">
                        <a:buNone/>
                      </a:pPr>
                      <a:r>
                        <a:rPr lang="en-US" sz="950" b="1" dirty="0">
                          <a:solidFill>
                            <a:srgbClr val="FFFFFF"/>
                          </a:solidFill>
                          <a:latin typeface="Calibri" pitchFamily="34" charset="0"/>
                          <a:ea typeface="Calibri" pitchFamily="34" charset="-122"/>
                          <a:cs typeface="Calibri" pitchFamily="34" charset="-120"/>
                        </a:rPr>
                        <a:t>Items</a:t>
                      </a:r>
                      <a:endParaRPr lang="en-US" sz="950" dirty="0">
                        <a:latin typeface="Calibri" charset="0"/>
                        <a:ea typeface="Calibri" charset="0"/>
                        <a:cs typeface="Calibri" charset="0"/>
                      </a:endParaRPr>
                    </a:p>
                  </a:txBody>
                  <a:tcPr marL="76200" marR="76200" marT="25400" marB="25400" anchor="ctr">
                    <a:lnL w="0" cap="flat" cmpd="sng" algn="ctr">
                      <a:noFill/>
                    </a:lnL>
                    <a:lnR w="0" cap="flat" cmpd="sng" algn="ctr">
                      <a:noFill/>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1E3A5F"/>
                    </a:solidFill>
                  </a:tcPr>
                </a:tc>
                <a:tc>
                  <a:txBody>
                    <a:bodyPr/>
                    <a:lstStyle/>
                    <a:p>
                      <a:pPr algn="ctr" indent="0" marL="0">
                        <a:buNone/>
                      </a:pPr>
                      <a:r>
                        <a:rPr lang="en-US" sz="950" b="1" dirty="0">
                          <a:solidFill>
                            <a:srgbClr val="FFFFFF"/>
                          </a:solidFill>
                          <a:latin typeface="Calibri" pitchFamily="34" charset="0"/>
                          <a:ea typeface="Calibri" pitchFamily="34" charset="-122"/>
                          <a:cs typeface="Calibri" pitchFamily="34" charset="-120"/>
                        </a:rPr>
                        <a:t>What that tier permits</a:t>
                      </a:r>
                      <a:endParaRPr lang="en-US" sz="950" dirty="0">
                        <a:latin typeface="Calibri" charset="0"/>
                        <a:ea typeface="Calibri" charset="0"/>
                        <a:cs typeface="Calibri" charset="0"/>
                      </a:endParaRPr>
                    </a:p>
                  </a:txBody>
                  <a:tcPr marL="76200" marR="76200" marT="25400" marB="25400" anchor="ctr">
                    <a:lnL w="0" cap="flat" cmpd="sng" algn="ctr">
                      <a:noFill/>
                    </a:lnL>
                    <a:lnR w="0" cap="flat" cmpd="sng" algn="ctr">
                      <a:noFill/>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1E3A5F"/>
                    </a:solidFill>
                  </a:tcPr>
                </a:tc>
              </a:tr>
              <a:tr h="384048">
                <a:tc>
                  <a:txBody>
                    <a:bodyPr/>
                    <a:lstStyle/>
                    <a:p>
                      <a:pPr algn="l" indent="0" marL="0">
                        <a:buNone/>
                      </a:pPr>
                      <a:r>
                        <a:rPr lang="en-US" sz="1000" dirty="0">
                          <a:solidFill>
                            <a:srgbClr val="222831"/>
                          </a:solidFill>
                          <a:latin typeface="Courier New" pitchFamily="34" charset="0"/>
                          <a:ea typeface="Courier New" pitchFamily="34" charset="-122"/>
                          <a:cs typeface="Courier New" pitchFamily="34" charset="-120"/>
                        </a:rPr>
                        <a:t>agentic</a:t>
                      </a:r>
                      <a:endParaRPr lang="en-US" sz="1000" dirty="0">
                        <a:latin typeface="Courier New" charset="0"/>
                        <a:ea typeface="Courier New" charset="0"/>
                        <a:cs typeface="Courier New" charset="0"/>
                      </a:endParaRPr>
                    </a:p>
                  </a:txBody>
                  <a:tcPr marL="76200" marR="76200" marT="25400" marB="25400" anchor="ctr">
                    <a:lnL w="0" cap="flat" cmpd="sng" algn="ctr">
                      <a:noFill/>
                    </a:lnL>
                    <a:lnR w="0" cap="flat" cmpd="sng" algn="ctr">
                      <a:noFill/>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tcPr>
                </a:tc>
                <a:tc>
                  <a:txBody>
                    <a:bodyPr/>
                    <a:lstStyle/>
                    <a:p>
                      <a:pPr indent="0" marL="0">
                        <a:buNone/>
                      </a:pPr>
                      <a:r>
                        <a:rPr lang="en-US" sz="1000" dirty="0">
                          <a:solidFill>
                            <a:srgbClr val="222831"/>
                          </a:solidFill>
                          <a:latin typeface="Calibri" pitchFamily="34" charset="0"/>
                          <a:ea typeface="Calibri" pitchFamily="34" charset="-122"/>
                          <a:cs typeface="Calibri" pitchFamily="34" charset="-120"/>
                        </a:rPr>
                        <a:t>tool-use failure</a:t>
                      </a:r>
                      <a:endParaRPr lang="en-US" sz="1000" dirty="0">
                        <a:latin typeface="Calibri" charset="0"/>
                        <a:ea typeface="Calibri" charset="0"/>
                        <a:cs typeface="Calibri" charset="0"/>
                      </a:endParaRPr>
                    </a:p>
                  </a:txBody>
                  <a:tcPr marL="76200" marR="76200" marT="25400" marB="25400" anchor="ctr">
                    <a:lnL w="0" cap="flat" cmpd="sng" algn="ctr">
                      <a:noFill/>
                    </a:lnL>
                    <a:lnR w="0" cap="flat" cmpd="sng" algn="ctr">
                      <a:noFill/>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tcPr>
                </a:tc>
                <a:tc>
                  <a:txBody>
                    <a:bodyPr/>
                    <a:lstStyle/>
                    <a:p>
                      <a:pPr algn="ctr" indent="0" marL="0">
                        <a:buNone/>
                      </a:pPr>
                      <a:r>
                        <a:rPr lang="en-US" sz="1000" b="1" dirty="0">
                          <a:solidFill>
                            <a:srgbClr val="2C6E49"/>
                          </a:solidFill>
                          <a:latin typeface="Calibri" pitchFamily="34" charset="0"/>
                          <a:ea typeface="Calibri" pitchFamily="34" charset="-122"/>
                          <a:cs typeface="Calibri" pitchFamily="34" charset="-120"/>
                        </a:rPr>
                        <a:t>production</a:t>
                      </a:r>
                      <a:endParaRPr lang="en-US" sz="1000" dirty="0">
                        <a:latin typeface="Calibri" charset="0"/>
                        <a:ea typeface="Calibri" charset="0"/>
                        <a:cs typeface="Calibri" charset="0"/>
                      </a:endParaRPr>
                    </a:p>
                  </a:txBody>
                  <a:tcPr marL="76200" marR="76200" marT="25400" marB="25400" anchor="ctr">
                    <a:lnL w="0" cap="flat" cmpd="sng" algn="ctr">
                      <a:noFill/>
                    </a:lnL>
                    <a:lnR w="0" cap="flat" cmpd="sng" algn="ctr">
                      <a:noFill/>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tcPr>
                </a:tc>
                <a:tc>
                  <a:txBody>
                    <a:bodyPr/>
                    <a:lstStyle/>
                    <a:p>
                      <a:pPr algn="ctr" indent="0" marL="0">
                        <a:buNone/>
                      </a:pPr>
                      <a:r>
                        <a:rPr lang="en-US" sz="1000" dirty="0">
                          <a:solidFill>
                            <a:srgbClr val="222831"/>
                          </a:solidFill>
                          <a:latin typeface="Calibri" pitchFamily="34" charset="0"/>
                          <a:ea typeface="Calibri" pitchFamily="34" charset="-122"/>
                          <a:cs typeface="Calibri" pitchFamily="34" charset="-120"/>
                        </a:rPr>
                        <a:t>48</a:t>
                      </a:r>
                      <a:endParaRPr lang="en-US" sz="1000" dirty="0">
                        <a:latin typeface="Calibri" charset="0"/>
                        <a:ea typeface="Calibri" charset="0"/>
                        <a:cs typeface="Calibri" charset="0"/>
                      </a:endParaRPr>
                    </a:p>
                  </a:txBody>
                  <a:tcPr marL="76200" marR="76200" marT="25400" marB="25400" anchor="ctr">
                    <a:lnL w="0" cap="flat" cmpd="sng" algn="ctr">
                      <a:noFill/>
                    </a:lnL>
                    <a:lnR w="0" cap="flat" cmpd="sng" algn="ctr">
                      <a:noFill/>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tcPr>
                </a:tc>
                <a:tc>
                  <a:txBody>
                    <a:bodyPr/>
                    <a:lstStyle/>
                    <a:p>
                      <a:pPr algn="l" indent="0" marL="0">
                        <a:buNone/>
                      </a:pPr>
                      <a:r>
                        <a:rPr lang="en-US" sz="1000" dirty="0">
                          <a:solidFill>
                            <a:srgbClr val="222831"/>
                          </a:solidFill>
                          <a:latin typeface="Calibri" pitchFamily="34" charset="0"/>
                          <a:ea typeface="Calibri" pitchFamily="34" charset="-122"/>
                          <a:cs typeface="Calibri" pitchFamily="34" charset="-120"/>
                        </a:rPr>
                        <a:t>Measurements, system rankings, and use as a release gate — if every gate check passes</a:t>
                      </a:r>
                      <a:endParaRPr lang="en-US" sz="1000" dirty="0">
                        <a:latin typeface="Calibri" charset="0"/>
                        <a:ea typeface="Calibri" charset="0"/>
                        <a:cs typeface="Calibri" charset="0"/>
                      </a:endParaRPr>
                    </a:p>
                  </a:txBody>
                  <a:tcPr marL="76200" marR="76200" marT="25400" marB="25400" anchor="ctr">
                    <a:lnL w="0" cap="flat" cmpd="sng" algn="ctr">
                      <a:noFill/>
                    </a:lnL>
                    <a:lnR w="0" cap="flat" cmpd="sng" algn="ctr">
                      <a:noFill/>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tcPr>
                </a:tc>
              </a:tr>
              <a:tr h="384048">
                <a:tc>
                  <a:txBody>
                    <a:bodyPr/>
                    <a:lstStyle/>
                    <a:p>
                      <a:pPr algn="l" indent="0" marL="0">
                        <a:buNone/>
                      </a:pPr>
                      <a:r>
                        <a:rPr lang="en-US" sz="1000" dirty="0">
                          <a:solidFill>
                            <a:srgbClr val="222831"/>
                          </a:solidFill>
                          <a:latin typeface="Courier New" pitchFamily="34" charset="0"/>
                          <a:ea typeface="Courier New" pitchFamily="34" charset="-122"/>
                          <a:cs typeface="Courier New" pitchFamily="34" charset="-120"/>
                        </a:rPr>
                        <a:t>reasoning</a:t>
                      </a:r>
                      <a:endParaRPr lang="en-US" sz="1000" dirty="0">
                        <a:latin typeface="Courier New" charset="0"/>
                        <a:ea typeface="Courier New" charset="0"/>
                        <a:cs typeface="Courier New" charset="0"/>
                      </a:endParaRPr>
                    </a:p>
                  </a:txBody>
                  <a:tcPr marL="76200" marR="76200" marT="25400" marB="25400" anchor="ctr">
                    <a:lnL w="0" cap="flat" cmpd="sng" algn="ctr">
                      <a:noFill/>
                    </a:lnL>
                    <a:lnR w="0" cap="flat" cmpd="sng" algn="ctr">
                      <a:noFill/>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tcPr>
                </a:tc>
                <a:tc>
                  <a:txBody>
                    <a:bodyPr/>
                    <a:lstStyle/>
                    <a:p>
                      <a:pPr indent="0" marL="0">
                        <a:buNone/>
                      </a:pPr>
                      <a:r>
                        <a:rPr lang="en-US" sz="1000" dirty="0">
                          <a:solidFill>
                            <a:srgbClr val="222831"/>
                          </a:solidFill>
                          <a:latin typeface="Calibri" pitchFamily="34" charset="0"/>
                          <a:ea typeface="Calibri" pitchFamily="34" charset="-122"/>
                          <a:cs typeface="Calibri" pitchFamily="34" charset="-120"/>
                        </a:rPr>
                        <a:t>process validity</a:t>
                      </a:r>
                      <a:endParaRPr lang="en-US" sz="1000" dirty="0">
                        <a:latin typeface="Calibri" charset="0"/>
                        <a:ea typeface="Calibri" charset="0"/>
                        <a:cs typeface="Calibri" charset="0"/>
                      </a:endParaRPr>
                    </a:p>
                  </a:txBody>
                  <a:tcPr marL="76200" marR="76200" marT="25400" marB="25400" anchor="ctr">
                    <a:lnL w="0" cap="flat" cmpd="sng" algn="ctr">
                      <a:noFill/>
                    </a:lnL>
                    <a:lnR w="0" cap="flat" cmpd="sng" algn="ctr">
                      <a:noFill/>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tcPr>
                </a:tc>
                <a:tc>
                  <a:txBody>
                    <a:bodyPr/>
                    <a:lstStyle/>
                    <a:p>
                      <a:pPr algn="ctr" indent="0" marL="0">
                        <a:buNone/>
                      </a:pPr>
                      <a:r>
                        <a:rPr lang="en-US" sz="1000" b="1" dirty="0">
                          <a:solidFill>
                            <a:srgbClr val="9A6B12"/>
                          </a:solidFill>
                          <a:latin typeface="Calibri" pitchFamily="34" charset="0"/>
                          <a:ea typeface="Calibri" pitchFamily="34" charset="-122"/>
                          <a:cs typeface="Calibri" pitchFamily="34" charset="-120"/>
                        </a:rPr>
                        <a:t>pilot</a:t>
                      </a:r>
                      <a:endParaRPr lang="en-US" sz="1000" dirty="0">
                        <a:latin typeface="Calibri" charset="0"/>
                        <a:ea typeface="Calibri" charset="0"/>
                        <a:cs typeface="Calibri" charset="0"/>
                      </a:endParaRPr>
                    </a:p>
                  </a:txBody>
                  <a:tcPr marL="76200" marR="76200" marT="25400" marB="25400" anchor="ctr">
                    <a:lnL w="0" cap="flat" cmpd="sng" algn="ctr">
                      <a:noFill/>
                    </a:lnL>
                    <a:lnR w="0" cap="flat" cmpd="sng" algn="ctr">
                      <a:noFill/>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tcPr>
                </a:tc>
                <a:tc>
                  <a:txBody>
                    <a:bodyPr/>
                    <a:lstStyle/>
                    <a:p>
                      <a:pPr algn="ctr" indent="0" marL="0">
                        <a:buNone/>
                      </a:pPr>
                      <a:r>
                        <a:rPr lang="en-US" sz="1000" dirty="0">
                          <a:solidFill>
                            <a:srgbClr val="222831"/>
                          </a:solidFill>
                          <a:latin typeface="Calibri" pitchFamily="34" charset="0"/>
                          <a:ea typeface="Calibri" pitchFamily="34" charset="-122"/>
                          <a:cs typeface="Calibri" pitchFamily="34" charset="-120"/>
                        </a:rPr>
                        <a:t>44</a:t>
                      </a:r>
                      <a:endParaRPr lang="en-US" sz="1000" dirty="0">
                        <a:latin typeface="Calibri" charset="0"/>
                        <a:ea typeface="Calibri" charset="0"/>
                        <a:cs typeface="Calibri" charset="0"/>
                      </a:endParaRPr>
                    </a:p>
                  </a:txBody>
                  <a:tcPr marL="76200" marR="76200" marT="25400" marB="25400" anchor="ctr">
                    <a:lnL w="0" cap="flat" cmpd="sng" algn="ctr">
                      <a:noFill/>
                    </a:lnL>
                    <a:lnR w="0" cap="flat" cmpd="sng" algn="ctr">
                      <a:noFill/>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tcPr>
                </a:tc>
                <a:tc>
                  <a:txBody>
                    <a:bodyPr/>
                    <a:lstStyle/>
                    <a:p>
                      <a:pPr algn="l" indent="0" marL="0">
                        <a:buNone/>
                      </a:pPr>
                      <a:r>
                        <a:rPr lang="en-US" sz="1000" dirty="0">
                          <a:solidFill>
                            <a:srgbClr val="222831"/>
                          </a:solidFill>
                          <a:latin typeface="Calibri" pitchFamily="34" charset="0"/>
                          <a:ea typeface="Calibri" pitchFamily="34" charset="-122"/>
                          <a:cs typeface="Calibri" pitchFamily="34" charset="-120"/>
                        </a:rPr>
                        <a:t>Measurements with intervals and an explicit MDE; deltas only when the interval excludes zero</a:t>
                      </a:r>
                      <a:endParaRPr lang="en-US" sz="1000" dirty="0">
                        <a:latin typeface="Calibri" charset="0"/>
                        <a:ea typeface="Calibri" charset="0"/>
                        <a:cs typeface="Calibri" charset="0"/>
                      </a:endParaRPr>
                    </a:p>
                  </a:txBody>
                  <a:tcPr marL="76200" marR="76200" marT="25400" marB="25400" anchor="ctr">
                    <a:lnL w="0" cap="flat" cmpd="sng" algn="ctr">
                      <a:noFill/>
                    </a:lnL>
                    <a:lnR w="0" cap="flat" cmpd="sng" algn="ctr">
                      <a:noFill/>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tcPr>
                </a:tc>
              </a:tr>
              <a:tr h="384048">
                <a:tc>
                  <a:txBody>
                    <a:bodyPr/>
                    <a:lstStyle/>
                    <a:p>
                      <a:pPr algn="l" indent="0" marL="0">
                        <a:buNone/>
                      </a:pPr>
                      <a:r>
                        <a:rPr lang="en-US" sz="1000" dirty="0">
                          <a:solidFill>
                            <a:srgbClr val="222831"/>
                          </a:solidFill>
                          <a:latin typeface="Courier New" pitchFamily="34" charset="0"/>
                          <a:ea typeface="Courier New" pitchFamily="34" charset="-122"/>
                          <a:cs typeface="Courier New" pitchFamily="34" charset="-120"/>
                        </a:rPr>
                        <a:t>grounding</a:t>
                      </a:r>
                      <a:endParaRPr lang="en-US" sz="1000" dirty="0">
                        <a:latin typeface="Courier New" charset="0"/>
                        <a:ea typeface="Courier New" charset="0"/>
                        <a:cs typeface="Courier New" charset="0"/>
                      </a:endParaRPr>
                    </a:p>
                  </a:txBody>
                  <a:tcPr marL="76200" marR="76200" marT="25400" marB="25400" anchor="ctr">
                    <a:lnL w="0" cap="flat" cmpd="sng" algn="ctr">
                      <a:noFill/>
                    </a:lnL>
                    <a:lnR w="0" cap="flat" cmpd="sng" algn="ctr">
                      <a:noFill/>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tcPr>
                </a:tc>
                <a:tc>
                  <a:txBody>
                    <a:bodyPr/>
                    <a:lstStyle/>
                    <a:p>
                      <a:pPr indent="0" marL="0">
                        <a:buNone/>
                      </a:pPr>
                      <a:r>
                        <a:rPr lang="en-US" sz="1000" dirty="0">
                          <a:solidFill>
                            <a:srgbClr val="222831"/>
                          </a:solidFill>
                          <a:latin typeface="Calibri" pitchFamily="34" charset="0"/>
                          <a:ea typeface="Calibri" pitchFamily="34" charset="-122"/>
                          <a:cs typeface="Calibri" pitchFamily="34" charset="-120"/>
                        </a:rPr>
                        <a:t>citation integrity</a:t>
                      </a:r>
                      <a:endParaRPr lang="en-US" sz="1000" dirty="0">
                        <a:latin typeface="Calibri" charset="0"/>
                        <a:ea typeface="Calibri" charset="0"/>
                        <a:cs typeface="Calibri" charset="0"/>
                      </a:endParaRPr>
                    </a:p>
                  </a:txBody>
                  <a:tcPr marL="76200" marR="76200" marT="25400" marB="25400" anchor="ctr">
                    <a:lnL w="0" cap="flat" cmpd="sng" algn="ctr">
                      <a:noFill/>
                    </a:lnL>
                    <a:lnR w="0" cap="flat" cmpd="sng" algn="ctr">
                      <a:noFill/>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tcPr>
                </a:tc>
                <a:tc>
                  <a:txBody>
                    <a:bodyPr/>
                    <a:lstStyle/>
                    <a:p>
                      <a:pPr algn="ctr" indent="0" marL="0">
                        <a:buNone/>
                      </a:pPr>
                      <a:r>
                        <a:rPr lang="en-US" sz="1000" b="1" dirty="0">
                          <a:solidFill>
                            <a:srgbClr val="9A6B12"/>
                          </a:solidFill>
                          <a:latin typeface="Calibri" pitchFamily="34" charset="0"/>
                          <a:ea typeface="Calibri" pitchFamily="34" charset="-122"/>
                          <a:cs typeface="Calibri" pitchFamily="34" charset="-120"/>
                        </a:rPr>
                        <a:t>pilot</a:t>
                      </a:r>
                      <a:endParaRPr lang="en-US" sz="1000" dirty="0">
                        <a:latin typeface="Calibri" charset="0"/>
                        <a:ea typeface="Calibri" charset="0"/>
                        <a:cs typeface="Calibri" charset="0"/>
                      </a:endParaRPr>
                    </a:p>
                  </a:txBody>
                  <a:tcPr marL="76200" marR="76200" marT="25400" marB="25400" anchor="ctr">
                    <a:lnL w="0" cap="flat" cmpd="sng" algn="ctr">
                      <a:noFill/>
                    </a:lnL>
                    <a:lnR w="0" cap="flat" cmpd="sng" algn="ctr">
                      <a:noFill/>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tcPr>
                </a:tc>
                <a:tc>
                  <a:txBody>
                    <a:bodyPr/>
                    <a:lstStyle/>
                    <a:p>
                      <a:pPr algn="ctr" indent="0" marL="0">
                        <a:buNone/>
                      </a:pPr>
                      <a:r>
                        <a:rPr lang="en-US" sz="1000" dirty="0">
                          <a:solidFill>
                            <a:srgbClr val="222831"/>
                          </a:solidFill>
                          <a:latin typeface="Calibri" pitchFamily="34" charset="0"/>
                          <a:ea typeface="Calibri" pitchFamily="34" charset="-122"/>
                          <a:cs typeface="Calibri" pitchFamily="34" charset="-120"/>
                        </a:rPr>
                        <a:t>40</a:t>
                      </a:r>
                      <a:endParaRPr lang="en-US" sz="1000" dirty="0">
                        <a:latin typeface="Calibri" charset="0"/>
                        <a:ea typeface="Calibri" charset="0"/>
                        <a:cs typeface="Calibri" charset="0"/>
                      </a:endParaRPr>
                    </a:p>
                  </a:txBody>
                  <a:tcPr marL="76200" marR="76200" marT="25400" marB="25400" anchor="ctr">
                    <a:lnL w="0" cap="flat" cmpd="sng" algn="ctr">
                      <a:noFill/>
                    </a:lnL>
                    <a:lnR w="0" cap="flat" cmpd="sng" algn="ctr">
                      <a:noFill/>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tcPr>
                </a:tc>
                <a:tc>
                  <a:txBody>
                    <a:bodyPr/>
                    <a:lstStyle/>
                    <a:p>
                      <a:pPr algn="l" indent="0" marL="0">
                        <a:buNone/>
                      </a:pPr>
                      <a:r>
                        <a:rPr lang="en-US" sz="1000" dirty="0">
                          <a:solidFill>
                            <a:srgbClr val="222831"/>
                          </a:solidFill>
                          <a:latin typeface="Calibri" pitchFamily="34" charset="0"/>
                          <a:ea typeface="Calibri" pitchFamily="34" charset="-122"/>
                          <a:cs typeface="Calibri" pitchFamily="34" charset="-120"/>
                        </a:rPr>
                        <a:t>Same contract; never a release gate</a:t>
                      </a:r>
                      <a:endParaRPr lang="en-US" sz="1000" dirty="0">
                        <a:latin typeface="Calibri" charset="0"/>
                        <a:ea typeface="Calibri" charset="0"/>
                        <a:cs typeface="Calibri" charset="0"/>
                      </a:endParaRPr>
                    </a:p>
                  </a:txBody>
                  <a:tcPr marL="76200" marR="76200" marT="25400" marB="25400" anchor="ctr">
                    <a:lnL w="0" cap="flat" cmpd="sng" algn="ctr">
                      <a:noFill/>
                    </a:lnL>
                    <a:lnR w="0" cap="flat" cmpd="sng" algn="ctr">
                      <a:noFill/>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tcPr>
                </a:tc>
              </a:tr>
              <a:tr h="384048">
                <a:tc>
                  <a:txBody>
                    <a:bodyPr/>
                    <a:lstStyle/>
                    <a:p>
                      <a:pPr algn="l" indent="0" marL="0">
                        <a:buNone/>
                      </a:pPr>
                      <a:r>
                        <a:rPr lang="en-US" sz="1000" dirty="0">
                          <a:solidFill>
                            <a:srgbClr val="222831"/>
                          </a:solidFill>
                          <a:latin typeface="Courier New" pitchFamily="34" charset="0"/>
                          <a:ea typeface="Courier New" pitchFamily="34" charset="-122"/>
                          <a:cs typeface="Courier New" pitchFamily="34" charset="-120"/>
                        </a:rPr>
                        <a:t>refusal</a:t>
                      </a:r>
                      <a:endParaRPr lang="en-US" sz="1000" dirty="0">
                        <a:latin typeface="Courier New" charset="0"/>
                        <a:ea typeface="Courier New" charset="0"/>
                        <a:cs typeface="Courier New" charset="0"/>
                      </a:endParaRPr>
                    </a:p>
                  </a:txBody>
                  <a:tcPr marL="76200" marR="76200" marT="25400" marB="25400" anchor="ctr">
                    <a:lnL w="0" cap="flat" cmpd="sng" algn="ctr">
                      <a:noFill/>
                    </a:lnL>
                    <a:lnR w="0" cap="flat" cmpd="sng" algn="ctr">
                      <a:noFill/>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tcPr>
                </a:tc>
                <a:tc>
                  <a:txBody>
                    <a:bodyPr/>
                    <a:lstStyle/>
                    <a:p>
                      <a:pPr indent="0" marL="0">
                        <a:buNone/>
                      </a:pPr>
                      <a:r>
                        <a:rPr lang="en-US" sz="1000" dirty="0">
                          <a:solidFill>
                            <a:srgbClr val="222831"/>
                          </a:solidFill>
                          <a:latin typeface="Calibri" pitchFamily="34" charset="0"/>
                          <a:ea typeface="Calibri" pitchFamily="34" charset="-122"/>
                          <a:cs typeface="Calibri" pitchFamily="34" charset="-120"/>
                        </a:rPr>
                        <a:t>refusal calibration</a:t>
                      </a:r>
                      <a:endParaRPr lang="en-US" sz="1000" dirty="0">
                        <a:latin typeface="Calibri" charset="0"/>
                        <a:ea typeface="Calibri" charset="0"/>
                        <a:cs typeface="Calibri" charset="0"/>
                      </a:endParaRPr>
                    </a:p>
                  </a:txBody>
                  <a:tcPr marL="76200" marR="76200" marT="25400" marB="25400" anchor="ctr">
                    <a:lnL w="0" cap="flat" cmpd="sng" algn="ctr">
                      <a:noFill/>
                    </a:lnL>
                    <a:lnR w="0" cap="flat" cmpd="sng" algn="ctr">
                      <a:noFill/>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tcPr>
                </a:tc>
                <a:tc>
                  <a:txBody>
                    <a:bodyPr/>
                    <a:lstStyle/>
                    <a:p>
                      <a:pPr algn="ctr" indent="0" marL="0">
                        <a:buNone/>
                      </a:pPr>
                      <a:r>
                        <a:rPr lang="en-US" sz="1000" b="1" dirty="0">
                          <a:solidFill>
                            <a:srgbClr val="9B2226"/>
                          </a:solidFill>
                          <a:latin typeface="Calibri" pitchFamily="34" charset="0"/>
                          <a:ea typeface="Calibri" pitchFamily="34" charset="-122"/>
                          <a:cs typeface="Calibri" pitchFamily="34" charset="-120"/>
                        </a:rPr>
                        <a:t>exploratory</a:t>
                      </a:r>
                      <a:endParaRPr lang="en-US" sz="1000" dirty="0">
                        <a:latin typeface="Calibri" charset="0"/>
                        <a:ea typeface="Calibri" charset="0"/>
                        <a:cs typeface="Calibri" charset="0"/>
                      </a:endParaRPr>
                    </a:p>
                  </a:txBody>
                  <a:tcPr marL="76200" marR="76200" marT="25400" marB="25400" anchor="ctr">
                    <a:lnL w="0" cap="flat" cmpd="sng" algn="ctr">
                      <a:noFill/>
                    </a:lnL>
                    <a:lnR w="0" cap="flat" cmpd="sng" algn="ctr">
                      <a:noFill/>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tcPr>
                </a:tc>
                <a:tc>
                  <a:txBody>
                    <a:bodyPr/>
                    <a:lstStyle/>
                    <a:p>
                      <a:pPr algn="ctr" indent="0" marL="0">
                        <a:buNone/>
                      </a:pPr>
                      <a:r>
                        <a:rPr lang="en-US" sz="1000" dirty="0">
                          <a:solidFill>
                            <a:srgbClr val="222831"/>
                          </a:solidFill>
                          <a:latin typeface="Calibri" pitchFamily="34" charset="0"/>
                          <a:ea typeface="Calibri" pitchFamily="34" charset="-122"/>
                          <a:cs typeface="Calibri" pitchFamily="34" charset="-120"/>
                        </a:rPr>
                        <a:t>36</a:t>
                      </a:r>
                      <a:endParaRPr lang="en-US" sz="1000" dirty="0">
                        <a:latin typeface="Calibri" charset="0"/>
                        <a:ea typeface="Calibri" charset="0"/>
                        <a:cs typeface="Calibri" charset="0"/>
                      </a:endParaRPr>
                    </a:p>
                  </a:txBody>
                  <a:tcPr marL="76200" marR="76200" marT="25400" marB="25400" anchor="ctr">
                    <a:lnL w="0" cap="flat" cmpd="sng" algn="ctr">
                      <a:noFill/>
                    </a:lnL>
                    <a:lnR w="0" cap="flat" cmpd="sng" algn="ctr">
                      <a:noFill/>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tcPr>
                </a:tc>
                <a:tc>
                  <a:txBody>
                    <a:bodyPr/>
                    <a:lstStyle/>
                    <a:p>
                      <a:pPr algn="l" indent="0" marL="0">
                        <a:buNone/>
                      </a:pPr>
                      <a:r>
                        <a:rPr lang="en-US" sz="1000" dirty="0">
                          <a:solidFill>
                            <a:srgbClr val="222831"/>
                          </a:solidFill>
                          <a:latin typeface="Calibri" pitchFamily="34" charset="0"/>
                          <a:ea typeface="Calibri" pitchFamily="34" charset="-122"/>
                          <a:cs typeface="Calibri" pitchFamily="34" charset="-120"/>
                        </a:rPr>
                        <a:t>Descriptive statistics and failure examples only — mechanically barred from ranking claims</a:t>
                      </a:r>
                      <a:endParaRPr lang="en-US" sz="1000" dirty="0">
                        <a:latin typeface="Calibri" charset="0"/>
                        <a:ea typeface="Calibri" charset="0"/>
                        <a:cs typeface="Calibri" charset="0"/>
                      </a:endParaRPr>
                    </a:p>
                  </a:txBody>
                  <a:tcPr marL="76200" marR="76200" marT="25400" marB="25400" anchor="ctr">
                    <a:lnL w="0" cap="flat" cmpd="sng" algn="ctr">
                      <a:noFill/>
                    </a:lnL>
                    <a:lnR w="0" cap="flat" cmpd="sng" algn="ctr">
                      <a:noFill/>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tcPr>
                </a:tc>
              </a:tr>
            </a:tbl>
          </a:graphicData>
        </a:graphic>
      </p:graphicFrame>
      <p:sp>
        <p:nvSpPr>
          <p:cNvPr id="23" name="Shape 20"/>
          <p:cNvSpPr/>
          <p:nvPr/>
        </p:nvSpPr>
        <p:spPr>
          <a:xfrm>
            <a:off x="548640" y="5193792"/>
            <a:ext cx="11094415" cy="786384"/>
          </a:xfrm>
          <a:prstGeom prst="roundRect">
            <a:avLst>
              <a:gd name="adj" fmla="val 6977"/>
            </a:avLst>
          </a:prstGeom>
          <a:solidFill>
            <a:srgbClr val="F3F5F8"/>
          </a:solidFill>
          <a:ln w="9525">
            <a:solidFill>
              <a:srgbClr val="DCE1E8"/>
            </a:solidFill>
            <a:prstDash val="solid"/>
          </a:ln>
        </p:spPr>
      </p:sp>
      <p:sp>
        <p:nvSpPr>
          <p:cNvPr id="24" name="Text 21"/>
          <p:cNvSpPr/>
          <p:nvPr/>
        </p:nvSpPr>
        <p:spPr>
          <a:xfrm>
            <a:off x="804672" y="5358384"/>
            <a:ext cx="10582351" cy="493776"/>
          </a:xfrm>
          <a:prstGeom prst="rect">
            <a:avLst/>
          </a:prstGeom>
          <a:noFill/>
          <a:ln/>
        </p:spPr>
        <p:txBody>
          <a:bodyPr wrap="square" lIns="0" tIns="0" rIns="0" bIns="0" rtlCol="0" anchor="t"/>
          <a:lstStyle/>
          <a:p>
            <a:pPr indent="0" marL="0">
              <a:lnSpc>
                <a:spcPts val="1500"/>
              </a:lnSpc>
              <a:buNone/>
            </a:pPr>
            <a:r>
              <a:rPr lang="en-US" sz="1050" dirty="0">
                <a:solidFill>
                  <a:srgbClr val="222831"/>
                </a:solidFill>
                <a:latin typeface="Calibri" pitchFamily="34" charset="0"/>
                <a:ea typeface="Calibri" pitchFamily="34" charset="-122"/>
                <a:cs typeface="Calibri" pitchFamily="34" charset="-120"/>
              </a:rPr>
              <a:t>The depth tier is enforced in code, not in review: an exploratory track cannot emit a ranking claim however good its numbers look, because its sampling design was never powered for one. A track with no entry in the effects table warns loudly and stamps effects_table_missing, so an absent penalty can never be mistaken for a detection blind spot.</a:t>
            </a:r>
            <a:endParaRPr lang="en-US" sz="1050" dirty="0"/>
          </a:p>
        </p:txBody>
      </p:sp>
      <p:sp>
        <p:nvSpPr>
          <p:cNvPr id="25" name="Text 22"/>
          <p:cNvSpPr/>
          <p:nvPr/>
        </p:nvSpPr>
        <p:spPr>
          <a:xfrm>
            <a:off x="548640" y="6336792"/>
            <a:ext cx="9966960" cy="219456"/>
          </a:xfrm>
          <a:prstGeom prst="rect">
            <a:avLst/>
          </a:prstGeom>
          <a:noFill/>
          <a:ln/>
        </p:spPr>
        <p:txBody>
          <a:bodyPr wrap="square" lIns="0" tIns="0" rIns="0" bIns="0" rtlCol="0" anchor="ctr"/>
          <a:lstStyle/>
          <a:p>
            <a:pPr algn="l" indent="0" marL="0">
              <a:buNone/>
            </a:pPr>
            <a:r>
              <a:rPr lang="en-US" sz="800" dirty="0">
                <a:solidFill>
                  <a:srgbClr val="6E7889"/>
                </a:solidFill>
                <a:latin typeface="Calibri" pitchFamily="34" charset="0"/>
                <a:ea typeface="Calibri" pitchFamily="34" charset="-122"/>
                <a:cs typeface="Calibri" pitchFamily="34" charset="-120"/>
              </a:rPr>
              <a:t>results/portfolio.json  md5 299bd4f19e03caa2cd7e33681340c294  ·  src/rubricon/pipeline.py, tracks/__init__.py  ·  registration verified in results/sensitivity.json → track_registration</a:t>
            </a:r>
            <a:endParaRPr lang="en-US" sz="800" dirty="0"/>
          </a:p>
        </p:txBody>
      </p:sp>
      <p:sp>
        <p:nvSpPr>
          <p:cNvPr id="26" name="Text 23"/>
          <p:cNvSpPr/>
          <p:nvPr/>
        </p:nvSpPr>
        <p:spPr>
          <a:xfrm>
            <a:off x="10927080" y="6336792"/>
            <a:ext cx="713232" cy="219456"/>
          </a:xfrm>
          <a:prstGeom prst="rect">
            <a:avLst/>
          </a:prstGeom>
          <a:noFill/>
          <a:ln/>
        </p:spPr>
        <p:txBody>
          <a:bodyPr wrap="square" lIns="0" tIns="0" rIns="0" bIns="0" rtlCol="0" anchor="ctr"/>
          <a:lstStyle/>
          <a:p>
            <a:pPr algn="r" indent="0" marL="0">
              <a:buNone/>
            </a:pPr>
            <a:r>
              <a:rPr lang="en-US" sz="800" dirty="0">
                <a:solidFill>
                  <a:srgbClr val="6E7889"/>
                </a:solidFill>
                <a:latin typeface="Calibri" pitchFamily="34" charset="0"/>
                <a:ea typeface="Calibri" pitchFamily="34" charset="-122"/>
                <a:cs typeface="Calibri" pitchFamily="34" charset="-120"/>
              </a:rPr>
              <a:t>5</a:t>
            </a:r>
            <a:endParaRPr lang="en-US" sz="8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548640" y="292608"/>
            <a:ext cx="11094415" cy="201168"/>
          </a:xfrm>
          <a:prstGeom prst="rect">
            <a:avLst/>
          </a:prstGeom>
          <a:noFill/>
          <a:ln/>
        </p:spPr>
        <p:txBody>
          <a:bodyPr wrap="square" lIns="0" tIns="0" rIns="0" bIns="0" rtlCol="0" anchor="ctr"/>
          <a:lstStyle/>
          <a:p>
            <a:pPr indent="0" marL="0">
              <a:buNone/>
            </a:pPr>
            <a:r>
              <a:rPr lang="en-US" sz="950" b="1" spc="160" kern="0" dirty="0">
                <a:solidFill>
                  <a:srgbClr val="6E7889"/>
                </a:solidFill>
                <a:latin typeface="Calibri" pitchFamily="34" charset="0"/>
                <a:ea typeface="Calibri" pitchFamily="34" charset="-122"/>
                <a:cs typeface="Calibri" pitchFamily="34" charset="-120"/>
              </a:rPr>
              <a:t>06  ·  RUBRIC DESIGN</a:t>
            </a:r>
            <a:endParaRPr lang="en-US" sz="950" dirty="0"/>
          </a:p>
        </p:txBody>
      </p:sp>
      <p:sp>
        <p:nvSpPr>
          <p:cNvPr id="3" name="Text 1"/>
          <p:cNvSpPr/>
          <p:nvPr/>
        </p:nvSpPr>
        <p:spPr>
          <a:xfrm>
            <a:off x="548640" y="530352"/>
            <a:ext cx="11094415" cy="786384"/>
          </a:xfrm>
          <a:prstGeom prst="rect">
            <a:avLst/>
          </a:prstGeom>
          <a:noFill/>
          <a:ln/>
        </p:spPr>
        <p:txBody>
          <a:bodyPr wrap="square" lIns="0" tIns="0" rIns="0" bIns="0" rtlCol="0" anchor="t"/>
          <a:lstStyle/>
          <a:p>
            <a:pPr indent="0" marL="0">
              <a:lnSpc>
                <a:spcPts val="3200"/>
              </a:lnSpc>
              <a:buNone/>
            </a:pPr>
            <a:r>
              <a:rPr lang="en-US" sz="2600" b="1" dirty="0">
                <a:solidFill>
                  <a:srgbClr val="1E3A5F"/>
                </a:solidFill>
                <a:latin typeface="Cambria" pitchFamily="34" charset="0"/>
                <a:ea typeface="Cambria" pitchFamily="34" charset="-122"/>
                <a:cs typeface="Cambria" pitchFamily="34" charset="-120"/>
              </a:rPr>
              <a:t>A rubric is a wish until every level is anchored and the version is content-addressed</a:t>
            </a:r>
            <a:endParaRPr lang="en-US" sz="2600" dirty="0"/>
          </a:p>
        </p:txBody>
      </p:sp>
      <p:sp>
        <p:nvSpPr>
          <p:cNvPr id="4" name="Shape 2"/>
          <p:cNvSpPr/>
          <p:nvPr/>
        </p:nvSpPr>
        <p:spPr>
          <a:xfrm>
            <a:off x="548640" y="1536192"/>
            <a:ext cx="292608" cy="292608"/>
          </a:xfrm>
          <a:prstGeom prst="roundRect">
            <a:avLst>
              <a:gd name="adj" fmla="val 18750"/>
            </a:avLst>
          </a:prstGeom>
          <a:solidFill>
            <a:srgbClr val="1E3A5F"/>
          </a:solidFill>
          <a:ln/>
        </p:spPr>
      </p:sp>
      <p:sp>
        <p:nvSpPr>
          <p:cNvPr id="5" name="Text 3"/>
          <p:cNvSpPr/>
          <p:nvPr/>
        </p:nvSpPr>
        <p:spPr>
          <a:xfrm>
            <a:off x="548640" y="1536192"/>
            <a:ext cx="292608" cy="292608"/>
          </a:xfrm>
          <a:prstGeom prst="rect">
            <a:avLst/>
          </a:prstGeom>
          <a:noFill/>
          <a:ln/>
        </p:spPr>
        <p:txBody>
          <a:bodyPr wrap="square" lIns="0" tIns="0" rIns="0" bIns="0" rtlCol="0" anchor="ctr"/>
          <a:lstStyle/>
          <a:p>
            <a:pPr algn="ctr" indent="0" marL="0">
              <a:buNone/>
            </a:pPr>
            <a:r>
              <a:rPr lang="en-US" sz="1050" b="1" dirty="0">
                <a:solidFill>
                  <a:srgbClr val="FFFFFF"/>
                </a:solidFill>
                <a:latin typeface="Calibri" pitchFamily="34" charset="0"/>
                <a:ea typeface="Calibri" pitchFamily="34" charset="-122"/>
                <a:cs typeface="Calibri" pitchFamily="34" charset="-120"/>
              </a:rPr>
              <a:t>1</a:t>
            </a:r>
            <a:endParaRPr lang="en-US" sz="1050" dirty="0"/>
          </a:p>
        </p:txBody>
      </p:sp>
      <p:sp>
        <p:nvSpPr>
          <p:cNvPr id="6" name="Text 4"/>
          <p:cNvSpPr/>
          <p:nvPr/>
        </p:nvSpPr>
        <p:spPr>
          <a:xfrm>
            <a:off x="1024128" y="1517904"/>
            <a:ext cx="4846320" cy="292608"/>
          </a:xfrm>
          <a:prstGeom prst="rect">
            <a:avLst/>
          </a:prstGeom>
          <a:noFill/>
          <a:ln/>
        </p:spPr>
        <p:txBody>
          <a:bodyPr wrap="square" lIns="0" tIns="0" rIns="0" bIns="0" rtlCol="0" anchor="ctr"/>
          <a:lstStyle/>
          <a:p>
            <a:pPr indent="0" marL="0">
              <a:buNone/>
            </a:pPr>
            <a:r>
              <a:rPr lang="en-US" sz="1250" b="1" dirty="0">
                <a:solidFill>
                  <a:srgbClr val="1E3A5F"/>
                </a:solidFill>
                <a:latin typeface="Calibri" pitchFamily="34" charset="0"/>
                <a:ea typeface="Calibri" pitchFamily="34" charset="-122"/>
                <a:cs typeface="Calibri" pitchFamily="34" charset="-120"/>
              </a:rPr>
              <a:t>Versioned and content-addressed</a:t>
            </a:r>
            <a:endParaRPr lang="en-US" sz="1250" dirty="0"/>
          </a:p>
        </p:txBody>
      </p:sp>
      <p:sp>
        <p:nvSpPr>
          <p:cNvPr id="7" name="Text 5"/>
          <p:cNvSpPr/>
          <p:nvPr/>
        </p:nvSpPr>
        <p:spPr>
          <a:xfrm>
            <a:off x="1024128" y="1865376"/>
            <a:ext cx="4846320" cy="960120"/>
          </a:xfrm>
          <a:prstGeom prst="rect">
            <a:avLst/>
          </a:prstGeom>
          <a:noFill/>
          <a:ln/>
        </p:spPr>
        <p:txBody>
          <a:bodyPr wrap="square" lIns="0" tIns="0" rIns="0" bIns="0" rtlCol="0" anchor="t"/>
          <a:lstStyle/>
          <a:p>
            <a:pPr indent="0" marL="0">
              <a:lnSpc>
                <a:spcPts val="1400"/>
              </a:lnSpc>
              <a:buNone/>
            </a:pPr>
            <a:r>
              <a:rPr lang="en-US" sz="1050" dirty="0">
                <a:solidFill>
                  <a:srgbClr val="222831"/>
                </a:solidFill>
                <a:latin typeface="Calibri" pitchFamily="34" charset="0"/>
                <a:ea typeface="Calibri" pitchFamily="34" charset="-122"/>
                <a:cs typeface="Calibri" pitchFamily="34" charset="-120"/>
              </a:rPr>
              <a:t>agentic@r3+717ec53fdf65 — the hash is derived from the dimensions and their anchors, so changing one anchor changes the version. Every annotation record carries the version it was made under, which is what makes an agreement number attributable to an instrument.</a:t>
            </a:r>
            <a:endParaRPr lang="en-US" sz="1050" dirty="0"/>
          </a:p>
        </p:txBody>
      </p:sp>
      <p:sp>
        <p:nvSpPr>
          <p:cNvPr id="8" name="Shape 6"/>
          <p:cNvSpPr/>
          <p:nvPr/>
        </p:nvSpPr>
        <p:spPr>
          <a:xfrm>
            <a:off x="548640" y="3017520"/>
            <a:ext cx="292608" cy="292608"/>
          </a:xfrm>
          <a:prstGeom prst="roundRect">
            <a:avLst>
              <a:gd name="adj" fmla="val 18750"/>
            </a:avLst>
          </a:prstGeom>
          <a:solidFill>
            <a:srgbClr val="1E3A5F"/>
          </a:solidFill>
          <a:ln/>
        </p:spPr>
      </p:sp>
      <p:sp>
        <p:nvSpPr>
          <p:cNvPr id="9" name="Text 7"/>
          <p:cNvSpPr/>
          <p:nvPr/>
        </p:nvSpPr>
        <p:spPr>
          <a:xfrm>
            <a:off x="548640" y="3017520"/>
            <a:ext cx="292608" cy="292608"/>
          </a:xfrm>
          <a:prstGeom prst="rect">
            <a:avLst/>
          </a:prstGeom>
          <a:noFill/>
          <a:ln/>
        </p:spPr>
        <p:txBody>
          <a:bodyPr wrap="square" lIns="0" tIns="0" rIns="0" bIns="0" rtlCol="0" anchor="ctr"/>
          <a:lstStyle/>
          <a:p>
            <a:pPr algn="ctr" indent="0" marL="0">
              <a:buNone/>
            </a:pPr>
            <a:r>
              <a:rPr lang="en-US" sz="1050" b="1" dirty="0">
                <a:solidFill>
                  <a:srgbClr val="FFFFFF"/>
                </a:solidFill>
                <a:latin typeface="Calibri" pitchFamily="34" charset="0"/>
                <a:ea typeface="Calibri" pitchFamily="34" charset="-122"/>
                <a:cs typeface="Calibri" pitchFamily="34" charset="-120"/>
              </a:rPr>
              <a:t>2</a:t>
            </a:r>
            <a:endParaRPr lang="en-US" sz="1050" dirty="0"/>
          </a:p>
        </p:txBody>
      </p:sp>
      <p:sp>
        <p:nvSpPr>
          <p:cNvPr id="10" name="Text 8"/>
          <p:cNvSpPr/>
          <p:nvPr/>
        </p:nvSpPr>
        <p:spPr>
          <a:xfrm>
            <a:off x="1024128" y="2999232"/>
            <a:ext cx="4846320" cy="292608"/>
          </a:xfrm>
          <a:prstGeom prst="rect">
            <a:avLst/>
          </a:prstGeom>
          <a:noFill/>
          <a:ln/>
        </p:spPr>
        <p:txBody>
          <a:bodyPr wrap="square" lIns="0" tIns="0" rIns="0" bIns="0" rtlCol="0" anchor="ctr"/>
          <a:lstStyle/>
          <a:p>
            <a:pPr indent="0" marL="0">
              <a:buNone/>
            </a:pPr>
            <a:r>
              <a:rPr lang="en-US" sz="1250" b="1" dirty="0">
                <a:solidFill>
                  <a:srgbClr val="1E3A5F"/>
                </a:solidFill>
                <a:latin typeface="Calibri" pitchFamily="34" charset="0"/>
                <a:ea typeface="Calibri" pitchFamily="34" charset="-122"/>
                <a:cs typeface="Calibri" pitchFamily="34" charset="-120"/>
              </a:rPr>
              <a:t>Scales are declared, not inferred</a:t>
            </a:r>
            <a:endParaRPr lang="en-US" sz="1250" dirty="0"/>
          </a:p>
        </p:txBody>
      </p:sp>
      <p:sp>
        <p:nvSpPr>
          <p:cNvPr id="11" name="Text 9"/>
          <p:cNvSpPr/>
          <p:nvPr/>
        </p:nvSpPr>
        <p:spPr>
          <a:xfrm>
            <a:off x="1024128" y="3346704"/>
            <a:ext cx="4846320" cy="960120"/>
          </a:xfrm>
          <a:prstGeom prst="rect">
            <a:avLst/>
          </a:prstGeom>
          <a:noFill/>
          <a:ln/>
        </p:spPr>
        <p:txBody>
          <a:bodyPr wrap="square" lIns="0" tIns="0" rIns="0" bIns="0" rtlCol="0" anchor="t"/>
          <a:lstStyle/>
          <a:p>
            <a:pPr indent="0" marL="0">
              <a:lnSpc>
                <a:spcPts val="1400"/>
              </a:lnSpc>
              <a:buNone/>
            </a:pPr>
            <a:r>
              <a:rPr lang="en-US" sz="1050" dirty="0">
                <a:solidFill>
                  <a:srgbClr val="222831"/>
                </a:solidFill>
                <a:latin typeface="Calibri" pitchFamily="34" charset="0"/>
                <a:ea typeface="Calibri" pitchFamily="34" charset="-122"/>
                <a:cs typeface="Calibri" pitchFamily="34" charset="-120"/>
              </a:rPr>
              <a:t>21 dimensions across four tracks, each declaring ordinal, nominal or binary. response_stance is nominal; answer_correctness is binary. The agreement metric follows the declared scale rather than a default.</a:t>
            </a:r>
            <a:endParaRPr lang="en-US" sz="1050" dirty="0"/>
          </a:p>
        </p:txBody>
      </p:sp>
      <p:sp>
        <p:nvSpPr>
          <p:cNvPr id="12" name="Shape 10"/>
          <p:cNvSpPr/>
          <p:nvPr/>
        </p:nvSpPr>
        <p:spPr>
          <a:xfrm>
            <a:off x="548640" y="4498848"/>
            <a:ext cx="292608" cy="292608"/>
          </a:xfrm>
          <a:prstGeom prst="roundRect">
            <a:avLst>
              <a:gd name="adj" fmla="val 18750"/>
            </a:avLst>
          </a:prstGeom>
          <a:solidFill>
            <a:srgbClr val="1E3A5F"/>
          </a:solidFill>
          <a:ln/>
        </p:spPr>
      </p:sp>
      <p:sp>
        <p:nvSpPr>
          <p:cNvPr id="13" name="Text 11"/>
          <p:cNvSpPr/>
          <p:nvPr/>
        </p:nvSpPr>
        <p:spPr>
          <a:xfrm>
            <a:off x="548640" y="4498848"/>
            <a:ext cx="292608" cy="292608"/>
          </a:xfrm>
          <a:prstGeom prst="rect">
            <a:avLst/>
          </a:prstGeom>
          <a:noFill/>
          <a:ln/>
        </p:spPr>
        <p:txBody>
          <a:bodyPr wrap="square" lIns="0" tIns="0" rIns="0" bIns="0" rtlCol="0" anchor="ctr"/>
          <a:lstStyle/>
          <a:p>
            <a:pPr algn="ctr" indent="0" marL="0">
              <a:buNone/>
            </a:pPr>
            <a:r>
              <a:rPr lang="en-US" sz="1050" b="1" dirty="0">
                <a:solidFill>
                  <a:srgbClr val="FFFFFF"/>
                </a:solidFill>
                <a:latin typeface="Calibri" pitchFamily="34" charset="0"/>
                <a:ea typeface="Calibri" pitchFamily="34" charset="-122"/>
                <a:cs typeface="Calibri" pitchFamily="34" charset="-120"/>
              </a:rPr>
              <a:t>3</a:t>
            </a:r>
            <a:endParaRPr lang="en-US" sz="1050" dirty="0"/>
          </a:p>
        </p:txBody>
      </p:sp>
      <p:sp>
        <p:nvSpPr>
          <p:cNvPr id="14" name="Text 12"/>
          <p:cNvSpPr/>
          <p:nvPr/>
        </p:nvSpPr>
        <p:spPr>
          <a:xfrm>
            <a:off x="1024128" y="4480560"/>
            <a:ext cx="4846320" cy="292608"/>
          </a:xfrm>
          <a:prstGeom prst="rect">
            <a:avLst/>
          </a:prstGeom>
          <a:noFill/>
          <a:ln/>
        </p:spPr>
        <p:txBody>
          <a:bodyPr wrap="square" lIns="0" tIns="0" rIns="0" bIns="0" rtlCol="0" anchor="ctr"/>
          <a:lstStyle/>
          <a:p>
            <a:pPr indent="0" marL="0">
              <a:buNone/>
            </a:pPr>
            <a:r>
              <a:rPr lang="en-US" sz="1250" b="1" dirty="0">
                <a:solidFill>
                  <a:srgbClr val="1E3A5F"/>
                </a:solidFill>
                <a:latin typeface="Calibri" pitchFamily="34" charset="0"/>
                <a:ea typeface="Calibri" pitchFamily="34" charset="-122"/>
                <a:cs typeface="Calibri" pitchFamily="34" charset="-120"/>
              </a:rPr>
              <a:t>Critical dimensions gate the composite</a:t>
            </a:r>
            <a:endParaRPr lang="en-US" sz="1250" dirty="0"/>
          </a:p>
        </p:txBody>
      </p:sp>
      <p:sp>
        <p:nvSpPr>
          <p:cNvPr id="15" name="Text 13"/>
          <p:cNvSpPr/>
          <p:nvPr/>
        </p:nvSpPr>
        <p:spPr>
          <a:xfrm>
            <a:off x="1024128" y="4828032"/>
            <a:ext cx="4846320" cy="960120"/>
          </a:xfrm>
          <a:prstGeom prst="rect">
            <a:avLst/>
          </a:prstGeom>
          <a:noFill/>
          <a:ln/>
        </p:spPr>
        <p:txBody>
          <a:bodyPr wrap="square" lIns="0" tIns="0" rIns="0" bIns="0" rtlCol="0" anchor="t"/>
          <a:lstStyle/>
          <a:p>
            <a:pPr indent="0" marL="0">
              <a:lnSpc>
                <a:spcPts val="1400"/>
              </a:lnSpc>
              <a:buNone/>
            </a:pPr>
            <a:r>
              <a:rPr lang="en-US" sz="1050" dirty="0">
                <a:solidFill>
                  <a:srgbClr val="222831"/>
                </a:solidFill>
                <a:latin typeface="Calibri" pitchFamily="34" charset="0"/>
                <a:ea typeface="Calibri" pitchFamily="34" charset="-122"/>
                <a:cs typeface="Calibri" pitchFamily="34" charset="-120"/>
              </a:rPr>
              <a:t>A dimension can be declared critical with a threshold — agentic.argument_fidelity is critical at 0. Falling below it zeroes the item regardless of how the other five scored: the encoding of “this failure is not compensable.”</a:t>
            </a:r>
            <a:endParaRPr lang="en-US" sz="1050" dirty="0"/>
          </a:p>
        </p:txBody>
      </p:sp>
      <p:sp>
        <p:nvSpPr>
          <p:cNvPr id="16" name="Shape 14"/>
          <p:cNvSpPr/>
          <p:nvPr/>
        </p:nvSpPr>
        <p:spPr>
          <a:xfrm>
            <a:off x="6248095" y="1517904"/>
            <a:ext cx="5394960" cy="4187952"/>
          </a:xfrm>
          <a:prstGeom prst="roundRect">
            <a:avLst>
              <a:gd name="adj" fmla="val 1310"/>
            </a:avLst>
          </a:prstGeom>
          <a:solidFill>
            <a:srgbClr val="F3F5F8"/>
          </a:solidFill>
          <a:ln w="9525">
            <a:solidFill>
              <a:srgbClr val="DCE1E8"/>
            </a:solidFill>
            <a:prstDash val="solid"/>
          </a:ln>
        </p:spPr>
      </p:sp>
      <p:sp>
        <p:nvSpPr>
          <p:cNvPr id="17" name="Text 15"/>
          <p:cNvSpPr/>
          <p:nvPr/>
        </p:nvSpPr>
        <p:spPr>
          <a:xfrm>
            <a:off x="6540703" y="1773936"/>
            <a:ext cx="4809744" cy="219456"/>
          </a:xfrm>
          <a:prstGeom prst="rect">
            <a:avLst/>
          </a:prstGeom>
          <a:noFill/>
          <a:ln/>
        </p:spPr>
        <p:txBody>
          <a:bodyPr wrap="square" lIns="0" tIns="0" rIns="0" bIns="0" rtlCol="0" anchor="ctr"/>
          <a:lstStyle/>
          <a:p>
            <a:pPr indent="0" marL="0">
              <a:buNone/>
            </a:pPr>
            <a:r>
              <a:rPr lang="en-US" sz="1050" b="1" spc="60" kern="0" dirty="0">
                <a:solidFill>
                  <a:srgbClr val="1E3A5F"/>
                </a:solidFill>
                <a:latin typeface="Calibri" pitchFamily="34" charset="0"/>
                <a:ea typeface="Calibri" pitchFamily="34" charset="-122"/>
                <a:cs typeface="Calibri" pitchFamily="34" charset="-120"/>
              </a:rPr>
              <a:t>WHY PARTIAL ANCHORING IS WORSE THAN NONE</a:t>
            </a:r>
            <a:endParaRPr lang="en-US" sz="1050" dirty="0"/>
          </a:p>
        </p:txBody>
      </p:sp>
      <p:sp>
        <p:nvSpPr>
          <p:cNvPr id="18" name="Text 16"/>
          <p:cNvSpPr/>
          <p:nvPr/>
        </p:nvSpPr>
        <p:spPr>
          <a:xfrm>
            <a:off x="6540703" y="2139696"/>
            <a:ext cx="4809744" cy="2743200"/>
          </a:xfrm>
          <a:prstGeom prst="rect">
            <a:avLst/>
          </a:prstGeom>
          <a:noFill/>
          <a:ln/>
        </p:spPr>
        <p:txBody>
          <a:bodyPr wrap="square" lIns="0" tIns="0" rIns="0" bIns="0" rtlCol="0" anchor="t"/>
          <a:lstStyle/>
          <a:p>
            <a:pPr indent="0" marL="0">
              <a:lnSpc>
                <a:spcPts val="1500"/>
              </a:lnSpc>
              <a:spcAft>
                <a:spcPts val="900"/>
              </a:spcAft>
              <a:buNone/>
            </a:pPr>
            <a:r>
              <a:rPr lang="en-US" sz="1100" dirty="0">
                <a:solidFill>
                  <a:srgbClr val="222831"/>
                </a:solidFill>
                <a:latin typeface="Calibri" pitchFamily="34" charset="0"/>
                <a:ea typeface="Calibri" pitchFamily="34" charset="-122"/>
                <a:cs typeface="Calibri" pitchFamily="34" charset="-120"/>
              </a:rPr>
              <a:t>An unanchored “rate helpfulness 1–5” produces annotator-specific scales. That looks like disagreement, but it is unit mismatch.</a:t>
            </a:r>
            <a:endParaRPr lang="en-US" sz="1100" dirty="0"/>
          </a:p>
          <a:p>
            <a:pPr indent="0" marL="0">
              <a:lnSpc>
                <a:spcPts val="1500"/>
              </a:lnSpc>
              <a:spcAft>
                <a:spcPts val="900"/>
              </a:spcAft>
              <a:buNone/>
            </a:pPr>
            <a:r>
              <a:rPr lang="en-US" sz="1100" dirty="0">
                <a:solidFill>
                  <a:srgbClr val="222831"/>
                </a:solidFill>
                <a:latin typeface="Calibri" pitchFamily="34" charset="0"/>
                <a:ea typeface="Calibri" pitchFamily="34" charset="-122"/>
                <a:cs typeface="Calibri" pitchFamily="34" charset="-120"/>
              </a:rPr>
              <a:t>Anchoring three of five levels is worse than anchoring none: annotators over-apply the levels that carry a worked example and avoid the ones that do not. The marginal distribution has moved and nothing in the output records it.</a:t>
            </a:r>
            <a:endParaRPr lang="en-US" sz="1100" dirty="0"/>
          </a:p>
          <a:p>
            <a:pPr indent="0" marL="0">
              <a:lnSpc>
                <a:spcPts val="1500"/>
              </a:lnSpc>
              <a:spcAft>
                <a:spcPts val="900"/>
              </a:spcAft>
              <a:buNone/>
            </a:pPr>
            <a:r>
              <a:rPr lang="en-US" sz="1100" dirty="0">
                <a:solidFill>
                  <a:srgbClr val="222831"/>
                </a:solidFill>
                <a:latin typeface="Calibri" pitchFamily="34" charset="0"/>
                <a:ea typeface="Calibri" pitchFamily="34" charset="-122"/>
                <a:cs typeface="Calibri" pitchFamily="34" charset="-120"/>
              </a:rPr>
              <a:t>So every level carries a description, a worked example and a counter-example naming the adjacent level it is most often confused with. r3 added a counter-example to every anchor after pilot annotators conflated “forgot” with “failed to recover”.</a:t>
            </a:r>
            <a:endParaRPr lang="en-US" sz="1100" dirty="0"/>
          </a:p>
        </p:txBody>
      </p:sp>
      <p:sp>
        <p:nvSpPr>
          <p:cNvPr id="19" name="Shape 17"/>
          <p:cNvSpPr/>
          <p:nvPr/>
        </p:nvSpPr>
        <p:spPr>
          <a:xfrm>
            <a:off x="6540703" y="4992624"/>
            <a:ext cx="1298448" cy="256032"/>
          </a:xfrm>
          <a:prstGeom prst="roundRect">
            <a:avLst>
              <a:gd name="adj" fmla="val 17857"/>
            </a:avLst>
          </a:prstGeom>
          <a:solidFill>
            <a:srgbClr val="9B2226"/>
          </a:solidFill>
          <a:ln/>
        </p:spPr>
      </p:sp>
      <p:sp>
        <p:nvSpPr>
          <p:cNvPr id="20" name="Text 18"/>
          <p:cNvSpPr/>
          <p:nvPr/>
        </p:nvSpPr>
        <p:spPr>
          <a:xfrm>
            <a:off x="6540703" y="4992624"/>
            <a:ext cx="1298448" cy="256032"/>
          </a:xfrm>
          <a:prstGeom prst="rect">
            <a:avLst/>
          </a:prstGeom>
          <a:noFill/>
          <a:ln/>
        </p:spPr>
        <p:txBody>
          <a:bodyPr wrap="square" lIns="0" tIns="0" rIns="0" bIns="0" rtlCol="0" anchor="ctr"/>
          <a:lstStyle/>
          <a:p>
            <a:pPr algn="ctr" indent="0" marL="0">
              <a:buNone/>
            </a:pPr>
            <a:r>
              <a:rPr lang="en-US" sz="900" b="1" spc="80" kern="0" dirty="0">
                <a:solidFill>
                  <a:srgbClr val="FFFFFF"/>
                </a:solidFill>
                <a:latin typeface="Calibri" pitchFamily="34" charset="0"/>
                <a:ea typeface="Calibri" pitchFamily="34" charset="-122"/>
                <a:cs typeface="Calibri" pitchFamily="34" charset="-120"/>
              </a:rPr>
              <a:t>SCHEMA ERROR</a:t>
            </a:r>
            <a:endParaRPr lang="en-US" sz="900" dirty="0"/>
          </a:p>
        </p:txBody>
      </p:sp>
      <p:sp>
        <p:nvSpPr>
          <p:cNvPr id="21" name="Text 19"/>
          <p:cNvSpPr/>
          <p:nvPr/>
        </p:nvSpPr>
        <p:spPr>
          <a:xfrm>
            <a:off x="7985455" y="4992624"/>
            <a:ext cx="3364992" cy="256032"/>
          </a:xfrm>
          <a:prstGeom prst="rect">
            <a:avLst/>
          </a:prstGeom>
          <a:noFill/>
          <a:ln/>
        </p:spPr>
        <p:txBody>
          <a:bodyPr wrap="square" lIns="0" tIns="0" rIns="0" bIns="0" rtlCol="0" anchor="ctr"/>
          <a:lstStyle/>
          <a:p>
            <a:pPr indent="0" marL="0">
              <a:buNone/>
            </a:pPr>
            <a:r>
              <a:rPr lang="en-US" sz="1000" dirty="0">
                <a:solidFill>
                  <a:srgbClr val="6E7889"/>
                </a:solidFill>
                <a:latin typeface="Calibri" pitchFamily="34" charset="0"/>
                <a:ea typeface="Calibri" pitchFamily="34" charset="-122"/>
                <a:cs typeface="Calibri" pitchFamily="34" charset="-120"/>
              </a:rPr>
              <a:t>not a review comment — an unanchored level does not construct</a:t>
            </a:r>
            <a:endParaRPr lang="en-US" sz="1000" dirty="0"/>
          </a:p>
        </p:txBody>
      </p:sp>
      <p:sp>
        <p:nvSpPr>
          <p:cNvPr id="22" name="Text 20"/>
          <p:cNvSpPr/>
          <p:nvPr/>
        </p:nvSpPr>
        <p:spPr>
          <a:xfrm>
            <a:off x="548640" y="6336792"/>
            <a:ext cx="9966960" cy="219456"/>
          </a:xfrm>
          <a:prstGeom prst="rect">
            <a:avLst/>
          </a:prstGeom>
          <a:noFill/>
          <a:ln/>
        </p:spPr>
        <p:txBody>
          <a:bodyPr wrap="square" lIns="0" tIns="0" rIns="0" bIns="0" rtlCol="0" anchor="ctr"/>
          <a:lstStyle/>
          <a:p>
            <a:pPr algn="l" indent="0" marL="0">
              <a:buNone/>
            </a:pPr>
            <a:r>
              <a:rPr lang="en-US" sz="800" dirty="0">
                <a:solidFill>
                  <a:srgbClr val="6E7889"/>
                </a:solidFill>
                <a:latin typeface="Calibri" pitchFamily="34" charset="0"/>
                <a:ea typeface="Calibri" pitchFamily="34" charset="-122"/>
                <a:cs typeface="Calibri" pitchFamily="34" charset="-120"/>
              </a:rPr>
              <a:t>src/rubricon/core/schema.py  ·  rubric version and dimension counts from results/portfolio.json  md5 299bd4f19e03caa2cd7e33681340c294</a:t>
            </a:r>
            <a:endParaRPr lang="en-US" sz="800" dirty="0"/>
          </a:p>
        </p:txBody>
      </p:sp>
      <p:sp>
        <p:nvSpPr>
          <p:cNvPr id="23" name="Text 21"/>
          <p:cNvSpPr/>
          <p:nvPr/>
        </p:nvSpPr>
        <p:spPr>
          <a:xfrm>
            <a:off x="10927080" y="6336792"/>
            <a:ext cx="713232" cy="219456"/>
          </a:xfrm>
          <a:prstGeom prst="rect">
            <a:avLst/>
          </a:prstGeom>
          <a:noFill/>
          <a:ln/>
        </p:spPr>
        <p:txBody>
          <a:bodyPr wrap="square" lIns="0" tIns="0" rIns="0" bIns="0" rtlCol="0" anchor="ctr"/>
          <a:lstStyle/>
          <a:p>
            <a:pPr algn="r" indent="0" marL="0">
              <a:buNone/>
            </a:pPr>
            <a:r>
              <a:rPr lang="en-US" sz="800" dirty="0">
                <a:solidFill>
                  <a:srgbClr val="6E7889"/>
                </a:solidFill>
                <a:latin typeface="Calibri" pitchFamily="34" charset="0"/>
                <a:ea typeface="Calibri" pitchFamily="34" charset="-122"/>
                <a:cs typeface="Calibri" pitchFamily="34" charset="-120"/>
              </a:rPr>
              <a:t>6</a:t>
            </a:r>
            <a:endParaRPr lang="en-US" sz="8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548640" y="292608"/>
            <a:ext cx="11094415" cy="201168"/>
          </a:xfrm>
          <a:prstGeom prst="rect">
            <a:avLst/>
          </a:prstGeom>
          <a:noFill/>
          <a:ln/>
        </p:spPr>
        <p:txBody>
          <a:bodyPr wrap="square" lIns="0" tIns="0" rIns="0" bIns="0" rtlCol="0" anchor="ctr"/>
          <a:lstStyle/>
          <a:p>
            <a:pPr indent="0" marL="0">
              <a:buNone/>
            </a:pPr>
            <a:r>
              <a:rPr lang="en-US" sz="950" b="1" spc="160" kern="0" dirty="0">
                <a:solidFill>
                  <a:srgbClr val="6E7889"/>
                </a:solidFill>
                <a:latin typeface="Calibri" pitchFamily="34" charset="0"/>
                <a:ea typeface="Calibri" pitchFamily="34" charset="-122"/>
                <a:cs typeface="Calibri" pitchFamily="34" charset="-120"/>
              </a:rPr>
              <a:t>07  ·  MEASURING AGREEMENT PROPERLY</a:t>
            </a:r>
            <a:endParaRPr lang="en-US" sz="950" dirty="0"/>
          </a:p>
        </p:txBody>
      </p:sp>
      <p:sp>
        <p:nvSpPr>
          <p:cNvPr id="3" name="Text 1"/>
          <p:cNvSpPr/>
          <p:nvPr/>
        </p:nvSpPr>
        <p:spPr>
          <a:xfrm>
            <a:off x="548640" y="530352"/>
            <a:ext cx="11094415" cy="786384"/>
          </a:xfrm>
          <a:prstGeom prst="rect">
            <a:avLst/>
          </a:prstGeom>
          <a:noFill/>
          <a:ln/>
        </p:spPr>
        <p:txBody>
          <a:bodyPr wrap="square" lIns="0" tIns="0" rIns="0" bIns="0" rtlCol="0" anchor="t"/>
          <a:lstStyle/>
          <a:p>
            <a:pPr indent="0" marL="0">
              <a:lnSpc>
                <a:spcPts val="3200"/>
              </a:lnSpc>
              <a:buNone/>
            </a:pPr>
            <a:r>
              <a:rPr lang="en-US" sz="2600" b="1" dirty="0">
                <a:solidFill>
                  <a:srgbClr val="1E3A5F"/>
                </a:solidFill>
                <a:latin typeface="Cambria" pitchFamily="34" charset="0"/>
                <a:ea typeface="Cambria" pitchFamily="34" charset="-122"/>
                <a:cs typeface="Cambria" pitchFamily="34" charset="-120"/>
              </a:rPr>
              <a:t>α is validated to four decimal places — and κ alone would have sent this pool to retraining</a:t>
            </a:r>
            <a:endParaRPr lang="en-US" sz="2600" dirty="0"/>
          </a:p>
        </p:txBody>
      </p:sp>
      <p:sp>
        <p:nvSpPr>
          <p:cNvPr id="4" name="Text 2"/>
          <p:cNvSpPr/>
          <p:nvPr/>
        </p:nvSpPr>
        <p:spPr>
          <a:xfrm>
            <a:off x="548640" y="1517904"/>
            <a:ext cx="5394960" cy="219456"/>
          </a:xfrm>
          <a:prstGeom prst="rect">
            <a:avLst/>
          </a:prstGeom>
          <a:noFill/>
          <a:ln/>
        </p:spPr>
        <p:txBody>
          <a:bodyPr wrap="square" lIns="0" tIns="0" rIns="0" bIns="0" rtlCol="0" anchor="ctr"/>
          <a:lstStyle/>
          <a:p>
            <a:pPr indent="0" marL="0">
              <a:buNone/>
            </a:pPr>
            <a:r>
              <a:rPr lang="en-US" sz="1050" b="1" spc="60" kern="0" dirty="0">
                <a:solidFill>
                  <a:srgbClr val="1E3A5F"/>
                </a:solidFill>
                <a:latin typeface="Calibri" pitchFamily="34" charset="0"/>
                <a:ea typeface="Calibri" pitchFamily="34" charset="-122"/>
                <a:cs typeface="Calibri" pitchFamily="34" charset="-120"/>
              </a:rPr>
              <a:t>VALIDATED AGAINST KRIPPENDORFF'S PUBLISHED 2011 WORKED EXAMPLE</a:t>
            </a:r>
            <a:endParaRPr lang="en-US" sz="1050" dirty="0"/>
          </a:p>
        </p:txBody>
      </p:sp>
      <p:graphicFrame>
        <p:nvGraphicFramePr>
          <p:cNvPr id="8" name="Table 0"/>
          <p:cNvGraphicFramePr>
            <a:graphicFrameLocks noGrp="1"/>
          </p:cNvGraphicFramePr>
          <p:nvPr>
            <p:extLst>
              <p:ext uri="{D42A27DB-BD31-4B8C-83A1-F6EECF244321}">
                <p14:modId xmlns:p14="http://schemas.microsoft.com/office/powerpoint/2010/main" val="1579011935"/>
              </p:ext>
            </p:extLst>
          </p:nvPr>
        </p:nvGraphicFramePr>
        <p:xfrm>
          <a:off x="548640" y="1810512"/>
          <a:ext cx="9144000" cy="914400"/>
        </p:xfrm>
        <a:graphic>
          <a:graphicData uri="http://schemas.openxmlformats.org/drawingml/2006/table">
            <a:tbl>
              <a:tblPr/>
              <a:tblGrid>
                <a:gridCol w="2057400"/>
                <a:gridCol w="1115568"/>
                <a:gridCol w="1115568"/>
                <a:gridCol w="1106424"/>
              </a:tblGrid>
              <a:tr h="274320">
                <a:tc>
                  <a:txBody>
                    <a:bodyPr/>
                    <a:lstStyle/>
                    <a:p>
                      <a:pPr algn="l" indent="0" marL="0">
                        <a:buNone/>
                      </a:pPr>
                      <a:r>
                        <a:rPr lang="en-US" sz="950" b="1" dirty="0">
                          <a:solidFill>
                            <a:srgbClr val="FFFFFF"/>
                          </a:solidFill>
                          <a:latin typeface="Calibri" pitchFamily="34" charset="0"/>
                          <a:ea typeface="Calibri" pitchFamily="34" charset="-122"/>
                          <a:cs typeface="Calibri" pitchFamily="34" charset="-120"/>
                        </a:rPr>
                        <a:t>Distance metric</a:t>
                      </a:r>
                      <a:endParaRPr lang="en-US" sz="950" dirty="0">
                        <a:latin typeface="Calibri" charset="0"/>
                        <a:ea typeface="Calibri" charset="0"/>
                        <a:cs typeface="Calibri" charset="0"/>
                      </a:endParaRPr>
                    </a:p>
                  </a:txBody>
                  <a:tcPr marL="76200" marR="76200" marT="25400" marB="25400" anchor="ctr">
                    <a:lnL w="0" cap="flat" cmpd="sng" algn="ctr">
                      <a:noFill/>
                    </a:lnL>
                    <a:lnR w="0" cap="flat" cmpd="sng" algn="ctr">
                      <a:noFill/>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1E3A5F"/>
                    </a:solidFill>
                  </a:tcPr>
                </a:tc>
                <a:tc>
                  <a:txBody>
                    <a:bodyPr/>
                    <a:lstStyle/>
                    <a:p>
                      <a:pPr algn="ctr" indent="0" marL="0">
                        <a:buNone/>
                      </a:pPr>
                      <a:r>
                        <a:rPr lang="en-US" sz="950" b="1" dirty="0">
                          <a:solidFill>
                            <a:srgbClr val="FFFFFF"/>
                          </a:solidFill>
                          <a:latin typeface="Calibri" pitchFamily="34" charset="0"/>
                          <a:ea typeface="Calibri" pitchFamily="34" charset="-122"/>
                          <a:cs typeface="Calibri" pitchFamily="34" charset="-120"/>
                        </a:rPr>
                        <a:t>Rubricon</a:t>
                      </a:r>
                      <a:endParaRPr lang="en-US" sz="950" dirty="0">
                        <a:latin typeface="Calibri" charset="0"/>
                        <a:ea typeface="Calibri" charset="0"/>
                        <a:cs typeface="Calibri" charset="0"/>
                      </a:endParaRPr>
                    </a:p>
                  </a:txBody>
                  <a:tcPr marL="76200" marR="76200" marT="25400" marB="25400" anchor="ctr">
                    <a:lnL w="0" cap="flat" cmpd="sng" algn="ctr">
                      <a:noFill/>
                    </a:lnL>
                    <a:lnR w="0" cap="flat" cmpd="sng" algn="ctr">
                      <a:noFill/>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1E3A5F"/>
                    </a:solidFill>
                  </a:tcPr>
                </a:tc>
                <a:tc>
                  <a:txBody>
                    <a:bodyPr/>
                    <a:lstStyle/>
                    <a:p>
                      <a:pPr algn="ctr" indent="0" marL="0">
                        <a:buNone/>
                      </a:pPr>
                      <a:r>
                        <a:rPr lang="en-US" sz="950" b="1" dirty="0">
                          <a:solidFill>
                            <a:srgbClr val="FFFFFF"/>
                          </a:solidFill>
                          <a:latin typeface="Calibri" pitchFamily="34" charset="0"/>
                          <a:ea typeface="Calibri" pitchFamily="34" charset="-122"/>
                          <a:cs typeface="Calibri" pitchFamily="34" charset="-120"/>
                        </a:rPr>
                        <a:t>Published</a:t>
                      </a:r>
                      <a:endParaRPr lang="en-US" sz="950" dirty="0">
                        <a:latin typeface="Calibri" charset="0"/>
                        <a:ea typeface="Calibri" charset="0"/>
                        <a:cs typeface="Calibri" charset="0"/>
                      </a:endParaRPr>
                    </a:p>
                  </a:txBody>
                  <a:tcPr marL="76200" marR="76200" marT="25400" marB="25400" anchor="ctr">
                    <a:lnL w="0" cap="flat" cmpd="sng" algn="ctr">
                      <a:noFill/>
                    </a:lnL>
                    <a:lnR w="0" cap="flat" cmpd="sng" algn="ctr">
                      <a:noFill/>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1E3A5F"/>
                    </a:solidFill>
                  </a:tcPr>
                </a:tc>
                <a:tc>
                  <a:txBody>
                    <a:bodyPr/>
                    <a:lstStyle/>
                    <a:p>
                      <a:pPr algn="ctr" indent="0" marL="0">
                        <a:buNone/>
                      </a:pPr>
                      <a:r>
                        <a:rPr lang="en-US" sz="950" b="1" dirty="0">
                          <a:solidFill>
                            <a:srgbClr val="FFFFFF"/>
                          </a:solidFill>
                          <a:latin typeface="Calibri" pitchFamily="34" charset="0"/>
                          <a:ea typeface="Calibri" pitchFamily="34" charset="-122"/>
                          <a:cs typeface="Calibri" pitchFamily="34" charset="-120"/>
                        </a:rPr>
                        <a:t>Deviation</a:t>
                      </a:r>
                      <a:endParaRPr lang="en-US" sz="950" dirty="0">
                        <a:latin typeface="Calibri" charset="0"/>
                        <a:ea typeface="Calibri" charset="0"/>
                        <a:cs typeface="Calibri" charset="0"/>
                      </a:endParaRPr>
                    </a:p>
                  </a:txBody>
                  <a:tcPr marL="76200" marR="76200" marT="25400" marB="25400" anchor="ctr">
                    <a:lnL w="0" cap="flat" cmpd="sng" algn="ctr">
                      <a:noFill/>
                    </a:lnL>
                    <a:lnR w="0" cap="flat" cmpd="sng" algn="ctr">
                      <a:noFill/>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1E3A5F"/>
                    </a:solidFill>
                  </a:tcPr>
                </a:tc>
              </a:tr>
              <a:tr h="274320">
                <a:tc>
                  <a:txBody>
                    <a:bodyPr/>
                    <a:lstStyle/>
                    <a:p>
                      <a:pPr algn="l" indent="0" marL="0">
                        <a:buNone/>
                      </a:pPr>
                      <a:r>
                        <a:rPr lang="en-US" sz="1000" dirty="0">
                          <a:solidFill>
                            <a:srgbClr val="222831"/>
                          </a:solidFill>
                          <a:latin typeface="Courier New" pitchFamily="34" charset="0"/>
                          <a:ea typeface="Courier New" pitchFamily="34" charset="-122"/>
                          <a:cs typeface="Courier New" pitchFamily="34" charset="-120"/>
                        </a:rPr>
                        <a:t>nominal</a:t>
                      </a:r>
                      <a:endParaRPr lang="en-US" sz="1000" dirty="0">
                        <a:latin typeface="Courier New" charset="0"/>
                        <a:ea typeface="Courier New" charset="0"/>
                        <a:cs typeface="Courier New" charset="0"/>
                      </a:endParaRPr>
                    </a:p>
                  </a:txBody>
                  <a:tcPr marL="76200" marR="76200" marT="25400" marB="25400" anchor="ctr">
                    <a:lnL w="0" cap="flat" cmpd="sng" algn="ctr">
                      <a:noFill/>
                    </a:lnL>
                    <a:lnR w="0" cap="flat" cmpd="sng" algn="ctr">
                      <a:noFill/>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tcPr>
                </a:tc>
                <a:tc>
                  <a:txBody>
                    <a:bodyPr/>
                    <a:lstStyle/>
                    <a:p>
                      <a:pPr algn="ctr" indent="0" marL="0">
                        <a:buNone/>
                      </a:pPr>
                      <a:r>
                        <a:rPr lang="en-US" sz="1000" dirty="0">
                          <a:solidFill>
                            <a:srgbClr val="222831"/>
                          </a:solidFill>
                          <a:latin typeface="Calibri" pitchFamily="34" charset="0"/>
                          <a:ea typeface="Calibri" pitchFamily="34" charset="-122"/>
                          <a:cs typeface="Calibri" pitchFamily="34" charset="-120"/>
                        </a:rPr>
                        <a:t>0.7434</a:t>
                      </a:r>
                      <a:endParaRPr lang="en-US" sz="1000" dirty="0">
                        <a:latin typeface="Calibri" charset="0"/>
                        <a:ea typeface="Calibri" charset="0"/>
                        <a:cs typeface="Calibri" charset="0"/>
                      </a:endParaRPr>
                    </a:p>
                  </a:txBody>
                  <a:tcPr marL="76200" marR="76200" marT="25400" marB="25400" anchor="ctr">
                    <a:lnL w="0" cap="flat" cmpd="sng" algn="ctr">
                      <a:noFill/>
                    </a:lnL>
                    <a:lnR w="0" cap="flat" cmpd="sng" algn="ctr">
                      <a:noFill/>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tcPr>
                </a:tc>
                <a:tc>
                  <a:txBody>
                    <a:bodyPr/>
                    <a:lstStyle/>
                    <a:p>
                      <a:pPr algn="ctr" indent="0" marL="0">
                        <a:buNone/>
                      </a:pPr>
                      <a:r>
                        <a:rPr lang="en-US" sz="1000" dirty="0">
                          <a:solidFill>
                            <a:srgbClr val="222831"/>
                          </a:solidFill>
                          <a:latin typeface="Calibri" pitchFamily="34" charset="0"/>
                          <a:ea typeface="Calibri" pitchFamily="34" charset="-122"/>
                          <a:cs typeface="Calibri" pitchFamily="34" charset="-120"/>
                        </a:rPr>
                        <a:t>0.743</a:t>
                      </a:r>
                      <a:endParaRPr lang="en-US" sz="1000" dirty="0">
                        <a:latin typeface="Calibri" charset="0"/>
                        <a:ea typeface="Calibri" charset="0"/>
                        <a:cs typeface="Calibri" charset="0"/>
                      </a:endParaRPr>
                    </a:p>
                  </a:txBody>
                  <a:tcPr marL="76200" marR="76200" marT="25400" marB="25400" anchor="ctr">
                    <a:lnL w="0" cap="flat" cmpd="sng" algn="ctr">
                      <a:noFill/>
                    </a:lnL>
                    <a:lnR w="0" cap="flat" cmpd="sng" algn="ctr">
                      <a:noFill/>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tcPr>
                </a:tc>
                <a:tc>
                  <a:txBody>
                    <a:bodyPr/>
                    <a:lstStyle/>
                    <a:p>
                      <a:pPr algn="ctr" indent="0" marL="0">
                        <a:buNone/>
                      </a:pPr>
                      <a:r>
                        <a:rPr lang="en-US" sz="1000" dirty="0">
                          <a:solidFill>
                            <a:srgbClr val="2C6E49"/>
                          </a:solidFill>
                          <a:latin typeface="Calibri" pitchFamily="34" charset="0"/>
                          <a:ea typeface="Calibri" pitchFamily="34" charset="-122"/>
                          <a:cs typeface="Calibri" pitchFamily="34" charset="-120"/>
                        </a:rPr>
                        <a:t>0.0004</a:t>
                      </a:r>
                      <a:endParaRPr lang="en-US" sz="1000" dirty="0">
                        <a:latin typeface="Calibri" charset="0"/>
                        <a:ea typeface="Calibri" charset="0"/>
                        <a:cs typeface="Calibri" charset="0"/>
                      </a:endParaRPr>
                    </a:p>
                  </a:txBody>
                  <a:tcPr marL="76200" marR="76200" marT="25400" marB="25400" anchor="ctr">
                    <a:lnL w="0" cap="flat" cmpd="sng" algn="ctr">
                      <a:noFill/>
                    </a:lnL>
                    <a:lnR w="0" cap="flat" cmpd="sng" algn="ctr">
                      <a:noFill/>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tcPr>
                </a:tc>
              </a:tr>
              <a:tr h="274320">
                <a:tc>
                  <a:txBody>
                    <a:bodyPr/>
                    <a:lstStyle/>
                    <a:p>
                      <a:pPr algn="l" indent="0" marL="0">
                        <a:buNone/>
                      </a:pPr>
                      <a:r>
                        <a:rPr lang="en-US" sz="1000" dirty="0">
                          <a:solidFill>
                            <a:srgbClr val="222831"/>
                          </a:solidFill>
                          <a:latin typeface="Courier New" pitchFamily="34" charset="0"/>
                          <a:ea typeface="Courier New" pitchFamily="34" charset="-122"/>
                          <a:cs typeface="Courier New" pitchFamily="34" charset="-120"/>
                        </a:rPr>
                        <a:t>ordinal</a:t>
                      </a:r>
                      <a:endParaRPr lang="en-US" sz="1000" dirty="0">
                        <a:latin typeface="Courier New" charset="0"/>
                        <a:ea typeface="Courier New" charset="0"/>
                        <a:cs typeface="Courier New" charset="0"/>
                      </a:endParaRPr>
                    </a:p>
                  </a:txBody>
                  <a:tcPr marL="76200" marR="76200" marT="25400" marB="25400" anchor="ctr">
                    <a:lnL w="0" cap="flat" cmpd="sng" algn="ctr">
                      <a:noFill/>
                    </a:lnL>
                    <a:lnR w="0" cap="flat" cmpd="sng" algn="ctr">
                      <a:noFill/>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tcPr>
                </a:tc>
                <a:tc>
                  <a:txBody>
                    <a:bodyPr/>
                    <a:lstStyle/>
                    <a:p>
                      <a:pPr algn="ctr" indent="0" marL="0">
                        <a:buNone/>
                      </a:pPr>
                      <a:r>
                        <a:rPr lang="en-US" sz="1000" dirty="0">
                          <a:solidFill>
                            <a:srgbClr val="222831"/>
                          </a:solidFill>
                          <a:latin typeface="Calibri" pitchFamily="34" charset="0"/>
                          <a:ea typeface="Calibri" pitchFamily="34" charset="-122"/>
                          <a:cs typeface="Calibri" pitchFamily="34" charset="-120"/>
                        </a:rPr>
                        <a:t>0.8154</a:t>
                      </a:r>
                      <a:endParaRPr lang="en-US" sz="1000" dirty="0">
                        <a:latin typeface="Calibri" charset="0"/>
                        <a:ea typeface="Calibri" charset="0"/>
                        <a:cs typeface="Calibri" charset="0"/>
                      </a:endParaRPr>
                    </a:p>
                  </a:txBody>
                  <a:tcPr marL="76200" marR="76200" marT="25400" marB="25400" anchor="ctr">
                    <a:lnL w="0" cap="flat" cmpd="sng" algn="ctr">
                      <a:noFill/>
                    </a:lnL>
                    <a:lnR w="0" cap="flat" cmpd="sng" algn="ctr">
                      <a:noFill/>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tcPr>
                </a:tc>
                <a:tc>
                  <a:txBody>
                    <a:bodyPr/>
                    <a:lstStyle/>
                    <a:p>
                      <a:pPr algn="ctr" indent="0" marL="0">
                        <a:buNone/>
                      </a:pPr>
                      <a:r>
                        <a:rPr lang="en-US" sz="1000" dirty="0">
                          <a:solidFill>
                            <a:srgbClr val="222831"/>
                          </a:solidFill>
                          <a:latin typeface="Calibri" pitchFamily="34" charset="0"/>
                          <a:ea typeface="Calibri" pitchFamily="34" charset="-122"/>
                          <a:cs typeface="Calibri" pitchFamily="34" charset="-120"/>
                        </a:rPr>
                        <a:t>0.815</a:t>
                      </a:r>
                      <a:endParaRPr lang="en-US" sz="1000" dirty="0">
                        <a:latin typeface="Calibri" charset="0"/>
                        <a:ea typeface="Calibri" charset="0"/>
                        <a:cs typeface="Calibri" charset="0"/>
                      </a:endParaRPr>
                    </a:p>
                  </a:txBody>
                  <a:tcPr marL="76200" marR="76200" marT="25400" marB="25400" anchor="ctr">
                    <a:lnL w="0" cap="flat" cmpd="sng" algn="ctr">
                      <a:noFill/>
                    </a:lnL>
                    <a:lnR w="0" cap="flat" cmpd="sng" algn="ctr">
                      <a:noFill/>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tcPr>
                </a:tc>
                <a:tc>
                  <a:txBody>
                    <a:bodyPr/>
                    <a:lstStyle/>
                    <a:p>
                      <a:pPr algn="ctr" indent="0" marL="0">
                        <a:buNone/>
                      </a:pPr>
                      <a:r>
                        <a:rPr lang="en-US" sz="1000" dirty="0">
                          <a:solidFill>
                            <a:srgbClr val="2C6E49"/>
                          </a:solidFill>
                          <a:latin typeface="Calibri" pitchFamily="34" charset="0"/>
                          <a:ea typeface="Calibri" pitchFamily="34" charset="-122"/>
                          <a:cs typeface="Calibri" pitchFamily="34" charset="-120"/>
                        </a:rPr>
                        <a:t>0.0004</a:t>
                      </a:r>
                      <a:endParaRPr lang="en-US" sz="1000" dirty="0">
                        <a:latin typeface="Calibri" charset="0"/>
                        <a:ea typeface="Calibri" charset="0"/>
                        <a:cs typeface="Calibri" charset="0"/>
                      </a:endParaRPr>
                    </a:p>
                  </a:txBody>
                  <a:tcPr marL="76200" marR="76200" marT="25400" marB="25400" anchor="ctr">
                    <a:lnL w="0" cap="flat" cmpd="sng" algn="ctr">
                      <a:noFill/>
                    </a:lnL>
                    <a:lnR w="0" cap="flat" cmpd="sng" algn="ctr">
                      <a:noFill/>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tcPr>
                </a:tc>
              </a:tr>
              <a:tr h="274320">
                <a:tc>
                  <a:txBody>
                    <a:bodyPr/>
                    <a:lstStyle/>
                    <a:p>
                      <a:pPr algn="l" indent="0" marL="0">
                        <a:buNone/>
                      </a:pPr>
                      <a:r>
                        <a:rPr lang="en-US" sz="1000" dirty="0">
                          <a:solidFill>
                            <a:srgbClr val="222831"/>
                          </a:solidFill>
                          <a:latin typeface="Courier New" pitchFamily="34" charset="0"/>
                          <a:ea typeface="Courier New" pitchFamily="34" charset="-122"/>
                          <a:cs typeface="Courier New" pitchFamily="34" charset="-120"/>
                        </a:rPr>
                        <a:t>interval</a:t>
                      </a:r>
                      <a:endParaRPr lang="en-US" sz="1000" dirty="0">
                        <a:latin typeface="Courier New" charset="0"/>
                        <a:ea typeface="Courier New" charset="0"/>
                        <a:cs typeface="Courier New" charset="0"/>
                      </a:endParaRPr>
                    </a:p>
                  </a:txBody>
                  <a:tcPr marL="76200" marR="76200" marT="25400" marB="25400" anchor="ctr">
                    <a:lnL w="0" cap="flat" cmpd="sng" algn="ctr">
                      <a:noFill/>
                    </a:lnL>
                    <a:lnR w="0" cap="flat" cmpd="sng" algn="ctr">
                      <a:noFill/>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tcPr>
                </a:tc>
                <a:tc>
                  <a:txBody>
                    <a:bodyPr/>
                    <a:lstStyle/>
                    <a:p>
                      <a:pPr algn="ctr" indent="0" marL="0">
                        <a:buNone/>
                      </a:pPr>
                      <a:r>
                        <a:rPr lang="en-US" sz="1000" dirty="0">
                          <a:solidFill>
                            <a:srgbClr val="222831"/>
                          </a:solidFill>
                          <a:latin typeface="Calibri" pitchFamily="34" charset="0"/>
                          <a:ea typeface="Calibri" pitchFamily="34" charset="-122"/>
                          <a:cs typeface="Calibri" pitchFamily="34" charset="-120"/>
                        </a:rPr>
                        <a:t>0.8491</a:t>
                      </a:r>
                      <a:endParaRPr lang="en-US" sz="1000" dirty="0">
                        <a:latin typeface="Calibri" charset="0"/>
                        <a:ea typeface="Calibri" charset="0"/>
                        <a:cs typeface="Calibri" charset="0"/>
                      </a:endParaRPr>
                    </a:p>
                  </a:txBody>
                  <a:tcPr marL="76200" marR="76200" marT="25400" marB="25400" anchor="ctr">
                    <a:lnL w="0" cap="flat" cmpd="sng" algn="ctr">
                      <a:noFill/>
                    </a:lnL>
                    <a:lnR w="0" cap="flat" cmpd="sng" algn="ctr">
                      <a:noFill/>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tcPr>
                </a:tc>
                <a:tc>
                  <a:txBody>
                    <a:bodyPr/>
                    <a:lstStyle/>
                    <a:p>
                      <a:pPr algn="ctr" indent="0" marL="0">
                        <a:buNone/>
                      </a:pPr>
                      <a:r>
                        <a:rPr lang="en-US" sz="1000" dirty="0">
                          <a:solidFill>
                            <a:srgbClr val="222831"/>
                          </a:solidFill>
                          <a:latin typeface="Calibri" pitchFamily="34" charset="0"/>
                          <a:ea typeface="Calibri" pitchFamily="34" charset="-122"/>
                          <a:cs typeface="Calibri" pitchFamily="34" charset="-120"/>
                        </a:rPr>
                        <a:t>0.849</a:t>
                      </a:r>
                      <a:endParaRPr lang="en-US" sz="1000" dirty="0">
                        <a:latin typeface="Calibri" charset="0"/>
                        <a:ea typeface="Calibri" charset="0"/>
                        <a:cs typeface="Calibri" charset="0"/>
                      </a:endParaRPr>
                    </a:p>
                  </a:txBody>
                  <a:tcPr marL="76200" marR="76200" marT="25400" marB="25400" anchor="ctr">
                    <a:lnL w="0" cap="flat" cmpd="sng" algn="ctr">
                      <a:noFill/>
                    </a:lnL>
                    <a:lnR w="0" cap="flat" cmpd="sng" algn="ctr">
                      <a:noFill/>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tcPr>
                </a:tc>
                <a:tc>
                  <a:txBody>
                    <a:bodyPr/>
                    <a:lstStyle/>
                    <a:p>
                      <a:pPr algn="ctr" indent="0" marL="0">
                        <a:buNone/>
                      </a:pPr>
                      <a:r>
                        <a:rPr lang="en-US" sz="1000" dirty="0">
                          <a:solidFill>
                            <a:srgbClr val="2C6E49"/>
                          </a:solidFill>
                          <a:latin typeface="Calibri" pitchFamily="34" charset="0"/>
                          <a:ea typeface="Calibri" pitchFamily="34" charset="-122"/>
                          <a:cs typeface="Calibri" pitchFamily="34" charset="-120"/>
                        </a:rPr>
                        <a:t>0.0001</a:t>
                      </a:r>
                      <a:endParaRPr lang="en-US" sz="1000" dirty="0">
                        <a:latin typeface="Calibri" charset="0"/>
                        <a:ea typeface="Calibri" charset="0"/>
                        <a:cs typeface="Calibri" charset="0"/>
                      </a:endParaRPr>
                    </a:p>
                  </a:txBody>
                  <a:tcPr marL="76200" marR="76200" marT="25400" marB="25400" anchor="ctr">
                    <a:lnL w="0" cap="flat" cmpd="sng" algn="ctr">
                      <a:noFill/>
                    </a:lnL>
                    <a:lnR w="0" cap="flat" cmpd="sng" algn="ctr">
                      <a:noFill/>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tcPr>
                </a:tc>
              </a:tr>
              <a:tr h="274320">
                <a:tc>
                  <a:txBody>
                    <a:bodyPr/>
                    <a:lstStyle/>
                    <a:p>
                      <a:pPr algn="l" indent="0" marL="0">
                        <a:buNone/>
                      </a:pPr>
                      <a:r>
                        <a:rPr lang="en-US" sz="1000" dirty="0">
                          <a:solidFill>
                            <a:srgbClr val="222831"/>
                          </a:solidFill>
                          <a:latin typeface="Courier New" pitchFamily="34" charset="0"/>
                          <a:ea typeface="Courier New" pitchFamily="34" charset="-122"/>
                          <a:cs typeface="Courier New" pitchFamily="34" charset="-120"/>
                        </a:rPr>
                        <a:t>ratio</a:t>
                      </a:r>
                      <a:endParaRPr lang="en-US" sz="1000" dirty="0">
                        <a:latin typeface="Courier New" charset="0"/>
                        <a:ea typeface="Courier New" charset="0"/>
                        <a:cs typeface="Courier New" charset="0"/>
                      </a:endParaRPr>
                    </a:p>
                  </a:txBody>
                  <a:tcPr marL="76200" marR="76200" marT="25400" marB="25400" anchor="ctr">
                    <a:lnL w="0" cap="flat" cmpd="sng" algn="ctr">
                      <a:noFill/>
                    </a:lnL>
                    <a:lnR w="0" cap="flat" cmpd="sng" algn="ctr">
                      <a:noFill/>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tcPr>
                </a:tc>
                <a:tc>
                  <a:txBody>
                    <a:bodyPr/>
                    <a:lstStyle/>
                    <a:p>
                      <a:pPr algn="ctr" indent="0" marL="0">
                        <a:buNone/>
                      </a:pPr>
                      <a:r>
                        <a:rPr lang="en-US" sz="1000" dirty="0">
                          <a:solidFill>
                            <a:srgbClr val="222831"/>
                          </a:solidFill>
                          <a:latin typeface="Calibri" pitchFamily="34" charset="0"/>
                          <a:ea typeface="Calibri" pitchFamily="34" charset="-122"/>
                          <a:cs typeface="Calibri" pitchFamily="34" charset="-120"/>
                        </a:rPr>
                        <a:t>0.7974</a:t>
                      </a:r>
                      <a:endParaRPr lang="en-US" sz="1000" dirty="0">
                        <a:latin typeface="Calibri" charset="0"/>
                        <a:ea typeface="Calibri" charset="0"/>
                        <a:cs typeface="Calibri" charset="0"/>
                      </a:endParaRPr>
                    </a:p>
                  </a:txBody>
                  <a:tcPr marL="76200" marR="76200" marT="25400" marB="25400" anchor="ctr">
                    <a:lnL w="0" cap="flat" cmpd="sng" algn="ctr">
                      <a:noFill/>
                    </a:lnL>
                    <a:lnR w="0" cap="flat" cmpd="sng" algn="ctr">
                      <a:noFill/>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tcPr>
                </a:tc>
                <a:tc>
                  <a:txBody>
                    <a:bodyPr/>
                    <a:lstStyle/>
                    <a:p>
                      <a:pPr algn="ctr" indent="0" marL="0">
                        <a:buNone/>
                      </a:pPr>
                      <a:r>
                        <a:rPr lang="en-US" sz="1000" dirty="0">
                          <a:solidFill>
                            <a:srgbClr val="222831"/>
                          </a:solidFill>
                          <a:latin typeface="Calibri" pitchFamily="34" charset="0"/>
                          <a:ea typeface="Calibri" pitchFamily="34" charset="-122"/>
                          <a:cs typeface="Calibri" pitchFamily="34" charset="-120"/>
                        </a:rPr>
                        <a:t>0.797</a:t>
                      </a:r>
                      <a:endParaRPr lang="en-US" sz="1000" dirty="0">
                        <a:latin typeface="Calibri" charset="0"/>
                        <a:ea typeface="Calibri" charset="0"/>
                        <a:cs typeface="Calibri" charset="0"/>
                      </a:endParaRPr>
                    </a:p>
                  </a:txBody>
                  <a:tcPr marL="76200" marR="76200" marT="25400" marB="25400" anchor="ctr">
                    <a:lnL w="0" cap="flat" cmpd="sng" algn="ctr">
                      <a:noFill/>
                    </a:lnL>
                    <a:lnR w="0" cap="flat" cmpd="sng" algn="ctr">
                      <a:noFill/>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tcPr>
                </a:tc>
                <a:tc>
                  <a:txBody>
                    <a:bodyPr/>
                    <a:lstStyle/>
                    <a:p>
                      <a:pPr algn="ctr" indent="0" marL="0">
                        <a:buNone/>
                      </a:pPr>
                      <a:r>
                        <a:rPr lang="en-US" sz="1000" dirty="0">
                          <a:solidFill>
                            <a:srgbClr val="2C6E49"/>
                          </a:solidFill>
                          <a:latin typeface="Calibri" pitchFamily="34" charset="0"/>
                          <a:ea typeface="Calibri" pitchFamily="34" charset="-122"/>
                          <a:cs typeface="Calibri" pitchFamily="34" charset="-120"/>
                        </a:rPr>
                        <a:t>0.0004</a:t>
                      </a:r>
                      <a:endParaRPr lang="en-US" sz="1000" dirty="0">
                        <a:latin typeface="Calibri" charset="0"/>
                        <a:ea typeface="Calibri" charset="0"/>
                        <a:cs typeface="Calibri" charset="0"/>
                      </a:endParaRPr>
                    </a:p>
                  </a:txBody>
                  <a:tcPr marL="76200" marR="76200" marT="25400" marB="25400" anchor="ctr">
                    <a:lnL w="0" cap="flat" cmpd="sng" algn="ctr">
                      <a:noFill/>
                    </a:lnL>
                    <a:lnR w="0" cap="flat" cmpd="sng" algn="ctr">
                      <a:noFill/>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tcPr>
                </a:tc>
              </a:tr>
            </a:tbl>
          </a:graphicData>
        </a:graphic>
      </p:graphicFrame>
      <p:sp>
        <p:nvSpPr>
          <p:cNvPr id="6" name="Text 3"/>
          <p:cNvSpPr/>
          <p:nvPr/>
        </p:nvSpPr>
        <p:spPr>
          <a:xfrm>
            <a:off x="548640" y="3273552"/>
            <a:ext cx="5394960" cy="1737360"/>
          </a:xfrm>
          <a:prstGeom prst="rect">
            <a:avLst/>
          </a:prstGeom>
          <a:noFill/>
          <a:ln/>
        </p:spPr>
        <p:txBody>
          <a:bodyPr wrap="square" lIns="0" tIns="0" rIns="0" bIns="0" rtlCol="0" anchor="t"/>
          <a:lstStyle/>
          <a:p>
            <a:pPr marL="342900" indent="-342900">
              <a:lnSpc>
                <a:spcPts val="1500"/>
              </a:lnSpc>
              <a:spcAft>
                <a:spcPts val="700"/>
              </a:spcAft>
              <a:buSzPct val="100000"/>
              <a:buChar char="•"/>
            </a:pPr>
            <a:r>
              <a:rPr lang="en-US" sz="1050" dirty="0">
                <a:solidFill>
                  <a:srgbClr val="222831"/>
                </a:solidFill>
                <a:latin typeface="Calibri" pitchFamily="34" charset="0"/>
                <a:ea typeface="Calibri" pitchFamily="34" charset="-122"/>
                <a:cs typeface="Calibri" pitchFamily="34" charset="-120"/>
              </a:rPr>
              <a:t>One of 225 tests, and the one everything downstream rests on: if the coefficient is wrong, no gate decision above it means anything.</a:t>
            </a:r>
            <a:endParaRPr lang="en-US" sz="1050" dirty="0"/>
          </a:p>
          <a:p>
            <a:pPr marL="342900" indent="-342900">
              <a:lnSpc>
                <a:spcPts val="1500"/>
              </a:lnSpc>
              <a:spcAft>
                <a:spcPts val="700"/>
              </a:spcAft>
              <a:buSzPct val="100000"/>
              <a:buChar char="•"/>
            </a:pPr>
            <a:r>
              <a:rPr lang="en-US" sz="1050" dirty="0">
                <a:solidFill>
                  <a:srgbClr val="222831"/>
                </a:solidFill>
                <a:latin typeface="Calibri" pitchFamily="34" charset="0"/>
                <a:ea typeface="Calibri" pitchFamily="34" charset="-122"/>
                <a:cs typeface="Calibri" pitchFamily="34" charset="-120"/>
              </a:rPr>
              <a:t>Missing data is handled by the coefficient rather than by dropping rows, so unbalanced replication does not silently change the denominator.</a:t>
            </a:r>
            <a:endParaRPr lang="en-US" sz="1050" dirty="0"/>
          </a:p>
          <a:p>
            <a:pPr marL="342900" indent="-342900">
              <a:lnSpc>
                <a:spcPts val="1500"/>
              </a:lnSpc>
              <a:spcAft>
                <a:spcPts val="700"/>
              </a:spcAft>
              <a:buSzPct val="100000"/>
              <a:buChar char="•"/>
            </a:pPr>
            <a:r>
              <a:rPr lang="en-US" sz="1050" dirty="0">
                <a:solidFill>
                  <a:srgbClr val="222831"/>
                </a:solidFill>
                <a:latin typeface="Calibri" pitchFamily="34" charset="0"/>
                <a:ea typeface="Calibri" pitchFamily="34" charset="-122"/>
                <a:cs typeface="Calibri" pitchFamily="34" charset="-120"/>
              </a:rPr>
              <a:t>Every α ships with a cluster-bootstrapped 95% interval (600 resamples, clustered on response), and the gate quotes the interval when the point estimate sits near a threshold.</a:t>
            </a:r>
            <a:endParaRPr lang="en-US" sz="1050" dirty="0"/>
          </a:p>
        </p:txBody>
      </p:sp>
      <p:sp>
        <p:nvSpPr>
          <p:cNvPr id="7" name="Text 4"/>
          <p:cNvSpPr/>
          <p:nvPr/>
        </p:nvSpPr>
        <p:spPr>
          <a:xfrm>
            <a:off x="6248095" y="1517904"/>
            <a:ext cx="5394960" cy="219456"/>
          </a:xfrm>
          <a:prstGeom prst="rect">
            <a:avLst/>
          </a:prstGeom>
          <a:noFill/>
          <a:ln/>
        </p:spPr>
        <p:txBody>
          <a:bodyPr wrap="square" lIns="0" tIns="0" rIns="0" bIns="0" rtlCol="0" anchor="ctr"/>
          <a:lstStyle/>
          <a:p>
            <a:pPr indent="0" marL="0">
              <a:buNone/>
            </a:pPr>
            <a:r>
              <a:rPr lang="en-US" sz="1050" b="1" spc="60" kern="0" dirty="0">
                <a:solidFill>
                  <a:srgbClr val="1E3A5F"/>
                </a:solidFill>
                <a:latin typeface="Calibri" pitchFamily="34" charset="0"/>
                <a:ea typeface="Calibri" pitchFamily="34" charset="-122"/>
                <a:cs typeface="Calibri" pitchFamily="34" charset="-120"/>
              </a:rPr>
              <a:t>THREE COEFFICIENTS, BECAUSE THE GAP BETWEEN THEM IS DIAGNOSTIC</a:t>
            </a:r>
            <a:endParaRPr lang="en-US" sz="1050" dirty="0"/>
          </a:p>
        </p:txBody>
      </p:sp>
      <p:graphicFrame>
        <p:nvGraphicFramePr>
          <p:cNvPr id="15" name="Table 1"/>
          <p:cNvGraphicFramePr>
            <a:graphicFrameLocks noGrp="1"/>
          </p:cNvGraphicFramePr>
          <p:nvPr>
            <p:extLst>
              <p:ext uri="{D42A27DB-BD31-4B8C-83A1-F6EECF244321}">
                <p14:modId xmlns:p14="http://schemas.microsoft.com/office/powerpoint/2010/main" val="1579011935"/>
              </p:ext>
            </p:extLst>
          </p:nvPr>
        </p:nvGraphicFramePr>
        <p:xfrm>
          <a:off x="6248095" y="1810512"/>
          <a:ext cx="9144000" cy="914400"/>
        </p:xfrm>
        <a:graphic>
          <a:graphicData uri="http://schemas.openxmlformats.org/drawingml/2006/table">
            <a:tbl>
              <a:tblPr/>
              <a:tblGrid>
                <a:gridCol w="2212848"/>
                <a:gridCol w="795528"/>
                <a:gridCol w="795528"/>
                <a:gridCol w="795528"/>
                <a:gridCol w="795528"/>
              </a:tblGrid>
              <a:tr h="274320">
                <a:tc>
                  <a:txBody>
                    <a:bodyPr/>
                    <a:lstStyle/>
                    <a:p>
                      <a:pPr algn="l" indent="0" marL="0">
                        <a:buNone/>
                      </a:pPr>
                      <a:r>
                        <a:rPr lang="en-US" sz="950" b="1" dirty="0">
                          <a:solidFill>
                            <a:srgbClr val="FFFFFF"/>
                          </a:solidFill>
                          <a:latin typeface="Calibri" pitchFamily="34" charset="0"/>
                          <a:ea typeface="Calibri" pitchFamily="34" charset="-122"/>
                          <a:cs typeface="Calibri" pitchFamily="34" charset="-120"/>
                        </a:rPr>
                        <a:t>Dimension</a:t>
                      </a:r>
                      <a:endParaRPr lang="en-US" sz="950" dirty="0">
                        <a:latin typeface="Calibri" charset="0"/>
                        <a:ea typeface="Calibri" charset="0"/>
                        <a:cs typeface="Calibri" charset="0"/>
                      </a:endParaRPr>
                    </a:p>
                  </a:txBody>
                  <a:tcPr marL="76200" marR="76200" marT="25400" marB="25400" anchor="ctr">
                    <a:lnL w="0" cap="flat" cmpd="sng" algn="ctr">
                      <a:noFill/>
                    </a:lnL>
                    <a:lnR w="0" cap="flat" cmpd="sng" algn="ctr">
                      <a:noFill/>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1E3A5F"/>
                    </a:solidFill>
                  </a:tcPr>
                </a:tc>
                <a:tc>
                  <a:txBody>
                    <a:bodyPr/>
                    <a:lstStyle/>
                    <a:p>
                      <a:pPr algn="ctr" indent="0" marL="0">
                        <a:buNone/>
                      </a:pPr>
                      <a:r>
                        <a:rPr lang="en-US" sz="950" b="1" dirty="0">
                          <a:solidFill>
                            <a:srgbClr val="FFFFFF"/>
                          </a:solidFill>
                          <a:latin typeface="Calibri" pitchFamily="34" charset="0"/>
                          <a:ea typeface="Calibri" pitchFamily="34" charset="-122"/>
                          <a:cs typeface="Calibri" pitchFamily="34" charset="-120"/>
                        </a:rPr>
                        <a:t>α</a:t>
                      </a:r>
                      <a:endParaRPr lang="en-US" sz="950" dirty="0">
                        <a:latin typeface="Calibri" charset="0"/>
                        <a:ea typeface="Calibri" charset="0"/>
                        <a:cs typeface="Calibri" charset="0"/>
                      </a:endParaRPr>
                    </a:p>
                  </a:txBody>
                  <a:tcPr marL="76200" marR="76200" marT="25400" marB="25400" anchor="ctr">
                    <a:lnL w="0" cap="flat" cmpd="sng" algn="ctr">
                      <a:noFill/>
                    </a:lnL>
                    <a:lnR w="0" cap="flat" cmpd="sng" algn="ctr">
                      <a:noFill/>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1E3A5F"/>
                    </a:solidFill>
                  </a:tcPr>
                </a:tc>
                <a:tc>
                  <a:txBody>
                    <a:bodyPr/>
                    <a:lstStyle/>
                    <a:p>
                      <a:pPr algn="ctr" indent="0" marL="0">
                        <a:buNone/>
                      </a:pPr>
                      <a:r>
                        <a:rPr lang="en-US" sz="950" b="1" dirty="0">
                          <a:solidFill>
                            <a:srgbClr val="FFFFFF"/>
                          </a:solidFill>
                          <a:latin typeface="Calibri" pitchFamily="34" charset="0"/>
                          <a:ea typeface="Calibri" pitchFamily="34" charset="-122"/>
                          <a:cs typeface="Calibri" pitchFamily="34" charset="-120"/>
                        </a:rPr>
                        <a:t>κ</a:t>
                      </a:r>
                      <a:endParaRPr lang="en-US" sz="950" dirty="0">
                        <a:latin typeface="Calibri" charset="0"/>
                        <a:ea typeface="Calibri" charset="0"/>
                        <a:cs typeface="Calibri" charset="0"/>
                      </a:endParaRPr>
                    </a:p>
                  </a:txBody>
                  <a:tcPr marL="76200" marR="76200" marT="25400" marB="25400" anchor="ctr">
                    <a:lnL w="0" cap="flat" cmpd="sng" algn="ctr">
                      <a:noFill/>
                    </a:lnL>
                    <a:lnR w="0" cap="flat" cmpd="sng" algn="ctr">
                      <a:noFill/>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1E3A5F"/>
                    </a:solidFill>
                  </a:tcPr>
                </a:tc>
                <a:tc>
                  <a:txBody>
                    <a:bodyPr/>
                    <a:lstStyle/>
                    <a:p>
                      <a:pPr algn="ctr" indent="0" marL="0">
                        <a:buNone/>
                      </a:pPr>
                      <a:r>
                        <a:rPr lang="en-US" sz="950" b="1" dirty="0">
                          <a:solidFill>
                            <a:srgbClr val="FFFFFF"/>
                          </a:solidFill>
                          <a:latin typeface="Calibri" pitchFamily="34" charset="0"/>
                          <a:ea typeface="Calibri" pitchFamily="34" charset="-122"/>
                          <a:cs typeface="Calibri" pitchFamily="34" charset="-120"/>
                        </a:rPr>
                        <a:t>AC1</a:t>
                      </a:r>
                      <a:endParaRPr lang="en-US" sz="950" dirty="0">
                        <a:latin typeface="Calibri" charset="0"/>
                        <a:ea typeface="Calibri" charset="0"/>
                        <a:cs typeface="Calibri" charset="0"/>
                      </a:endParaRPr>
                    </a:p>
                  </a:txBody>
                  <a:tcPr marL="76200" marR="76200" marT="25400" marB="25400" anchor="ctr">
                    <a:lnL w="0" cap="flat" cmpd="sng" algn="ctr">
                      <a:noFill/>
                    </a:lnL>
                    <a:lnR w="0" cap="flat" cmpd="sng" algn="ctr">
                      <a:noFill/>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1E3A5F"/>
                    </a:solidFill>
                  </a:tcPr>
                </a:tc>
                <a:tc>
                  <a:txBody>
                    <a:bodyPr/>
                    <a:lstStyle/>
                    <a:p>
                      <a:pPr algn="ctr" indent="0" marL="0">
                        <a:buNone/>
                      </a:pPr>
                      <a:r>
                        <a:rPr lang="en-US" sz="950" b="1" dirty="0">
                          <a:solidFill>
                            <a:srgbClr val="FFFFFF"/>
                          </a:solidFill>
                          <a:latin typeface="Calibri" pitchFamily="34" charset="0"/>
                          <a:ea typeface="Calibri" pitchFamily="34" charset="-122"/>
                          <a:cs typeface="Calibri" pitchFamily="34" charset="-120"/>
                        </a:rPr>
                        <a:t>Raw</a:t>
                      </a:r>
                      <a:endParaRPr lang="en-US" sz="950" dirty="0">
                        <a:latin typeface="Calibri" charset="0"/>
                        <a:ea typeface="Calibri" charset="0"/>
                        <a:cs typeface="Calibri" charset="0"/>
                      </a:endParaRPr>
                    </a:p>
                  </a:txBody>
                  <a:tcPr marL="76200" marR="76200" marT="25400" marB="25400" anchor="ctr">
                    <a:lnL w="0" cap="flat" cmpd="sng" algn="ctr">
                      <a:noFill/>
                    </a:lnL>
                    <a:lnR w="0" cap="flat" cmpd="sng" algn="ctr">
                      <a:noFill/>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1E3A5F"/>
                    </a:solidFill>
                  </a:tcPr>
                </a:tc>
              </a:tr>
              <a:tr h="274320">
                <a:tc>
                  <a:txBody>
                    <a:bodyPr/>
                    <a:lstStyle/>
                    <a:p>
                      <a:pPr algn="l" indent="0" marL="0">
                        <a:buNone/>
                      </a:pPr>
                      <a:r>
                        <a:rPr lang="en-US" sz="900" dirty="0">
                          <a:solidFill>
                            <a:srgbClr val="222831"/>
                          </a:solidFill>
                          <a:latin typeface="Courier New" pitchFamily="34" charset="0"/>
                          <a:ea typeface="Courier New" pitchFamily="34" charset="-122"/>
                          <a:cs typeface="Courier New" pitchFamily="34" charset="-120"/>
                        </a:rPr>
                        <a:t>agentic · goal_completion</a:t>
                      </a:r>
                      <a:endParaRPr lang="en-US" sz="900" dirty="0">
                        <a:latin typeface="Courier New" charset="0"/>
                        <a:ea typeface="Courier New" charset="0"/>
                        <a:cs typeface="Courier New" charset="0"/>
                      </a:endParaRPr>
                    </a:p>
                  </a:txBody>
                  <a:tcPr marL="76200" marR="76200" marT="25400" marB="25400" anchor="ctr">
                    <a:lnL w="0" cap="flat" cmpd="sng" algn="ctr">
                      <a:noFill/>
                    </a:lnL>
                    <a:lnR w="0" cap="flat" cmpd="sng" algn="ctr">
                      <a:noFill/>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tcPr>
                </a:tc>
                <a:tc>
                  <a:txBody>
                    <a:bodyPr/>
                    <a:lstStyle/>
                    <a:p>
                      <a:pPr algn="ctr" indent="0" marL="0">
                        <a:buNone/>
                      </a:pPr>
                      <a:r>
                        <a:rPr lang="en-US" sz="1000" b="1" dirty="0">
                          <a:solidFill>
                            <a:srgbClr val="222831"/>
                          </a:solidFill>
                          <a:latin typeface="Calibri" pitchFamily="34" charset="0"/>
                          <a:ea typeface="Calibri" pitchFamily="34" charset="-122"/>
                          <a:cs typeface="Calibri" pitchFamily="34" charset="-120"/>
                        </a:rPr>
                        <a:t>0.7193</a:t>
                      </a:r>
                      <a:endParaRPr lang="en-US" sz="1000" dirty="0">
                        <a:latin typeface="Calibri" charset="0"/>
                        <a:ea typeface="Calibri" charset="0"/>
                        <a:cs typeface="Calibri" charset="0"/>
                      </a:endParaRPr>
                    </a:p>
                  </a:txBody>
                  <a:tcPr marL="76200" marR="76200" marT="25400" marB="25400" anchor="ctr">
                    <a:lnL w="0" cap="flat" cmpd="sng" algn="ctr">
                      <a:noFill/>
                    </a:lnL>
                    <a:lnR w="0" cap="flat" cmpd="sng" algn="ctr">
                      <a:noFill/>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tcPr>
                </a:tc>
                <a:tc>
                  <a:txBody>
                    <a:bodyPr/>
                    <a:lstStyle/>
                    <a:p>
                      <a:pPr algn="ctr" indent="0" marL="0">
                        <a:buNone/>
                      </a:pPr>
                      <a:r>
                        <a:rPr lang="en-US" sz="1000" dirty="0">
                          <a:solidFill>
                            <a:srgbClr val="9B2226"/>
                          </a:solidFill>
                          <a:latin typeface="Calibri" pitchFamily="34" charset="0"/>
                          <a:ea typeface="Calibri" pitchFamily="34" charset="-122"/>
                          <a:cs typeface="Calibri" pitchFamily="34" charset="-120"/>
                        </a:rPr>
                        <a:t>0.3008</a:t>
                      </a:r>
                      <a:endParaRPr lang="en-US" sz="1000" dirty="0">
                        <a:latin typeface="Calibri" charset="0"/>
                        <a:ea typeface="Calibri" charset="0"/>
                        <a:cs typeface="Calibri" charset="0"/>
                      </a:endParaRPr>
                    </a:p>
                  </a:txBody>
                  <a:tcPr marL="76200" marR="76200" marT="25400" marB="25400" anchor="ctr">
                    <a:lnL w="0" cap="flat" cmpd="sng" algn="ctr">
                      <a:noFill/>
                    </a:lnL>
                    <a:lnR w="0" cap="flat" cmpd="sng" algn="ctr">
                      <a:noFill/>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tcPr>
                </a:tc>
                <a:tc>
                  <a:txBody>
                    <a:bodyPr/>
                    <a:lstStyle/>
                    <a:p>
                      <a:pPr algn="ctr" indent="0" marL="0">
                        <a:buNone/>
                      </a:pPr>
                      <a:r>
                        <a:rPr lang="en-US" sz="1000" dirty="0">
                          <a:solidFill>
                            <a:srgbClr val="222831"/>
                          </a:solidFill>
                          <a:latin typeface="Calibri" pitchFamily="34" charset="0"/>
                          <a:ea typeface="Calibri" pitchFamily="34" charset="-122"/>
                          <a:cs typeface="Calibri" pitchFamily="34" charset="-120"/>
                        </a:rPr>
                        <a:t>0.3067</a:t>
                      </a:r>
                      <a:endParaRPr lang="en-US" sz="1000" dirty="0">
                        <a:latin typeface="Calibri" charset="0"/>
                        <a:ea typeface="Calibri" charset="0"/>
                        <a:cs typeface="Calibri" charset="0"/>
                      </a:endParaRPr>
                    </a:p>
                  </a:txBody>
                  <a:tcPr marL="76200" marR="76200" marT="25400" marB="25400" anchor="ctr">
                    <a:lnL w="0" cap="flat" cmpd="sng" algn="ctr">
                      <a:noFill/>
                    </a:lnL>
                    <a:lnR w="0" cap="flat" cmpd="sng" algn="ctr">
                      <a:noFill/>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tcPr>
                </a:tc>
                <a:tc>
                  <a:txBody>
                    <a:bodyPr/>
                    <a:lstStyle/>
                    <a:p>
                      <a:pPr algn="ctr" indent="0" marL="0">
                        <a:buNone/>
                      </a:pPr>
                      <a:r>
                        <a:rPr lang="en-US" sz="1000" dirty="0">
                          <a:solidFill>
                            <a:srgbClr val="222831"/>
                          </a:solidFill>
                          <a:latin typeface="Calibri" pitchFamily="34" charset="0"/>
                          <a:ea typeface="Calibri" pitchFamily="34" charset="-122"/>
                          <a:cs typeface="Calibri" pitchFamily="34" charset="-120"/>
                        </a:rPr>
                        <a:t>0.4444</a:t>
                      </a:r>
                      <a:endParaRPr lang="en-US" sz="1000" dirty="0">
                        <a:latin typeface="Calibri" charset="0"/>
                        <a:ea typeface="Calibri" charset="0"/>
                        <a:cs typeface="Calibri" charset="0"/>
                      </a:endParaRPr>
                    </a:p>
                  </a:txBody>
                  <a:tcPr marL="76200" marR="76200" marT="25400" marB="25400" anchor="ctr">
                    <a:lnL w="0" cap="flat" cmpd="sng" algn="ctr">
                      <a:noFill/>
                    </a:lnL>
                    <a:lnR w="0" cap="flat" cmpd="sng" algn="ctr">
                      <a:noFill/>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tcPr>
                </a:tc>
              </a:tr>
              <a:tr h="274320">
                <a:tc>
                  <a:txBody>
                    <a:bodyPr/>
                    <a:lstStyle/>
                    <a:p>
                      <a:pPr algn="l" indent="0" marL="0">
                        <a:buNone/>
                      </a:pPr>
                      <a:r>
                        <a:rPr lang="en-US" sz="900" dirty="0">
                          <a:solidFill>
                            <a:srgbClr val="222831"/>
                          </a:solidFill>
                          <a:latin typeface="Courier New" pitchFamily="34" charset="0"/>
                          <a:ea typeface="Courier New" pitchFamily="34" charset="-122"/>
                          <a:cs typeface="Courier New" pitchFamily="34" charset="-120"/>
                        </a:rPr>
                        <a:t>refusal · calibration</a:t>
                      </a:r>
                      <a:endParaRPr lang="en-US" sz="900" dirty="0">
                        <a:latin typeface="Courier New" charset="0"/>
                        <a:ea typeface="Courier New" charset="0"/>
                        <a:cs typeface="Courier New" charset="0"/>
                      </a:endParaRPr>
                    </a:p>
                  </a:txBody>
                  <a:tcPr marL="76200" marR="76200" marT="25400" marB="25400" anchor="ctr">
                    <a:lnL w="0" cap="flat" cmpd="sng" algn="ctr">
                      <a:noFill/>
                    </a:lnL>
                    <a:lnR w="0" cap="flat" cmpd="sng" algn="ctr">
                      <a:noFill/>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tcPr>
                </a:tc>
                <a:tc>
                  <a:txBody>
                    <a:bodyPr/>
                    <a:lstStyle/>
                    <a:p>
                      <a:pPr algn="ctr" indent="0" marL="0">
                        <a:buNone/>
                      </a:pPr>
                      <a:r>
                        <a:rPr lang="en-US" sz="1000" b="1" dirty="0">
                          <a:solidFill>
                            <a:srgbClr val="222831"/>
                          </a:solidFill>
                          <a:latin typeface="Calibri" pitchFamily="34" charset="0"/>
                          <a:ea typeface="Calibri" pitchFamily="34" charset="-122"/>
                          <a:cs typeface="Calibri" pitchFamily="34" charset="-120"/>
                        </a:rPr>
                        <a:t>0.3946</a:t>
                      </a:r>
                      <a:endParaRPr lang="en-US" sz="1000" dirty="0">
                        <a:latin typeface="Calibri" charset="0"/>
                        <a:ea typeface="Calibri" charset="0"/>
                        <a:cs typeface="Calibri" charset="0"/>
                      </a:endParaRPr>
                    </a:p>
                  </a:txBody>
                  <a:tcPr marL="76200" marR="76200" marT="25400" marB="25400" anchor="ctr">
                    <a:lnL w="0" cap="flat" cmpd="sng" algn="ctr">
                      <a:noFill/>
                    </a:lnL>
                    <a:lnR w="0" cap="flat" cmpd="sng" algn="ctr">
                      <a:noFill/>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tcPr>
                </a:tc>
                <a:tc>
                  <a:txBody>
                    <a:bodyPr/>
                    <a:lstStyle/>
                    <a:p>
                      <a:pPr algn="ctr" indent="0" marL="0">
                        <a:buNone/>
                      </a:pPr>
                      <a:r>
                        <a:rPr lang="en-US" sz="1000" dirty="0">
                          <a:solidFill>
                            <a:srgbClr val="222831"/>
                          </a:solidFill>
                          <a:latin typeface="Calibri" pitchFamily="34" charset="0"/>
                          <a:ea typeface="Calibri" pitchFamily="34" charset="-122"/>
                          <a:cs typeface="Calibri" pitchFamily="34" charset="-120"/>
                        </a:rPr>
                        <a:t>0.1229</a:t>
                      </a:r>
                      <a:endParaRPr lang="en-US" sz="1000" dirty="0">
                        <a:latin typeface="Calibri" charset="0"/>
                        <a:ea typeface="Calibri" charset="0"/>
                        <a:cs typeface="Calibri" charset="0"/>
                      </a:endParaRPr>
                    </a:p>
                  </a:txBody>
                  <a:tcPr marL="76200" marR="76200" marT="25400" marB="25400" anchor="ctr">
                    <a:lnL w="0" cap="flat" cmpd="sng" algn="ctr">
                      <a:noFill/>
                    </a:lnL>
                    <a:lnR w="0" cap="flat" cmpd="sng" algn="ctr">
                      <a:noFill/>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tcPr>
                </a:tc>
                <a:tc>
                  <a:txBody>
                    <a:bodyPr/>
                    <a:lstStyle/>
                    <a:p>
                      <a:pPr algn="ctr" indent="0" marL="0">
                        <a:buNone/>
                      </a:pPr>
                      <a:r>
                        <a:rPr lang="en-US" sz="1000" dirty="0">
                          <a:solidFill>
                            <a:srgbClr val="222831"/>
                          </a:solidFill>
                          <a:latin typeface="Calibri" pitchFamily="34" charset="0"/>
                          <a:ea typeface="Calibri" pitchFamily="34" charset="-122"/>
                          <a:cs typeface="Calibri" pitchFamily="34" charset="-120"/>
                        </a:rPr>
                        <a:t>0.1830</a:t>
                      </a:r>
                      <a:endParaRPr lang="en-US" sz="1000" dirty="0">
                        <a:latin typeface="Calibri" charset="0"/>
                        <a:ea typeface="Calibri" charset="0"/>
                        <a:cs typeface="Calibri" charset="0"/>
                      </a:endParaRPr>
                    </a:p>
                  </a:txBody>
                  <a:tcPr marL="76200" marR="76200" marT="25400" marB="25400" anchor="ctr">
                    <a:lnL w="0" cap="flat" cmpd="sng" algn="ctr">
                      <a:noFill/>
                    </a:lnL>
                    <a:lnR w="0" cap="flat" cmpd="sng" algn="ctr">
                      <a:noFill/>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tcPr>
                </a:tc>
                <a:tc>
                  <a:txBody>
                    <a:bodyPr/>
                    <a:lstStyle/>
                    <a:p>
                      <a:pPr algn="ctr" indent="0" marL="0">
                        <a:buNone/>
                      </a:pPr>
                      <a:r>
                        <a:rPr lang="en-US" sz="1000" dirty="0">
                          <a:solidFill>
                            <a:srgbClr val="222831"/>
                          </a:solidFill>
                          <a:latin typeface="Calibri" pitchFamily="34" charset="0"/>
                          <a:ea typeface="Calibri" pitchFamily="34" charset="-122"/>
                          <a:cs typeface="Calibri" pitchFamily="34" charset="-120"/>
                        </a:rPr>
                        <a:t>0.3765</a:t>
                      </a:r>
                      <a:endParaRPr lang="en-US" sz="1000" dirty="0">
                        <a:latin typeface="Calibri" charset="0"/>
                        <a:ea typeface="Calibri" charset="0"/>
                        <a:cs typeface="Calibri" charset="0"/>
                      </a:endParaRPr>
                    </a:p>
                  </a:txBody>
                  <a:tcPr marL="76200" marR="76200" marT="25400" marB="25400" anchor="ctr">
                    <a:lnL w="0" cap="flat" cmpd="sng" algn="ctr">
                      <a:noFill/>
                    </a:lnL>
                    <a:lnR w="0" cap="flat" cmpd="sng" algn="ctr">
                      <a:noFill/>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tcPr>
                </a:tc>
              </a:tr>
            </a:tbl>
          </a:graphicData>
        </a:graphic>
      </p:graphicFrame>
      <p:sp>
        <p:nvSpPr>
          <p:cNvPr id="9" name="Text 5"/>
          <p:cNvSpPr/>
          <p:nvPr/>
        </p:nvSpPr>
        <p:spPr>
          <a:xfrm>
            <a:off x="6248095" y="2670048"/>
            <a:ext cx="5394960" cy="2286000"/>
          </a:xfrm>
          <a:prstGeom prst="rect">
            <a:avLst/>
          </a:prstGeom>
          <a:noFill/>
          <a:ln/>
        </p:spPr>
        <p:txBody>
          <a:bodyPr wrap="square" lIns="0" tIns="0" rIns="0" bIns="0" rtlCol="0" anchor="t"/>
          <a:lstStyle/>
          <a:p>
            <a:pPr marL="342900" indent="-342900">
              <a:lnSpc>
                <a:spcPts val="1500"/>
              </a:lnSpc>
              <a:spcAft>
                <a:spcPts val="700"/>
              </a:spcAft>
              <a:buSzPct val="100000"/>
              <a:buChar char="•"/>
            </a:pPr>
            <a:r>
              <a:rPr lang="en-US" sz="1050" dirty="0">
                <a:solidFill>
                  <a:srgbClr val="222831"/>
                </a:solidFill>
                <a:latin typeface="Calibri" pitchFamily="34" charset="0"/>
                <a:ea typeface="Calibri" pitchFamily="34" charset="-122"/>
                <a:cs typeface="Calibri" pitchFamily="34" charset="-120"/>
              </a:rPr>
              <a:t>α is the headline: scale-aware, so an ordinal near-miss earns partial credit. Fleiss' κ discards that structure, which is why goal_completion reads 0.72 and 0.30 on the same labels.</a:t>
            </a:r>
            <a:endParaRPr lang="en-US" sz="1050" dirty="0"/>
          </a:p>
          <a:p>
            <a:pPr marL="342900" indent="-342900">
              <a:lnSpc>
                <a:spcPts val="1500"/>
              </a:lnSpc>
              <a:spcAft>
                <a:spcPts val="700"/>
              </a:spcAft>
              <a:buSzPct val="100000"/>
              <a:buChar char="•"/>
            </a:pPr>
            <a:r>
              <a:rPr lang="en-US" sz="1050" dirty="0">
                <a:solidFill>
                  <a:srgbClr val="222831"/>
                </a:solidFill>
                <a:latin typeface="Calibri" pitchFamily="34" charset="0"/>
                <a:ea typeface="Calibri" pitchFamily="34" charset="-122"/>
                <a:cs typeface="Calibri" pitchFamily="34" charset="-120"/>
              </a:rPr>
              <a:t>Report κ alone and this looks like an annotator problem. The remedy — weeks of retraining — would be aimed at a scale artefact.</a:t>
            </a:r>
            <a:endParaRPr lang="en-US" sz="1050" dirty="0"/>
          </a:p>
          <a:p>
            <a:pPr marL="342900" indent="-342900">
              <a:lnSpc>
                <a:spcPts val="1500"/>
              </a:lnSpc>
              <a:spcAft>
                <a:spcPts val="700"/>
              </a:spcAft>
              <a:buSzPct val="100000"/>
              <a:buChar char="•"/>
            </a:pPr>
            <a:r>
              <a:rPr lang="en-US" sz="1050" dirty="0">
                <a:solidFill>
                  <a:srgbClr val="222831"/>
                </a:solidFill>
                <a:latin typeface="Calibri" pitchFamily="34" charset="0"/>
                <a:ea typeface="Calibri" pitchFamily="34" charset="-122"/>
                <a:cs typeface="Calibri" pitchFamily="34" charset="-120"/>
              </a:rPr>
              <a:t>Gwet's AC1 exposes the kappa paradox, where prevalence skew collapses κ toward zero at high raw agreement. No dimension trips the paradox flag in this run; the check exists so that a future one cannot be misread.</a:t>
            </a:r>
            <a:endParaRPr lang="en-US" sz="1050" dirty="0"/>
          </a:p>
          <a:p>
            <a:pPr marL="342900" indent="-342900">
              <a:lnSpc>
                <a:spcPts val="1500"/>
              </a:lnSpc>
              <a:spcAft>
                <a:spcPts val="700"/>
              </a:spcAft>
              <a:buSzPct val="100000"/>
              <a:buChar char="•"/>
            </a:pPr>
            <a:r>
              <a:rPr lang="en-US" sz="1050" dirty="0">
                <a:solidFill>
                  <a:srgbClr val="222831"/>
                </a:solidFill>
                <a:latin typeface="Calibri" pitchFamily="34" charset="0"/>
                <a:ea typeface="Calibri" pitchFamily="34" charset="-122"/>
                <a:cs typeface="Calibri" pitchFamily="34" charset="-120"/>
              </a:rPr>
              <a:t>κ and AC1 use the same unit-averaged marginal estimator, so the two numbers printed side by side are actually comparable. They were not, until 2026-08-01.</a:t>
            </a:r>
            <a:endParaRPr lang="en-US" sz="1050" dirty="0"/>
          </a:p>
        </p:txBody>
      </p:sp>
      <p:sp>
        <p:nvSpPr>
          <p:cNvPr id="10" name="Shape 6"/>
          <p:cNvSpPr/>
          <p:nvPr/>
        </p:nvSpPr>
        <p:spPr>
          <a:xfrm>
            <a:off x="548640" y="5175504"/>
            <a:ext cx="11094415" cy="768096"/>
          </a:xfrm>
          <a:prstGeom prst="roundRect">
            <a:avLst>
              <a:gd name="adj" fmla="val 7143"/>
            </a:avLst>
          </a:prstGeom>
          <a:solidFill>
            <a:srgbClr val="F3F5F8"/>
          </a:solidFill>
          <a:ln w="9525">
            <a:solidFill>
              <a:srgbClr val="DCE1E8"/>
            </a:solidFill>
            <a:prstDash val="solid"/>
          </a:ln>
        </p:spPr>
      </p:sp>
      <p:sp>
        <p:nvSpPr>
          <p:cNvPr id="11" name="Text 7"/>
          <p:cNvSpPr/>
          <p:nvPr/>
        </p:nvSpPr>
        <p:spPr>
          <a:xfrm>
            <a:off x="804672" y="5358384"/>
            <a:ext cx="10582351" cy="438912"/>
          </a:xfrm>
          <a:prstGeom prst="rect">
            <a:avLst/>
          </a:prstGeom>
          <a:noFill/>
          <a:ln/>
        </p:spPr>
        <p:txBody>
          <a:bodyPr wrap="square" lIns="0" tIns="0" rIns="0" bIns="0" rtlCol="0" anchor="t"/>
          <a:lstStyle/>
          <a:p>
            <a:pPr indent="0" marL="0">
              <a:lnSpc>
                <a:spcPts val="1500"/>
              </a:lnSpc>
              <a:buNone/>
            </a:pPr>
            <a:r>
              <a:rPr lang="en-US" sz="1050" dirty="0">
                <a:solidFill>
                  <a:srgbClr val="222831"/>
                </a:solidFill>
                <a:latin typeface="Calibri" pitchFamily="34" charset="0"/>
                <a:ea typeface="Calibri" pitchFamily="34" charset="-122"/>
                <a:cs typeface="Calibri" pitchFamily="34" charset="-120"/>
              </a:rPr>
              <a:t>The gap between the three coefficients is the diagnostic, not any one of them. Confusing a scale artefact or a prevalence artefact with annotator unreliability triggers weeks of retraining for a sampling-design flaw.</a:t>
            </a:r>
            <a:endParaRPr lang="en-US" sz="1050" dirty="0"/>
          </a:p>
        </p:txBody>
      </p:sp>
      <p:sp>
        <p:nvSpPr>
          <p:cNvPr id="12" name="Text 8"/>
          <p:cNvSpPr/>
          <p:nvPr/>
        </p:nvSpPr>
        <p:spPr>
          <a:xfrm>
            <a:off x="548640" y="6336792"/>
            <a:ext cx="9966960" cy="219456"/>
          </a:xfrm>
          <a:prstGeom prst="rect">
            <a:avLst/>
          </a:prstGeom>
          <a:noFill/>
          <a:ln/>
        </p:spPr>
        <p:txBody>
          <a:bodyPr wrap="square" lIns="0" tIns="0" rIns="0" bIns="0" rtlCol="0" anchor="ctr"/>
          <a:lstStyle/>
          <a:p>
            <a:pPr algn="l" indent="0" marL="0">
              <a:buNone/>
            </a:pPr>
            <a:r>
              <a:rPr lang="en-US" sz="800" dirty="0">
                <a:solidFill>
                  <a:srgbClr val="6E7889"/>
                </a:solidFill>
                <a:latin typeface="Calibri" pitchFamily="34" charset="0"/>
                <a:ea typeface="Calibri" pitchFamily="34" charset="-122"/>
                <a:cs typeface="Calibri" pitchFamily="34" charset="-120"/>
              </a:rPr>
              <a:t>Coefficients: results/portfolio.json  md5 299bd4f19e03caa2cd7e33681340c294   ·   reference values: Krippendorff (2011), asserted in tests/test_agreement.py</a:t>
            </a:r>
            <a:endParaRPr lang="en-US" sz="800" dirty="0"/>
          </a:p>
        </p:txBody>
      </p:sp>
      <p:sp>
        <p:nvSpPr>
          <p:cNvPr id="13" name="Text 9"/>
          <p:cNvSpPr/>
          <p:nvPr/>
        </p:nvSpPr>
        <p:spPr>
          <a:xfrm>
            <a:off x="10927080" y="6336792"/>
            <a:ext cx="713232" cy="219456"/>
          </a:xfrm>
          <a:prstGeom prst="rect">
            <a:avLst/>
          </a:prstGeom>
          <a:noFill/>
          <a:ln/>
        </p:spPr>
        <p:txBody>
          <a:bodyPr wrap="square" lIns="0" tIns="0" rIns="0" bIns="0" rtlCol="0" anchor="ctr"/>
          <a:lstStyle/>
          <a:p>
            <a:pPr algn="r" indent="0" marL="0">
              <a:buNone/>
            </a:pPr>
            <a:r>
              <a:rPr lang="en-US" sz="800" dirty="0">
                <a:solidFill>
                  <a:srgbClr val="6E7889"/>
                </a:solidFill>
                <a:latin typeface="Calibri" pitchFamily="34" charset="0"/>
                <a:ea typeface="Calibri" pitchFamily="34" charset="-122"/>
                <a:cs typeface="Calibri" pitchFamily="34" charset="-120"/>
              </a:rPr>
              <a:t>7</a:t>
            </a:r>
            <a:endParaRPr lang="en-US" sz="8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nvSpPr>
        <p:spPr>
          <a:xfrm>
            <a:off x="548640" y="292608"/>
            <a:ext cx="11094415" cy="201168"/>
          </a:xfrm>
          <a:prstGeom prst="rect">
            <a:avLst/>
          </a:prstGeom>
          <a:noFill/>
          <a:ln/>
        </p:spPr>
        <p:txBody>
          <a:bodyPr wrap="square" lIns="0" tIns="0" rIns="0" bIns="0" rtlCol="0" anchor="ctr"/>
          <a:lstStyle/>
          <a:p>
            <a:pPr indent="0" marL="0">
              <a:buNone/>
            </a:pPr>
            <a:r>
              <a:rPr lang="en-US" sz="950" b="1" spc="160" kern="0" dirty="0">
                <a:solidFill>
                  <a:srgbClr val="6E7889"/>
                </a:solidFill>
                <a:latin typeface="Calibri" pitchFamily="34" charset="0"/>
                <a:ea typeface="Calibri" pitchFamily="34" charset="-122"/>
                <a:cs typeface="Calibri" pitchFamily="34" charset="-120"/>
              </a:rPr>
              <a:t>08  ·  THE SIGNAL GATE</a:t>
            </a:r>
            <a:endParaRPr lang="en-US" sz="950" dirty="0"/>
          </a:p>
        </p:txBody>
      </p:sp>
      <p:sp>
        <p:nvSpPr>
          <p:cNvPr id="3" name="Text 1"/>
          <p:cNvSpPr/>
          <p:nvPr/>
        </p:nvSpPr>
        <p:spPr>
          <a:xfrm>
            <a:off x="548640" y="530352"/>
            <a:ext cx="11094415" cy="786384"/>
          </a:xfrm>
          <a:prstGeom prst="rect">
            <a:avLst/>
          </a:prstGeom>
          <a:noFill/>
          <a:ln/>
        </p:spPr>
        <p:txBody>
          <a:bodyPr wrap="square" lIns="0" tIns="0" rIns="0" bIns="0" rtlCol="0" anchor="t"/>
          <a:lstStyle/>
          <a:p>
            <a:pPr indent="0" marL="0">
              <a:lnSpc>
                <a:spcPts val="3200"/>
              </a:lnSpc>
              <a:buNone/>
            </a:pPr>
            <a:r>
              <a:rPr lang="en-US" sz="2600" b="1" dirty="0">
                <a:solidFill>
                  <a:srgbClr val="1E3A5F"/>
                </a:solidFill>
                <a:latin typeface="Cambria" pitchFamily="34" charset="0"/>
                <a:ea typeface="Cambria" pitchFamily="34" charset="-122"/>
                <a:cs typeface="Cambria" pitchFamily="34" charset="-120"/>
              </a:rPr>
              <a:t>23 of 45 claims were withheld — including several I wanted to make</a:t>
            </a:r>
            <a:endParaRPr lang="en-US" sz="2600" dirty="0"/>
          </a:p>
        </p:txBody>
      </p:sp>
      <p:sp>
        <p:nvSpPr>
          <p:cNvPr id="4" name="Text 2"/>
          <p:cNvSpPr/>
          <p:nvPr/>
        </p:nvSpPr>
        <p:spPr>
          <a:xfrm>
            <a:off x="548640" y="1371600"/>
            <a:ext cx="11094415" cy="402336"/>
          </a:xfrm>
          <a:prstGeom prst="rect">
            <a:avLst/>
          </a:prstGeom>
          <a:noFill/>
          <a:ln/>
        </p:spPr>
        <p:txBody>
          <a:bodyPr wrap="square" lIns="0" tIns="0" rIns="0" bIns="0" rtlCol="0" anchor="t"/>
          <a:lstStyle/>
          <a:p>
            <a:pPr indent="0" marL="0">
              <a:lnSpc>
                <a:spcPts val="1600"/>
              </a:lnSpc>
              <a:buNone/>
            </a:pPr>
            <a:r>
              <a:rPr lang="en-US" sz="1200" dirty="0">
                <a:solidFill>
                  <a:srgbClr val="6E7889"/>
                </a:solidFill>
                <a:latin typeface="Calibri" pitchFamily="34" charset="0"/>
                <a:ea typeface="Calibri" pitchFamily="34" charset="-122"/>
                <a:cs typeface="Calibri" pitchFamily="34" charset="-120"/>
              </a:rPr>
              <a:t>Thresholds are pre-registered data declared before results exist, so a reviewer can disagree with 0.667 and see exactly what changes.</a:t>
            </a:r>
            <a:endParaRPr lang="en-US" sz="1200" dirty="0"/>
          </a:p>
        </p:txBody>
      </p:sp>
      <p:sp>
        <p:nvSpPr>
          <p:cNvPr id="5" name="Text 3"/>
          <p:cNvSpPr/>
          <p:nvPr/>
        </p:nvSpPr>
        <p:spPr>
          <a:xfrm>
            <a:off x="548640" y="1956816"/>
            <a:ext cx="5394960" cy="219456"/>
          </a:xfrm>
          <a:prstGeom prst="rect">
            <a:avLst/>
          </a:prstGeom>
          <a:noFill/>
          <a:ln/>
        </p:spPr>
        <p:txBody>
          <a:bodyPr wrap="square" lIns="0" tIns="0" rIns="0" bIns="0" rtlCol="0" anchor="ctr"/>
          <a:lstStyle/>
          <a:p>
            <a:pPr indent="0" marL="0">
              <a:buNone/>
            </a:pPr>
            <a:r>
              <a:rPr lang="en-US" sz="1050" b="1" spc="60" kern="0" dirty="0">
                <a:solidFill>
                  <a:srgbClr val="1E3A5F"/>
                </a:solidFill>
                <a:latin typeface="Calibri" pitchFamily="34" charset="0"/>
                <a:ea typeface="Calibri" pitchFamily="34" charset="-122"/>
                <a:cs typeface="Calibri" pitchFamily="34" charset="-120"/>
              </a:rPr>
              <a:t>ELEVEN INDEPENDENT CHECKS, ALL OF WHICH RUN</a:t>
            </a:r>
            <a:endParaRPr lang="en-US" sz="1050" dirty="0"/>
          </a:p>
        </p:txBody>
      </p:sp>
      <p:sp>
        <p:nvSpPr>
          <p:cNvPr id="6" name="Text 4"/>
          <p:cNvSpPr/>
          <p:nvPr/>
        </p:nvSpPr>
        <p:spPr>
          <a:xfrm>
            <a:off x="548640" y="2286000"/>
            <a:ext cx="2606040" cy="228600"/>
          </a:xfrm>
          <a:prstGeom prst="rect">
            <a:avLst/>
          </a:prstGeom>
          <a:noFill/>
          <a:ln/>
        </p:spPr>
        <p:txBody>
          <a:bodyPr wrap="square" lIns="0" tIns="0" rIns="0" bIns="0" rtlCol="0" anchor="ctr"/>
          <a:lstStyle/>
          <a:p>
            <a:pPr indent="0" marL="0">
              <a:buNone/>
            </a:pPr>
            <a:r>
              <a:rPr lang="en-US" sz="1000" dirty="0">
                <a:solidFill>
                  <a:srgbClr val="222831"/>
                </a:solidFill>
                <a:latin typeface="Courier New" pitchFamily="34" charset="0"/>
                <a:ea typeface="Courier New" pitchFamily="34" charset="-122"/>
                <a:cs typeface="Courier New" pitchFamily="34" charset="-120"/>
              </a:rPr>
              <a:t>— depth contract</a:t>
            </a:r>
            <a:endParaRPr lang="en-US" sz="1000" dirty="0"/>
          </a:p>
        </p:txBody>
      </p:sp>
      <p:sp>
        <p:nvSpPr>
          <p:cNvPr id="7" name="Text 5"/>
          <p:cNvSpPr/>
          <p:nvPr/>
        </p:nvSpPr>
        <p:spPr>
          <a:xfrm>
            <a:off x="3246120" y="2286000"/>
            <a:ext cx="2606040" cy="228600"/>
          </a:xfrm>
          <a:prstGeom prst="rect">
            <a:avLst/>
          </a:prstGeom>
          <a:noFill/>
          <a:ln/>
        </p:spPr>
        <p:txBody>
          <a:bodyPr wrap="square" lIns="0" tIns="0" rIns="0" bIns="0" rtlCol="0" anchor="ctr"/>
          <a:lstStyle/>
          <a:p>
            <a:pPr indent="0" marL="0">
              <a:buNone/>
            </a:pPr>
            <a:r>
              <a:rPr lang="en-US" sz="1000" dirty="0">
                <a:solidFill>
                  <a:srgbClr val="222831"/>
                </a:solidFill>
                <a:latin typeface="Courier New" pitchFamily="34" charset="0"/>
                <a:ea typeface="Courier New" pitchFamily="34" charset="-122"/>
                <a:cs typeface="Courier New" pitchFamily="34" charset="-120"/>
              </a:rPr>
              <a:t>— reliability</a:t>
            </a:r>
            <a:endParaRPr lang="en-US" sz="1000" dirty="0"/>
          </a:p>
        </p:txBody>
      </p:sp>
      <p:sp>
        <p:nvSpPr>
          <p:cNvPr id="8" name="Text 6"/>
          <p:cNvSpPr/>
          <p:nvPr/>
        </p:nvSpPr>
        <p:spPr>
          <a:xfrm>
            <a:off x="548640" y="2532888"/>
            <a:ext cx="2606040" cy="228600"/>
          </a:xfrm>
          <a:prstGeom prst="rect">
            <a:avLst/>
          </a:prstGeom>
          <a:noFill/>
          <a:ln/>
        </p:spPr>
        <p:txBody>
          <a:bodyPr wrap="square" lIns="0" tIns="0" rIns="0" bIns="0" rtlCol="0" anchor="ctr"/>
          <a:lstStyle/>
          <a:p>
            <a:pPr indent="0" marL="0">
              <a:buNone/>
            </a:pPr>
            <a:r>
              <a:rPr lang="en-US" sz="1000" dirty="0">
                <a:solidFill>
                  <a:srgbClr val="222831"/>
                </a:solidFill>
                <a:latin typeface="Courier New" pitchFamily="34" charset="0"/>
                <a:ea typeface="Courier New" pitchFamily="34" charset="-122"/>
                <a:cs typeface="Courier New" pitchFamily="34" charset="-120"/>
              </a:rPr>
              <a:t>— precision</a:t>
            </a:r>
            <a:endParaRPr lang="en-US" sz="1000" dirty="0"/>
          </a:p>
        </p:txBody>
      </p:sp>
      <p:sp>
        <p:nvSpPr>
          <p:cNvPr id="9" name="Text 7"/>
          <p:cNvSpPr/>
          <p:nvPr/>
        </p:nvSpPr>
        <p:spPr>
          <a:xfrm>
            <a:off x="3246120" y="2532888"/>
            <a:ext cx="2606040" cy="228600"/>
          </a:xfrm>
          <a:prstGeom prst="rect">
            <a:avLst/>
          </a:prstGeom>
          <a:noFill/>
          <a:ln/>
        </p:spPr>
        <p:txBody>
          <a:bodyPr wrap="square" lIns="0" tIns="0" rIns="0" bIns="0" rtlCol="0" anchor="ctr"/>
          <a:lstStyle/>
          <a:p>
            <a:pPr indent="0" marL="0">
              <a:buNone/>
            </a:pPr>
            <a:r>
              <a:rPr lang="en-US" sz="1000" dirty="0">
                <a:solidFill>
                  <a:srgbClr val="222831"/>
                </a:solidFill>
                <a:latin typeface="Courier New" pitchFamily="34" charset="0"/>
                <a:ea typeface="Courier New" pitchFamily="34" charset="-122"/>
                <a:cs typeface="Courier New" pitchFamily="34" charset="-120"/>
              </a:rPr>
              <a:t>— effect vs MDE</a:t>
            </a:r>
            <a:endParaRPr lang="en-US" sz="1000" dirty="0"/>
          </a:p>
        </p:txBody>
      </p:sp>
      <p:sp>
        <p:nvSpPr>
          <p:cNvPr id="10" name="Text 8"/>
          <p:cNvSpPr/>
          <p:nvPr/>
        </p:nvSpPr>
        <p:spPr>
          <a:xfrm>
            <a:off x="548640" y="2779776"/>
            <a:ext cx="2606040" cy="228600"/>
          </a:xfrm>
          <a:prstGeom prst="rect">
            <a:avLst/>
          </a:prstGeom>
          <a:noFill/>
          <a:ln/>
        </p:spPr>
        <p:txBody>
          <a:bodyPr wrap="square" lIns="0" tIns="0" rIns="0" bIns="0" rtlCol="0" anchor="ctr"/>
          <a:lstStyle/>
          <a:p>
            <a:pPr indent="0" marL="0">
              <a:buNone/>
            </a:pPr>
            <a:r>
              <a:rPr lang="en-US" sz="1000" dirty="0">
                <a:solidFill>
                  <a:srgbClr val="222831"/>
                </a:solidFill>
                <a:latin typeface="Courier New" pitchFamily="34" charset="0"/>
                <a:ea typeface="Courier New" pitchFamily="34" charset="-122"/>
                <a:cs typeface="Courier New" pitchFamily="34" charset="-120"/>
              </a:rPr>
              <a:t>— interval excludes zero</a:t>
            </a:r>
            <a:endParaRPr lang="en-US" sz="1000" dirty="0"/>
          </a:p>
        </p:txBody>
      </p:sp>
      <p:sp>
        <p:nvSpPr>
          <p:cNvPr id="11" name="Text 9"/>
          <p:cNvSpPr/>
          <p:nvPr/>
        </p:nvSpPr>
        <p:spPr>
          <a:xfrm>
            <a:off x="3246120" y="2779776"/>
            <a:ext cx="2606040" cy="228600"/>
          </a:xfrm>
          <a:prstGeom prst="rect">
            <a:avLst/>
          </a:prstGeom>
          <a:noFill/>
          <a:ln/>
        </p:spPr>
        <p:txBody>
          <a:bodyPr wrap="square" lIns="0" tIns="0" rIns="0" bIns="0" rtlCol="0" anchor="ctr"/>
          <a:lstStyle/>
          <a:p>
            <a:pPr indent="0" marL="0">
              <a:buNone/>
            </a:pPr>
            <a:r>
              <a:rPr lang="en-US" sz="1000" dirty="0">
                <a:solidFill>
                  <a:srgbClr val="222831"/>
                </a:solidFill>
                <a:latin typeface="Courier New" pitchFamily="34" charset="0"/>
                <a:ea typeface="Courier New" pitchFamily="34" charset="-122"/>
                <a:cs typeface="Courier New" pitchFamily="34" charset="-120"/>
              </a:rPr>
              <a:t>— coverage</a:t>
            </a:r>
            <a:endParaRPr lang="en-US" sz="1000" dirty="0"/>
          </a:p>
        </p:txBody>
      </p:sp>
      <p:sp>
        <p:nvSpPr>
          <p:cNvPr id="12" name="Text 10"/>
          <p:cNvSpPr/>
          <p:nvPr/>
        </p:nvSpPr>
        <p:spPr>
          <a:xfrm>
            <a:off x="548640" y="3026664"/>
            <a:ext cx="2606040" cy="228600"/>
          </a:xfrm>
          <a:prstGeom prst="rect">
            <a:avLst/>
          </a:prstGeom>
          <a:noFill/>
          <a:ln/>
        </p:spPr>
        <p:txBody>
          <a:bodyPr wrap="square" lIns="0" tIns="0" rIns="0" bIns="0" rtlCol="0" anchor="ctr"/>
          <a:lstStyle/>
          <a:p>
            <a:pPr indent="0" marL="0">
              <a:buNone/>
            </a:pPr>
            <a:r>
              <a:rPr lang="en-US" sz="1000" dirty="0">
                <a:solidFill>
                  <a:srgbClr val="222831"/>
                </a:solidFill>
                <a:latin typeface="Courier New" pitchFamily="34" charset="0"/>
                <a:ea typeface="Courier New" pitchFamily="34" charset="-122"/>
                <a:cs typeface="Courier New" pitchFamily="34" charset="-120"/>
              </a:rPr>
              <a:t>— replication</a:t>
            </a:r>
            <a:endParaRPr lang="en-US" sz="1000" dirty="0"/>
          </a:p>
        </p:txBody>
      </p:sp>
      <p:sp>
        <p:nvSpPr>
          <p:cNvPr id="13" name="Text 11"/>
          <p:cNvSpPr/>
          <p:nvPr/>
        </p:nvSpPr>
        <p:spPr>
          <a:xfrm>
            <a:off x="3246120" y="3026664"/>
            <a:ext cx="2606040" cy="228600"/>
          </a:xfrm>
          <a:prstGeom prst="rect">
            <a:avLst/>
          </a:prstGeom>
          <a:noFill/>
          <a:ln/>
        </p:spPr>
        <p:txBody>
          <a:bodyPr wrap="square" lIns="0" tIns="0" rIns="0" bIns="0" rtlCol="0" anchor="ctr"/>
          <a:lstStyle/>
          <a:p>
            <a:pPr indent="0" marL="0">
              <a:buNone/>
            </a:pPr>
            <a:r>
              <a:rPr lang="en-US" sz="1000" dirty="0">
                <a:solidFill>
                  <a:srgbClr val="222831"/>
                </a:solidFill>
                <a:latin typeface="Courier New" pitchFamily="34" charset="0"/>
                <a:ea typeface="Courier New" pitchFamily="34" charset="-122"/>
                <a:cs typeface="Courier New" pitchFamily="34" charset="-120"/>
              </a:rPr>
              <a:t>— drift</a:t>
            </a:r>
            <a:endParaRPr lang="en-US" sz="1000" dirty="0"/>
          </a:p>
        </p:txBody>
      </p:sp>
      <p:sp>
        <p:nvSpPr>
          <p:cNvPr id="14" name="Text 12"/>
          <p:cNvSpPr/>
          <p:nvPr/>
        </p:nvSpPr>
        <p:spPr>
          <a:xfrm>
            <a:off x="548640" y="3273552"/>
            <a:ext cx="2606040" cy="228600"/>
          </a:xfrm>
          <a:prstGeom prst="rect">
            <a:avLst/>
          </a:prstGeom>
          <a:noFill/>
          <a:ln/>
        </p:spPr>
        <p:txBody>
          <a:bodyPr wrap="square" lIns="0" tIns="0" rIns="0" bIns="0" rtlCol="0" anchor="ctr"/>
          <a:lstStyle/>
          <a:p>
            <a:pPr indent="0" marL="0">
              <a:buNone/>
            </a:pPr>
            <a:r>
              <a:rPr lang="en-US" sz="1000" dirty="0">
                <a:solidFill>
                  <a:srgbClr val="222831"/>
                </a:solidFill>
                <a:latin typeface="Courier New" pitchFamily="34" charset="0"/>
                <a:ea typeface="Courier New" pitchFamily="34" charset="-122"/>
                <a:cs typeface="Courier New" pitchFamily="34" charset="-120"/>
              </a:rPr>
              <a:t>— rubric specification</a:t>
            </a:r>
            <a:endParaRPr lang="en-US" sz="1000" dirty="0"/>
          </a:p>
        </p:txBody>
      </p:sp>
      <p:sp>
        <p:nvSpPr>
          <p:cNvPr id="15" name="Text 13"/>
          <p:cNvSpPr/>
          <p:nvPr/>
        </p:nvSpPr>
        <p:spPr>
          <a:xfrm>
            <a:off x="3246120" y="3273552"/>
            <a:ext cx="2606040" cy="228600"/>
          </a:xfrm>
          <a:prstGeom prst="rect">
            <a:avLst/>
          </a:prstGeom>
          <a:noFill/>
          <a:ln/>
        </p:spPr>
        <p:txBody>
          <a:bodyPr wrap="square" lIns="0" tIns="0" rIns="0" bIns="0" rtlCol="0" anchor="ctr"/>
          <a:lstStyle/>
          <a:p>
            <a:pPr indent="0" marL="0">
              <a:buNone/>
            </a:pPr>
            <a:r>
              <a:rPr lang="en-US" sz="1000" dirty="0">
                <a:solidFill>
                  <a:srgbClr val="222831"/>
                </a:solidFill>
                <a:latin typeface="Courier New" pitchFamily="34" charset="0"/>
                <a:ea typeface="Courier New" pitchFamily="34" charset="-122"/>
                <a:cs typeface="Courier New" pitchFamily="34" charset="-120"/>
              </a:rPr>
              <a:t>— gold calibration</a:t>
            </a:r>
            <a:endParaRPr lang="en-US" sz="1000" dirty="0"/>
          </a:p>
        </p:txBody>
      </p:sp>
      <p:sp>
        <p:nvSpPr>
          <p:cNvPr id="16" name="Text 14"/>
          <p:cNvSpPr/>
          <p:nvPr/>
        </p:nvSpPr>
        <p:spPr>
          <a:xfrm>
            <a:off x="548640" y="3520440"/>
            <a:ext cx="2606040" cy="228600"/>
          </a:xfrm>
          <a:prstGeom prst="rect">
            <a:avLst/>
          </a:prstGeom>
          <a:noFill/>
          <a:ln/>
        </p:spPr>
        <p:txBody>
          <a:bodyPr wrap="square" lIns="0" tIns="0" rIns="0" bIns="0" rtlCol="0" anchor="ctr"/>
          <a:lstStyle/>
          <a:p>
            <a:pPr indent="0" marL="0">
              <a:buNone/>
            </a:pPr>
            <a:r>
              <a:rPr lang="en-US" sz="1000" dirty="0">
                <a:solidFill>
                  <a:srgbClr val="222831"/>
                </a:solidFill>
                <a:latin typeface="Courier New" pitchFamily="34" charset="0"/>
                <a:ea typeface="Courier New" pitchFamily="34" charset="-122"/>
                <a:cs typeface="Courier New" pitchFamily="34" charset="-120"/>
              </a:rPr>
              <a:t>— annotator pool</a:t>
            </a:r>
            <a:endParaRPr lang="en-US" sz="1000" dirty="0"/>
          </a:p>
        </p:txBody>
      </p:sp>
      <p:sp>
        <p:nvSpPr>
          <p:cNvPr id="17" name="Text 15"/>
          <p:cNvSpPr/>
          <p:nvPr/>
        </p:nvSpPr>
        <p:spPr>
          <a:xfrm>
            <a:off x="548640" y="3986784"/>
            <a:ext cx="5394960" cy="914400"/>
          </a:xfrm>
          <a:prstGeom prst="rect">
            <a:avLst/>
          </a:prstGeom>
          <a:noFill/>
          <a:ln/>
        </p:spPr>
        <p:txBody>
          <a:bodyPr wrap="square" lIns="0" tIns="0" rIns="0" bIns="0" rtlCol="0" anchor="t"/>
          <a:lstStyle/>
          <a:p>
            <a:pPr indent="0" marL="0">
              <a:lnSpc>
                <a:spcPts val="1500"/>
              </a:lnSpc>
              <a:buNone/>
            </a:pPr>
            <a:r>
              <a:rPr lang="en-US" sz="1050" dirty="0">
                <a:solidFill>
                  <a:srgbClr val="222831"/>
                </a:solidFill>
                <a:latin typeface="Calibri" pitchFamily="34" charset="0"/>
                <a:ea typeface="Calibri" pitchFamily="34" charset="-122"/>
                <a:cs typeface="Calibri" pitchFamily="34" charset="-120"/>
              </a:rPr>
              <a:t>Nothing short-circuits: “this claim has four problems” is more useful to the person fixing it than “this claim has one.” A blocked claim stays in the ledger and renders as a block where the number would have gone — a report that silently omits its failures is indistinguishable from one that had none.</a:t>
            </a:r>
            <a:endParaRPr lang="en-US" sz="1050" dirty="0"/>
          </a:p>
        </p:txBody>
      </p:sp>
      <p:sp>
        <p:nvSpPr>
          <p:cNvPr id="18" name="Shape 16"/>
          <p:cNvSpPr/>
          <p:nvPr/>
        </p:nvSpPr>
        <p:spPr>
          <a:xfrm>
            <a:off x="548640" y="5029200"/>
            <a:ext cx="5394960" cy="914400"/>
          </a:xfrm>
          <a:prstGeom prst="roundRect">
            <a:avLst>
              <a:gd name="adj" fmla="val 6000"/>
            </a:avLst>
          </a:prstGeom>
          <a:solidFill>
            <a:srgbClr val="F3F5F8"/>
          </a:solidFill>
          <a:ln w="9525">
            <a:solidFill>
              <a:srgbClr val="DCE1E8"/>
            </a:solidFill>
            <a:prstDash val="solid"/>
          </a:ln>
        </p:spPr>
      </p:sp>
      <p:sp>
        <p:nvSpPr>
          <p:cNvPr id="19" name="Text 17"/>
          <p:cNvSpPr/>
          <p:nvPr/>
        </p:nvSpPr>
        <p:spPr>
          <a:xfrm>
            <a:off x="786384" y="5175504"/>
            <a:ext cx="4919472" cy="640080"/>
          </a:xfrm>
          <a:prstGeom prst="rect">
            <a:avLst/>
          </a:prstGeom>
          <a:noFill/>
          <a:ln/>
        </p:spPr>
        <p:txBody>
          <a:bodyPr wrap="square" lIns="0" tIns="0" rIns="0" bIns="0" rtlCol="0" anchor="t"/>
          <a:lstStyle/>
          <a:p>
            <a:pPr indent="0" marL="0">
              <a:lnSpc>
                <a:spcPts val="1400"/>
              </a:lnSpc>
              <a:buNone/>
            </a:pPr>
            <a:r>
              <a:rPr lang="en-US" sz="1000" dirty="0">
                <a:solidFill>
                  <a:srgbClr val="6E7889"/>
                </a:solidFill>
                <a:latin typeface="Courier New" pitchFamily="34" charset="0"/>
                <a:ea typeface="Courier New" pitchFamily="34" charset="-122"/>
                <a:cs typeface="Courier New" pitchFamily="34" charset="-120"/>
              </a:rPr>
              <a:t>Pre-registered: α blocks below 0.50 and warns below 0.667 · CI half-width ≤ 0.075 · replication ≥ 2 · rubric-gap rate ≤ 0.15 · gold accuracy ≥ 0.70 · flagged annotators ≤ 0.34</a:t>
            </a:r>
            <a:endParaRPr lang="en-US" sz="1000" dirty="0"/>
          </a:p>
        </p:txBody>
      </p:sp>
      <p:sp>
        <p:nvSpPr>
          <p:cNvPr id="20" name="Text 18"/>
          <p:cNvSpPr/>
          <p:nvPr/>
        </p:nvSpPr>
        <p:spPr>
          <a:xfrm>
            <a:off x="6248095" y="1956816"/>
            <a:ext cx="5394960" cy="219456"/>
          </a:xfrm>
          <a:prstGeom prst="rect">
            <a:avLst/>
          </a:prstGeom>
          <a:noFill/>
          <a:ln/>
        </p:spPr>
        <p:txBody>
          <a:bodyPr wrap="square" lIns="0" tIns="0" rIns="0" bIns="0" rtlCol="0" anchor="ctr"/>
          <a:lstStyle/>
          <a:p>
            <a:pPr indent="0" marL="0">
              <a:buNone/>
            </a:pPr>
            <a:r>
              <a:rPr lang="en-US" sz="1050" b="1" spc="60" kern="0" dirty="0">
                <a:solidFill>
                  <a:srgbClr val="1E3A5F"/>
                </a:solidFill>
                <a:latin typeface="Calibri" pitchFamily="34" charset="0"/>
                <a:ea typeface="Calibri" pitchFamily="34" charset="-122"/>
                <a:cs typeface="Calibri" pitchFamily="34" charset="-120"/>
              </a:rPr>
              <a:t>THE CLAIM LEDGER</a:t>
            </a:r>
            <a:endParaRPr lang="en-US" sz="1050" dirty="0"/>
          </a:p>
        </p:txBody>
      </p:sp>
      <p:graphicFrame>
        <p:nvGraphicFramePr>
          <p:cNvPr id="9" name="Table 0"/>
          <p:cNvGraphicFramePr>
            <a:graphicFrameLocks noGrp="1"/>
          </p:cNvGraphicFramePr>
          <p:nvPr>
            <p:extLst>
              <p:ext uri="{D42A27DB-BD31-4B8C-83A1-F6EECF244321}">
                <p14:modId xmlns:p14="http://schemas.microsoft.com/office/powerpoint/2010/main" val="1579011935"/>
              </p:ext>
            </p:extLst>
          </p:nvPr>
        </p:nvGraphicFramePr>
        <p:xfrm>
          <a:off x="6248095" y="2249424"/>
          <a:ext cx="9144000" cy="914400"/>
        </p:xfrm>
        <a:graphic>
          <a:graphicData uri="http://schemas.openxmlformats.org/drawingml/2006/table">
            <a:tbl>
              <a:tblPr/>
              <a:tblGrid>
                <a:gridCol w="2212848"/>
                <a:gridCol w="795528"/>
                <a:gridCol w="795528"/>
                <a:gridCol w="795528"/>
                <a:gridCol w="795528"/>
              </a:tblGrid>
              <a:tr h="274320">
                <a:tc>
                  <a:txBody>
                    <a:bodyPr/>
                    <a:lstStyle/>
                    <a:p>
                      <a:pPr algn="l" indent="0" marL="0">
                        <a:buNone/>
                      </a:pPr>
                      <a:r>
                        <a:rPr lang="en-US" sz="950" b="1" dirty="0">
                          <a:solidFill>
                            <a:srgbClr val="FFFFFF"/>
                          </a:solidFill>
                          <a:latin typeface="Calibri" pitchFamily="34" charset="0"/>
                          <a:ea typeface="Calibri" pitchFamily="34" charset="-122"/>
                          <a:cs typeface="Calibri" pitchFamily="34" charset="-120"/>
                        </a:rPr>
                        <a:t>Track</a:t>
                      </a:r>
                      <a:endParaRPr lang="en-US" sz="950" dirty="0">
                        <a:latin typeface="Calibri" charset="0"/>
                        <a:ea typeface="Calibri" charset="0"/>
                        <a:cs typeface="Calibri" charset="0"/>
                      </a:endParaRPr>
                    </a:p>
                  </a:txBody>
                  <a:tcPr marL="76200" marR="76200" marT="25400" marB="25400" anchor="ctr">
                    <a:lnL w="0" cap="flat" cmpd="sng" algn="ctr">
                      <a:noFill/>
                    </a:lnL>
                    <a:lnR w="0" cap="flat" cmpd="sng" algn="ctr">
                      <a:noFill/>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1E3A5F"/>
                    </a:solidFill>
                  </a:tcPr>
                </a:tc>
                <a:tc>
                  <a:txBody>
                    <a:bodyPr/>
                    <a:lstStyle/>
                    <a:p>
                      <a:pPr algn="ctr" indent="0" marL="0">
                        <a:buNone/>
                      </a:pPr>
                      <a:r>
                        <a:rPr lang="en-US" sz="950" b="1" dirty="0">
                          <a:solidFill>
                            <a:srgbClr val="FFFFFF"/>
                          </a:solidFill>
                          <a:latin typeface="Calibri" pitchFamily="34" charset="0"/>
                          <a:ea typeface="Calibri" pitchFamily="34" charset="-122"/>
                          <a:cs typeface="Calibri" pitchFamily="34" charset="-120"/>
                        </a:rPr>
                        <a:t>Claims</a:t>
                      </a:r>
                      <a:endParaRPr lang="en-US" sz="950" dirty="0">
                        <a:latin typeface="Calibri" charset="0"/>
                        <a:ea typeface="Calibri" charset="0"/>
                        <a:cs typeface="Calibri" charset="0"/>
                      </a:endParaRPr>
                    </a:p>
                  </a:txBody>
                  <a:tcPr marL="76200" marR="76200" marT="25400" marB="25400" anchor="ctr">
                    <a:lnL w="0" cap="flat" cmpd="sng" algn="ctr">
                      <a:noFill/>
                    </a:lnL>
                    <a:lnR w="0" cap="flat" cmpd="sng" algn="ctr">
                      <a:noFill/>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1E3A5F"/>
                    </a:solidFill>
                  </a:tcPr>
                </a:tc>
                <a:tc>
                  <a:txBody>
                    <a:bodyPr/>
                    <a:lstStyle/>
                    <a:p>
                      <a:pPr algn="ctr" indent="0" marL="0">
                        <a:buNone/>
                      </a:pPr>
                      <a:r>
                        <a:rPr lang="en-US" sz="950" b="1" dirty="0">
                          <a:solidFill>
                            <a:srgbClr val="FFFFFF"/>
                          </a:solidFill>
                          <a:latin typeface="Calibri" pitchFamily="34" charset="0"/>
                          <a:ea typeface="Calibri" pitchFamily="34" charset="-122"/>
                          <a:cs typeface="Calibri" pitchFamily="34" charset="-120"/>
                        </a:rPr>
                        <a:t>Pass</a:t>
                      </a:r>
                      <a:endParaRPr lang="en-US" sz="950" dirty="0">
                        <a:latin typeface="Calibri" charset="0"/>
                        <a:ea typeface="Calibri" charset="0"/>
                        <a:cs typeface="Calibri" charset="0"/>
                      </a:endParaRPr>
                    </a:p>
                  </a:txBody>
                  <a:tcPr marL="76200" marR="76200" marT="25400" marB="25400" anchor="ctr">
                    <a:lnL w="0" cap="flat" cmpd="sng" algn="ctr">
                      <a:noFill/>
                    </a:lnL>
                    <a:lnR w="0" cap="flat" cmpd="sng" algn="ctr">
                      <a:noFill/>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1E3A5F"/>
                    </a:solidFill>
                  </a:tcPr>
                </a:tc>
                <a:tc>
                  <a:txBody>
                    <a:bodyPr/>
                    <a:lstStyle/>
                    <a:p>
                      <a:pPr algn="ctr" indent="0" marL="0">
                        <a:buNone/>
                      </a:pPr>
                      <a:r>
                        <a:rPr lang="en-US" sz="950" b="1" dirty="0">
                          <a:solidFill>
                            <a:srgbClr val="FFFFFF"/>
                          </a:solidFill>
                          <a:latin typeface="Calibri" pitchFamily="34" charset="0"/>
                          <a:ea typeface="Calibri" pitchFamily="34" charset="-122"/>
                          <a:cs typeface="Calibri" pitchFamily="34" charset="-120"/>
                        </a:rPr>
                        <a:t>Warn</a:t>
                      </a:r>
                      <a:endParaRPr lang="en-US" sz="950" dirty="0">
                        <a:latin typeface="Calibri" charset="0"/>
                        <a:ea typeface="Calibri" charset="0"/>
                        <a:cs typeface="Calibri" charset="0"/>
                      </a:endParaRPr>
                    </a:p>
                  </a:txBody>
                  <a:tcPr marL="76200" marR="76200" marT="25400" marB="25400" anchor="ctr">
                    <a:lnL w="0" cap="flat" cmpd="sng" algn="ctr">
                      <a:noFill/>
                    </a:lnL>
                    <a:lnR w="0" cap="flat" cmpd="sng" algn="ctr">
                      <a:noFill/>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1E3A5F"/>
                    </a:solidFill>
                  </a:tcPr>
                </a:tc>
                <a:tc>
                  <a:txBody>
                    <a:bodyPr/>
                    <a:lstStyle/>
                    <a:p>
                      <a:pPr algn="ctr" indent="0" marL="0">
                        <a:buNone/>
                      </a:pPr>
                      <a:r>
                        <a:rPr lang="en-US" sz="950" b="1" dirty="0">
                          <a:solidFill>
                            <a:srgbClr val="FFFFFF"/>
                          </a:solidFill>
                          <a:latin typeface="Calibri" pitchFamily="34" charset="0"/>
                          <a:ea typeface="Calibri" pitchFamily="34" charset="-122"/>
                          <a:cs typeface="Calibri" pitchFamily="34" charset="-120"/>
                        </a:rPr>
                        <a:t>Block</a:t>
                      </a:r>
                      <a:endParaRPr lang="en-US" sz="950" dirty="0">
                        <a:latin typeface="Calibri" charset="0"/>
                        <a:ea typeface="Calibri" charset="0"/>
                        <a:cs typeface="Calibri" charset="0"/>
                      </a:endParaRPr>
                    </a:p>
                  </a:txBody>
                  <a:tcPr marL="76200" marR="76200" marT="25400" marB="25400" anchor="ctr">
                    <a:lnL w="0" cap="flat" cmpd="sng" algn="ctr">
                      <a:noFill/>
                    </a:lnL>
                    <a:lnR w="0" cap="flat" cmpd="sng" algn="ctr">
                      <a:noFill/>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1E3A5F"/>
                    </a:solidFill>
                  </a:tcPr>
                </a:tc>
              </a:tr>
              <a:tr h="274320">
                <a:tc>
                  <a:txBody>
                    <a:bodyPr/>
                    <a:lstStyle/>
                    <a:p>
                      <a:pPr algn="l" indent="0" marL="0">
                        <a:buNone/>
                      </a:pPr>
                      <a:r>
                        <a:rPr lang="en-US" sz="1000" dirty="0">
                          <a:solidFill>
                            <a:srgbClr val="222831"/>
                          </a:solidFill>
                          <a:latin typeface="Courier New" pitchFamily="34" charset="0"/>
                          <a:ea typeface="Courier New" pitchFamily="34" charset="-122"/>
                          <a:cs typeface="Courier New" pitchFamily="34" charset="-120"/>
                        </a:rPr>
                        <a:t>agentic</a:t>
                      </a:r>
                      <a:endParaRPr lang="en-US" sz="1000" dirty="0">
                        <a:latin typeface="Courier New" charset="0"/>
                        <a:ea typeface="Courier New" charset="0"/>
                        <a:cs typeface="Courier New" charset="0"/>
                      </a:endParaRPr>
                    </a:p>
                  </a:txBody>
                  <a:tcPr marL="76200" marR="76200" marT="25400" marB="25400" anchor="ctr">
                    <a:lnL w="0" cap="flat" cmpd="sng" algn="ctr">
                      <a:noFill/>
                    </a:lnL>
                    <a:lnR w="0" cap="flat" cmpd="sng" algn="ctr">
                      <a:noFill/>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tcPr>
                </a:tc>
                <a:tc>
                  <a:txBody>
                    <a:bodyPr/>
                    <a:lstStyle/>
                    <a:p>
                      <a:pPr algn="ctr" indent="0" marL="0">
                        <a:buNone/>
                      </a:pPr>
                      <a:r>
                        <a:rPr lang="en-US" sz="1000" dirty="0">
                          <a:solidFill>
                            <a:srgbClr val="222831"/>
                          </a:solidFill>
                          <a:latin typeface="Calibri" pitchFamily="34" charset="0"/>
                          <a:ea typeface="Calibri" pitchFamily="34" charset="-122"/>
                          <a:cs typeface="Calibri" pitchFamily="34" charset="-120"/>
                        </a:rPr>
                        <a:t>12</a:t>
                      </a:r>
                      <a:endParaRPr lang="en-US" sz="1000" dirty="0">
                        <a:latin typeface="Calibri" charset="0"/>
                        <a:ea typeface="Calibri" charset="0"/>
                        <a:cs typeface="Calibri" charset="0"/>
                      </a:endParaRPr>
                    </a:p>
                  </a:txBody>
                  <a:tcPr marL="76200" marR="76200" marT="25400" marB="25400" anchor="ctr">
                    <a:lnL w="0" cap="flat" cmpd="sng" algn="ctr">
                      <a:noFill/>
                    </a:lnL>
                    <a:lnR w="0" cap="flat" cmpd="sng" algn="ctr">
                      <a:noFill/>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tcPr>
                </a:tc>
                <a:tc>
                  <a:txBody>
                    <a:bodyPr/>
                    <a:lstStyle/>
                    <a:p>
                      <a:pPr algn="ctr" indent="0" marL="0">
                        <a:buNone/>
                      </a:pPr>
                      <a:r>
                        <a:rPr lang="en-US" sz="1000" dirty="0">
                          <a:solidFill>
                            <a:srgbClr val="222831"/>
                          </a:solidFill>
                          <a:latin typeface="Calibri" pitchFamily="34" charset="0"/>
                          <a:ea typeface="Calibri" pitchFamily="34" charset="-122"/>
                          <a:cs typeface="Calibri" pitchFamily="34" charset="-120"/>
                        </a:rPr>
                        <a:t>1</a:t>
                      </a:r>
                      <a:endParaRPr lang="en-US" sz="1000" dirty="0">
                        <a:latin typeface="Calibri" charset="0"/>
                        <a:ea typeface="Calibri" charset="0"/>
                        <a:cs typeface="Calibri" charset="0"/>
                      </a:endParaRPr>
                    </a:p>
                  </a:txBody>
                  <a:tcPr marL="76200" marR="76200" marT="25400" marB="25400" anchor="ctr">
                    <a:lnL w="0" cap="flat" cmpd="sng" algn="ctr">
                      <a:noFill/>
                    </a:lnL>
                    <a:lnR w="0" cap="flat" cmpd="sng" algn="ctr">
                      <a:noFill/>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tcPr>
                </a:tc>
                <a:tc>
                  <a:txBody>
                    <a:bodyPr/>
                    <a:lstStyle/>
                    <a:p>
                      <a:pPr algn="ctr" indent="0" marL="0">
                        <a:buNone/>
                      </a:pPr>
                      <a:r>
                        <a:rPr lang="en-US" sz="1000" dirty="0">
                          <a:solidFill>
                            <a:srgbClr val="222831"/>
                          </a:solidFill>
                          <a:latin typeface="Calibri" pitchFamily="34" charset="0"/>
                          <a:ea typeface="Calibri" pitchFamily="34" charset="-122"/>
                          <a:cs typeface="Calibri" pitchFamily="34" charset="-120"/>
                        </a:rPr>
                        <a:t>8</a:t>
                      </a:r>
                      <a:endParaRPr lang="en-US" sz="1000" dirty="0">
                        <a:latin typeface="Calibri" charset="0"/>
                        <a:ea typeface="Calibri" charset="0"/>
                        <a:cs typeface="Calibri" charset="0"/>
                      </a:endParaRPr>
                    </a:p>
                  </a:txBody>
                  <a:tcPr marL="76200" marR="76200" marT="25400" marB="25400" anchor="ctr">
                    <a:lnL w="0" cap="flat" cmpd="sng" algn="ctr">
                      <a:noFill/>
                    </a:lnL>
                    <a:lnR w="0" cap="flat" cmpd="sng" algn="ctr">
                      <a:noFill/>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tcPr>
                </a:tc>
                <a:tc>
                  <a:txBody>
                    <a:bodyPr/>
                    <a:lstStyle/>
                    <a:p>
                      <a:pPr algn="ctr" indent="0" marL="0">
                        <a:buNone/>
                      </a:pPr>
                      <a:r>
                        <a:rPr lang="en-US" sz="1000" dirty="0">
                          <a:solidFill>
                            <a:srgbClr val="9B2226"/>
                          </a:solidFill>
                          <a:latin typeface="Calibri" pitchFamily="34" charset="0"/>
                          <a:ea typeface="Calibri" pitchFamily="34" charset="-122"/>
                          <a:cs typeface="Calibri" pitchFamily="34" charset="-120"/>
                        </a:rPr>
                        <a:t>3</a:t>
                      </a:r>
                      <a:endParaRPr lang="en-US" sz="1000" dirty="0">
                        <a:latin typeface="Calibri" charset="0"/>
                        <a:ea typeface="Calibri" charset="0"/>
                        <a:cs typeface="Calibri" charset="0"/>
                      </a:endParaRPr>
                    </a:p>
                  </a:txBody>
                  <a:tcPr marL="76200" marR="76200" marT="25400" marB="25400" anchor="ctr">
                    <a:lnL w="0" cap="flat" cmpd="sng" algn="ctr">
                      <a:noFill/>
                    </a:lnL>
                    <a:lnR w="0" cap="flat" cmpd="sng" algn="ctr">
                      <a:noFill/>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tcPr>
                </a:tc>
              </a:tr>
              <a:tr h="274320">
                <a:tc>
                  <a:txBody>
                    <a:bodyPr/>
                    <a:lstStyle/>
                    <a:p>
                      <a:pPr algn="l" indent="0" marL="0">
                        <a:buNone/>
                      </a:pPr>
                      <a:r>
                        <a:rPr lang="en-US" sz="1000" dirty="0">
                          <a:solidFill>
                            <a:srgbClr val="222831"/>
                          </a:solidFill>
                          <a:latin typeface="Courier New" pitchFamily="34" charset="0"/>
                          <a:ea typeface="Courier New" pitchFamily="34" charset="-122"/>
                          <a:cs typeface="Courier New" pitchFamily="34" charset="-120"/>
                        </a:rPr>
                        <a:t>reasoning</a:t>
                      </a:r>
                      <a:endParaRPr lang="en-US" sz="1000" dirty="0">
                        <a:latin typeface="Courier New" charset="0"/>
                        <a:ea typeface="Courier New" charset="0"/>
                        <a:cs typeface="Courier New" charset="0"/>
                      </a:endParaRPr>
                    </a:p>
                  </a:txBody>
                  <a:tcPr marL="76200" marR="76200" marT="25400" marB="25400" anchor="ctr">
                    <a:lnL w="0" cap="flat" cmpd="sng" algn="ctr">
                      <a:noFill/>
                    </a:lnL>
                    <a:lnR w="0" cap="flat" cmpd="sng" algn="ctr">
                      <a:noFill/>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tcPr>
                </a:tc>
                <a:tc>
                  <a:txBody>
                    <a:bodyPr/>
                    <a:lstStyle/>
                    <a:p>
                      <a:pPr algn="ctr" indent="0" marL="0">
                        <a:buNone/>
                      </a:pPr>
                      <a:r>
                        <a:rPr lang="en-US" sz="1000" dirty="0">
                          <a:solidFill>
                            <a:srgbClr val="222831"/>
                          </a:solidFill>
                          <a:latin typeface="Calibri" pitchFamily="34" charset="0"/>
                          <a:ea typeface="Calibri" pitchFamily="34" charset="-122"/>
                          <a:cs typeface="Calibri" pitchFamily="34" charset="-120"/>
                        </a:rPr>
                        <a:t>11</a:t>
                      </a:r>
                      <a:endParaRPr lang="en-US" sz="1000" dirty="0">
                        <a:latin typeface="Calibri" charset="0"/>
                        <a:ea typeface="Calibri" charset="0"/>
                        <a:cs typeface="Calibri" charset="0"/>
                      </a:endParaRPr>
                    </a:p>
                  </a:txBody>
                  <a:tcPr marL="76200" marR="76200" marT="25400" marB="25400" anchor="ctr">
                    <a:lnL w="0" cap="flat" cmpd="sng" algn="ctr">
                      <a:noFill/>
                    </a:lnL>
                    <a:lnR w="0" cap="flat" cmpd="sng" algn="ctr">
                      <a:noFill/>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tcPr>
                </a:tc>
                <a:tc>
                  <a:txBody>
                    <a:bodyPr/>
                    <a:lstStyle/>
                    <a:p>
                      <a:pPr algn="ctr" indent="0" marL="0">
                        <a:buNone/>
                      </a:pPr>
                      <a:r>
                        <a:rPr lang="en-US" sz="1000" dirty="0">
                          <a:solidFill>
                            <a:srgbClr val="222831"/>
                          </a:solidFill>
                          <a:latin typeface="Calibri" pitchFamily="34" charset="0"/>
                          <a:ea typeface="Calibri" pitchFamily="34" charset="-122"/>
                          <a:cs typeface="Calibri" pitchFamily="34" charset="-120"/>
                        </a:rPr>
                        <a:t>2</a:t>
                      </a:r>
                      <a:endParaRPr lang="en-US" sz="1000" dirty="0">
                        <a:latin typeface="Calibri" charset="0"/>
                        <a:ea typeface="Calibri" charset="0"/>
                        <a:cs typeface="Calibri" charset="0"/>
                      </a:endParaRPr>
                    </a:p>
                  </a:txBody>
                  <a:tcPr marL="76200" marR="76200" marT="25400" marB="25400" anchor="ctr">
                    <a:lnL w="0" cap="flat" cmpd="sng" algn="ctr">
                      <a:noFill/>
                    </a:lnL>
                    <a:lnR w="0" cap="flat" cmpd="sng" algn="ctr">
                      <a:noFill/>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tcPr>
                </a:tc>
                <a:tc>
                  <a:txBody>
                    <a:bodyPr/>
                    <a:lstStyle/>
                    <a:p>
                      <a:pPr algn="ctr" indent="0" marL="0">
                        <a:buNone/>
                      </a:pPr>
                      <a:r>
                        <a:rPr lang="en-US" sz="1000" dirty="0">
                          <a:solidFill>
                            <a:srgbClr val="222831"/>
                          </a:solidFill>
                          <a:latin typeface="Calibri" pitchFamily="34" charset="0"/>
                          <a:ea typeface="Calibri" pitchFamily="34" charset="-122"/>
                          <a:cs typeface="Calibri" pitchFamily="34" charset="-120"/>
                        </a:rPr>
                        <a:t>5</a:t>
                      </a:r>
                      <a:endParaRPr lang="en-US" sz="1000" dirty="0">
                        <a:latin typeface="Calibri" charset="0"/>
                        <a:ea typeface="Calibri" charset="0"/>
                        <a:cs typeface="Calibri" charset="0"/>
                      </a:endParaRPr>
                    </a:p>
                  </a:txBody>
                  <a:tcPr marL="76200" marR="76200" marT="25400" marB="25400" anchor="ctr">
                    <a:lnL w="0" cap="flat" cmpd="sng" algn="ctr">
                      <a:noFill/>
                    </a:lnL>
                    <a:lnR w="0" cap="flat" cmpd="sng" algn="ctr">
                      <a:noFill/>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tcPr>
                </a:tc>
                <a:tc>
                  <a:txBody>
                    <a:bodyPr/>
                    <a:lstStyle/>
                    <a:p>
                      <a:pPr algn="ctr" indent="0" marL="0">
                        <a:buNone/>
                      </a:pPr>
                      <a:r>
                        <a:rPr lang="en-US" sz="1000" dirty="0">
                          <a:solidFill>
                            <a:srgbClr val="9B2226"/>
                          </a:solidFill>
                          <a:latin typeface="Calibri" pitchFamily="34" charset="0"/>
                          <a:ea typeface="Calibri" pitchFamily="34" charset="-122"/>
                          <a:cs typeface="Calibri" pitchFamily="34" charset="-120"/>
                        </a:rPr>
                        <a:t>4</a:t>
                      </a:r>
                      <a:endParaRPr lang="en-US" sz="1000" dirty="0">
                        <a:latin typeface="Calibri" charset="0"/>
                        <a:ea typeface="Calibri" charset="0"/>
                        <a:cs typeface="Calibri" charset="0"/>
                      </a:endParaRPr>
                    </a:p>
                  </a:txBody>
                  <a:tcPr marL="76200" marR="76200" marT="25400" marB="25400" anchor="ctr">
                    <a:lnL w="0" cap="flat" cmpd="sng" algn="ctr">
                      <a:noFill/>
                    </a:lnL>
                    <a:lnR w="0" cap="flat" cmpd="sng" algn="ctr">
                      <a:noFill/>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tcPr>
                </a:tc>
              </a:tr>
              <a:tr h="274320">
                <a:tc>
                  <a:txBody>
                    <a:bodyPr/>
                    <a:lstStyle/>
                    <a:p>
                      <a:pPr algn="l" indent="0" marL="0">
                        <a:buNone/>
                      </a:pPr>
                      <a:r>
                        <a:rPr lang="en-US" sz="1000" dirty="0">
                          <a:solidFill>
                            <a:srgbClr val="222831"/>
                          </a:solidFill>
                          <a:latin typeface="Courier New" pitchFamily="34" charset="0"/>
                          <a:ea typeface="Courier New" pitchFamily="34" charset="-122"/>
                          <a:cs typeface="Courier New" pitchFamily="34" charset="-120"/>
                        </a:rPr>
                        <a:t>grounding</a:t>
                      </a:r>
                      <a:endParaRPr lang="en-US" sz="1000" dirty="0">
                        <a:latin typeface="Courier New" charset="0"/>
                        <a:ea typeface="Courier New" charset="0"/>
                        <a:cs typeface="Courier New" charset="0"/>
                      </a:endParaRPr>
                    </a:p>
                  </a:txBody>
                  <a:tcPr marL="76200" marR="76200" marT="25400" marB="25400" anchor="ctr">
                    <a:lnL w="0" cap="flat" cmpd="sng" algn="ctr">
                      <a:noFill/>
                    </a:lnL>
                    <a:lnR w="0" cap="flat" cmpd="sng" algn="ctr">
                      <a:noFill/>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tcPr>
                </a:tc>
                <a:tc>
                  <a:txBody>
                    <a:bodyPr/>
                    <a:lstStyle/>
                    <a:p>
                      <a:pPr algn="ctr" indent="0" marL="0">
                        <a:buNone/>
                      </a:pPr>
                      <a:r>
                        <a:rPr lang="en-US" sz="1000" dirty="0">
                          <a:solidFill>
                            <a:srgbClr val="222831"/>
                          </a:solidFill>
                          <a:latin typeface="Calibri" pitchFamily="34" charset="0"/>
                          <a:ea typeface="Calibri" pitchFamily="34" charset="-122"/>
                          <a:cs typeface="Calibri" pitchFamily="34" charset="-120"/>
                        </a:rPr>
                        <a:t>11</a:t>
                      </a:r>
                      <a:endParaRPr lang="en-US" sz="1000" dirty="0">
                        <a:latin typeface="Calibri" charset="0"/>
                        <a:ea typeface="Calibri" charset="0"/>
                        <a:cs typeface="Calibri" charset="0"/>
                      </a:endParaRPr>
                    </a:p>
                  </a:txBody>
                  <a:tcPr marL="76200" marR="76200" marT="25400" marB="25400" anchor="ctr">
                    <a:lnL w="0" cap="flat" cmpd="sng" algn="ctr">
                      <a:noFill/>
                    </a:lnL>
                    <a:lnR w="0" cap="flat" cmpd="sng" algn="ctr">
                      <a:noFill/>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tcPr>
                </a:tc>
                <a:tc>
                  <a:txBody>
                    <a:bodyPr/>
                    <a:lstStyle/>
                    <a:p>
                      <a:pPr algn="ctr" indent="0" marL="0">
                        <a:buNone/>
                      </a:pPr>
                      <a:r>
                        <a:rPr lang="en-US" sz="1000" dirty="0">
                          <a:solidFill>
                            <a:srgbClr val="222831"/>
                          </a:solidFill>
                          <a:latin typeface="Calibri" pitchFamily="34" charset="0"/>
                          <a:ea typeface="Calibri" pitchFamily="34" charset="-122"/>
                          <a:cs typeface="Calibri" pitchFamily="34" charset="-120"/>
                        </a:rPr>
                        <a:t>1</a:t>
                      </a:r>
                      <a:endParaRPr lang="en-US" sz="1000" dirty="0">
                        <a:latin typeface="Calibri" charset="0"/>
                        <a:ea typeface="Calibri" charset="0"/>
                        <a:cs typeface="Calibri" charset="0"/>
                      </a:endParaRPr>
                    </a:p>
                  </a:txBody>
                  <a:tcPr marL="76200" marR="76200" marT="25400" marB="25400" anchor="ctr">
                    <a:lnL w="0" cap="flat" cmpd="sng" algn="ctr">
                      <a:noFill/>
                    </a:lnL>
                    <a:lnR w="0" cap="flat" cmpd="sng" algn="ctr">
                      <a:noFill/>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tcPr>
                </a:tc>
                <a:tc>
                  <a:txBody>
                    <a:bodyPr/>
                    <a:lstStyle/>
                    <a:p>
                      <a:pPr algn="ctr" indent="0" marL="0">
                        <a:buNone/>
                      </a:pPr>
                      <a:r>
                        <a:rPr lang="en-US" sz="1000" dirty="0">
                          <a:solidFill>
                            <a:srgbClr val="222831"/>
                          </a:solidFill>
                          <a:latin typeface="Calibri" pitchFamily="34" charset="0"/>
                          <a:ea typeface="Calibri" pitchFamily="34" charset="-122"/>
                          <a:cs typeface="Calibri" pitchFamily="34" charset="-120"/>
                        </a:rPr>
                        <a:t>2</a:t>
                      </a:r>
                      <a:endParaRPr lang="en-US" sz="1000" dirty="0">
                        <a:latin typeface="Calibri" charset="0"/>
                        <a:ea typeface="Calibri" charset="0"/>
                        <a:cs typeface="Calibri" charset="0"/>
                      </a:endParaRPr>
                    </a:p>
                  </a:txBody>
                  <a:tcPr marL="76200" marR="76200" marT="25400" marB="25400" anchor="ctr">
                    <a:lnL w="0" cap="flat" cmpd="sng" algn="ctr">
                      <a:noFill/>
                    </a:lnL>
                    <a:lnR w="0" cap="flat" cmpd="sng" algn="ctr">
                      <a:noFill/>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tcPr>
                </a:tc>
                <a:tc>
                  <a:txBody>
                    <a:bodyPr/>
                    <a:lstStyle/>
                    <a:p>
                      <a:pPr algn="ctr" indent="0" marL="0">
                        <a:buNone/>
                      </a:pPr>
                      <a:r>
                        <a:rPr lang="en-US" sz="1000" dirty="0">
                          <a:solidFill>
                            <a:srgbClr val="9B2226"/>
                          </a:solidFill>
                          <a:latin typeface="Calibri" pitchFamily="34" charset="0"/>
                          <a:ea typeface="Calibri" pitchFamily="34" charset="-122"/>
                          <a:cs typeface="Calibri" pitchFamily="34" charset="-120"/>
                        </a:rPr>
                        <a:t>8</a:t>
                      </a:r>
                      <a:endParaRPr lang="en-US" sz="1000" dirty="0">
                        <a:latin typeface="Calibri" charset="0"/>
                        <a:ea typeface="Calibri" charset="0"/>
                        <a:cs typeface="Calibri" charset="0"/>
                      </a:endParaRPr>
                    </a:p>
                  </a:txBody>
                  <a:tcPr marL="76200" marR="76200" marT="25400" marB="25400" anchor="ctr">
                    <a:lnL w="0" cap="flat" cmpd="sng" algn="ctr">
                      <a:noFill/>
                    </a:lnL>
                    <a:lnR w="0" cap="flat" cmpd="sng" algn="ctr">
                      <a:noFill/>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tcPr>
                </a:tc>
              </a:tr>
              <a:tr h="274320">
                <a:tc>
                  <a:txBody>
                    <a:bodyPr/>
                    <a:lstStyle/>
                    <a:p>
                      <a:pPr algn="l" indent="0" marL="0">
                        <a:buNone/>
                      </a:pPr>
                      <a:r>
                        <a:rPr lang="en-US" sz="1000" dirty="0">
                          <a:solidFill>
                            <a:srgbClr val="222831"/>
                          </a:solidFill>
                          <a:latin typeface="Courier New" pitchFamily="34" charset="0"/>
                          <a:ea typeface="Courier New" pitchFamily="34" charset="-122"/>
                          <a:cs typeface="Courier New" pitchFamily="34" charset="-120"/>
                        </a:rPr>
                        <a:t>refusal</a:t>
                      </a:r>
                      <a:endParaRPr lang="en-US" sz="1000" dirty="0">
                        <a:latin typeface="Courier New" charset="0"/>
                        <a:ea typeface="Courier New" charset="0"/>
                        <a:cs typeface="Courier New" charset="0"/>
                      </a:endParaRPr>
                    </a:p>
                  </a:txBody>
                  <a:tcPr marL="76200" marR="76200" marT="25400" marB="25400" anchor="ctr">
                    <a:lnL w="0" cap="flat" cmpd="sng" algn="ctr">
                      <a:noFill/>
                    </a:lnL>
                    <a:lnR w="0" cap="flat" cmpd="sng" algn="ctr">
                      <a:noFill/>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tcPr>
                </a:tc>
                <a:tc>
                  <a:txBody>
                    <a:bodyPr/>
                    <a:lstStyle/>
                    <a:p>
                      <a:pPr algn="ctr" indent="0" marL="0">
                        <a:buNone/>
                      </a:pPr>
                      <a:r>
                        <a:rPr lang="en-US" sz="1000" dirty="0">
                          <a:solidFill>
                            <a:srgbClr val="222831"/>
                          </a:solidFill>
                          <a:latin typeface="Calibri" pitchFamily="34" charset="0"/>
                          <a:ea typeface="Calibri" pitchFamily="34" charset="-122"/>
                          <a:cs typeface="Calibri" pitchFamily="34" charset="-120"/>
                        </a:rPr>
                        <a:t>11</a:t>
                      </a:r>
                      <a:endParaRPr lang="en-US" sz="1000" dirty="0">
                        <a:latin typeface="Calibri" charset="0"/>
                        <a:ea typeface="Calibri" charset="0"/>
                        <a:cs typeface="Calibri" charset="0"/>
                      </a:endParaRPr>
                    </a:p>
                  </a:txBody>
                  <a:tcPr marL="76200" marR="76200" marT="25400" marB="25400" anchor="ctr">
                    <a:lnL w="0" cap="flat" cmpd="sng" algn="ctr">
                      <a:noFill/>
                    </a:lnL>
                    <a:lnR w="0" cap="flat" cmpd="sng" algn="ctr">
                      <a:noFill/>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tcPr>
                </a:tc>
                <a:tc>
                  <a:txBody>
                    <a:bodyPr/>
                    <a:lstStyle/>
                    <a:p>
                      <a:pPr algn="ctr" indent="0" marL="0">
                        <a:buNone/>
                      </a:pPr>
                      <a:r>
                        <a:rPr lang="en-US" sz="1000" dirty="0">
                          <a:solidFill>
                            <a:srgbClr val="222831"/>
                          </a:solidFill>
                          <a:latin typeface="Calibri" pitchFamily="34" charset="0"/>
                          <a:ea typeface="Calibri" pitchFamily="34" charset="-122"/>
                          <a:cs typeface="Calibri" pitchFamily="34" charset="-120"/>
                        </a:rPr>
                        <a:t>0</a:t>
                      </a:r>
                      <a:endParaRPr lang="en-US" sz="1000" dirty="0">
                        <a:latin typeface="Calibri" charset="0"/>
                        <a:ea typeface="Calibri" charset="0"/>
                        <a:cs typeface="Calibri" charset="0"/>
                      </a:endParaRPr>
                    </a:p>
                  </a:txBody>
                  <a:tcPr marL="76200" marR="76200" marT="25400" marB="25400" anchor="ctr">
                    <a:lnL w="0" cap="flat" cmpd="sng" algn="ctr">
                      <a:noFill/>
                    </a:lnL>
                    <a:lnR w="0" cap="flat" cmpd="sng" algn="ctr">
                      <a:noFill/>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tcPr>
                </a:tc>
                <a:tc>
                  <a:txBody>
                    <a:bodyPr/>
                    <a:lstStyle/>
                    <a:p>
                      <a:pPr algn="ctr" indent="0" marL="0">
                        <a:buNone/>
                      </a:pPr>
                      <a:r>
                        <a:rPr lang="en-US" sz="1000" dirty="0">
                          <a:solidFill>
                            <a:srgbClr val="222831"/>
                          </a:solidFill>
                          <a:latin typeface="Calibri" pitchFamily="34" charset="0"/>
                          <a:ea typeface="Calibri" pitchFamily="34" charset="-122"/>
                          <a:cs typeface="Calibri" pitchFamily="34" charset="-120"/>
                        </a:rPr>
                        <a:t>3</a:t>
                      </a:r>
                      <a:endParaRPr lang="en-US" sz="1000" dirty="0">
                        <a:latin typeface="Calibri" charset="0"/>
                        <a:ea typeface="Calibri" charset="0"/>
                        <a:cs typeface="Calibri" charset="0"/>
                      </a:endParaRPr>
                    </a:p>
                  </a:txBody>
                  <a:tcPr marL="76200" marR="76200" marT="25400" marB="25400" anchor="ctr">
                    <a:lnL w="0" cap="flat" cmpd="sng" algn="ctr">
                      <a:noFill/>
                    </a:lnL>
                    <a:lnR w="0" cap="flat" cmpd="sng" algn="ctr">
                      <a:noFill/>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tcPr>
                </a:tc>
                <a:tc>
                  <a:txBody>
                    <a:bodyPr/>
                    <a:lstStyle/>
                    <a:p>
                      <a:pPr algn="ctr" indent="0" marL="0">
                        <a:buNone/>
                      </a:pPr>
                      <a:r>
                        <a:rPr lang="en-US" sz="1000" dirty="0">
                          <a:solidFill>
                            <a:srgbClr val="9B2226"/>
                          </a:solidFill>
                          <a:latin typeface="Calibri" pitchFamily="34" charset="0"/>
                          <a:ea typeface="Calibri" pitchFamily="34" charset="-122"/>
                          <a:cs typeface="Calibri" pitchFamily="34" charset="-120"/>
                        </a:rPr>
                        <a:t>8</a:t>
                      </a:r>
                      <a:endParaRPr lang="en-US" sz="1000" dirty="0">
                        <a:latin typeface="Calibri" charset="0"/>
                        <a:ea typeface="Calibri" charset="0"/>
                        <a:cs typeface="Calibri" charset="0"/>
                      </a:endParaRPr>
                    </a:p>
                  </a:txBody>
                  <a:tcPr marL="76200" marR="76200" marT="25400" marB="25400" anchor="ctr">
                    <a:lnL w="0" cap="flat" cmpd="sng" algn="ctr">
                      <a:noFill/>
                    </a:lnL>
                    <a:lnR w="0" cap="flat" cmpd="sng" algn="ctr">
                      <a:noFill/>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tcPr>
                </a:tc>
              </a:tr>
              <a:tr h="274320">
                <a:tc>
                  <a:txBody>
                    <a:bodyPr/>
                    <a:lstStyle/>
                    <a:p>
                      <a:pPr algn="l" indent="0" marL="0">
                        <a:buNone/>
                      </a:pPr>
                      <a:r>
                        <a:rPr lang="en-US" sz="1000" b="1" dirty="0">
                          <a:solidFill>
                            <a:srgbClr val="222831"/>
                          </a:solidFill>
                          <a:latin typeface="Calibri" pitchFamily="34" charset="0"/>
                          <a:ea typeface="Calibri" pitchFamily="34" charset="-122"/>
                          <a:cs typeface="Calibri" pitchFamily="34" charset="-120"/>
                        </a:rPr>
                        <a:t>Portfolio</a:t>
                      </a:r>
                      <a:endParaRPr lang="en-US" sz="1000" dirty="0">
                        <a:latin typeface="Calibri" charset="0"/>
                        <a:ea typeface="Calibri" charset="0"/>
                        <a:cs typeface="Calibri" charset="0"/>
                      </a:endParaRPr>
                    </a:p>
                  </a:txBody>
                  <a:tcPr marL="76200" marR="76200" marT="25400" marB="25400" anchor="ctr">
                    <a:lnL w="0" cap="flat" cmpd="sng" algn="ctr">
                      <a:noFill/>
                    </a:lnL>
                    <a:lnR w="0" cap="flat" cmpd="sng" algn="ctr">
                      <a:noFill/>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tcPr>
                </a:tc>
                <a:tc>
                  <a:txBody>
                    <a:bodyPr/>
                    <a:lstStyle/>
                    <a:p>
                      <a:pPr algn="ctr" indent="0" marL="0">
                        <a:buNone/>
                      </a:pPr>
                      <a:r>
                        <a:rPr lang="en-US" sz="1000" b="1" dirty="0">
                          <a:solidFill>
                            <a:srgbClr val="222831"/>
                          </a:solidFill>
                          <a:latin typeface="Calibri" pitchFamily="34" charset="0"/>
                          <a:ea typeface="Calibri" pitchFamily="34" charset="-122"/>
                          <a:cs typeface="Calibri" pitchFamily="34" charset="-120"/>
                        </a:rPr>
                        <a:t>45</a:t>
                      </a:r>
                      <a:endParaRPr lang="en-US" sz="1000" dirty="0">
                        <a:latin typeface="Calibri" charset="0"/>
                        <a:ea typeface="Calibri" charset="0"/>
                        <a:cs typeface="Calibri" charset="0"/>
                      </a:endParaRPr>
                    </a:p>
                  </a:txBody>
                  <a:tcPr marL="76200" marR="76200" marT="25400" marB="25400" anchor="ctr">
                    <a:lnL w="0" cap="flat" cmpd="sng" algn="ctr">
                      <a:noFill/>
                    </a:lnL>
                    <a:lnR w="0" cap="flat" cmpd="sng" algn="ctr">
                      <a:noFill/>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tcPr>
                </a:tc>
                <a:tc>
                  <a:txBody>
                    <a:bodyPr/>
                    <a:lstStyle/>
                    <a:p>
                      <a:pPr algn="ctr" indent="0" marL="0">
                        <a:buNone/>
                      </a:pPr>
                      <a:r>
                        <a:rPr lang="en-US" sz="1000" b="1" dirty="0">
                          <a:solidFill>
                            <a:srgbClr val="222831"/>
                          </a:solidFill>
                          <a:latin typeface="Calibri" pitchFamily="34" charset="0"/>
                          <a:ea typeface="Calibri" pitchFamily="34" charset="-122"/>
                          <a:cs typeface="Calibri" pitchFamily="34" charset="-120"/>
                        </a:rPr>
                        <a:t>4</a:t>
                      </a:r>
                      <a:endParaRPr lang="en-US" sz="1000" dirty="0">
                        <a:latin typeface="Calibri" charset="0"/>
                        <a:ea typeface="Calibri" charset="0"/>
                        <a:cs typeface="Calibri" charset="0"/>
                      </a:endParaRPr>
                    </a:p>
                  </a:txBody>
                  <a:tcPr marL="76200" marR="76200" marT="25400" marB="25400" anchor="ctr">
                    <a:lnL w="0" cap="flat" cmpd="sng" algn="ctr">
                      <a:noFill/>
                    </a:lnL>
                    <a:lnR w="0" cap="flat" cmpd="sng" algn="ctr">
                      <a:noFill/>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tcPr>
                </a:tc>
                <a:tc>
                  <a:txBody>
                    <a:bodyPr/>
                    <a:lstStyle/>
                    <a:p>
                      <a:pPr algn="ctr" indent="0" marL="0">
                        <a:buNone/>
                      </a:pPr>
                      <a:r>
                        <a:rPr lang="en-US" sz="1000" b="1" dirty="0">
                          <a:solidFill>
                            <a:srgbClr val="222831"/>
                          </a:solidFill>
                          <a:latin typeface="Calibri" pitchFamily="34" charset="0"/>
                          <a:ea typeface="Calibri" pitchFamily="34" charset="-122"/>
                          <a:cs typeface="Calibri" pitchFamily="34" charset="-120"/>
                        </a:rPr>
                        <a:t>18</a:t>
                      </a:r>
                      <a:endParaRPr lang="en-US" sz="1000" dirty="0">
                        <a:latin typeface="Calibri" charset="0"/>
                        <a:ea typeface="Calibri" charset="0"/>
                        <a:cs typeface="Calibri" charset="0"/>
                      </a:endParaRPr>
                    </a:p>
                  </a:txBody>
                  <a:tcPr marL="76200" marR="76200" marT="25400" marB="25400" anchor="ctr">
                    <a:lnL w="0" cap="flat" cmpd="sng" algn="ctr">
                      <a:noFill/>
                    </a:lnL>
                    <a:lnR w="0" cap="flat" cmpd="sng" algn="ctr">
                      <a:noFill/>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tcPr>
                </a:tc>
                <a:tc>
                  <a:txBody>
                    <a:bodyPr/>
                    <a:lstStyle/>
                    <a:p>
                      <a:pPr algn="ctr" indent="0" marL="0">
                        <a:buNone/>
                      </a:pPr>
                      <a:r>
                        <a:rPr lang="en-US" sz="1000" b="1" dirty="0">
                          <a:solidFill>
                            <a:srgbClr val="9B2226"/>
                          </a:solidFill>
                          <a:latin typeface="Calibri" pitchFamily="34" charset="0"/>
                          <a:ea typeface="Calibri" pitchFamily="34" charset="-122"/>
                          <a:cs typeface="Calibri" pitchFamily="34" charset="-120"/>
                        </a:rPr>
                        <a:t>23</a:t>
                      </a:r>
                      <a:endParaRPr lang="en-US" sz="1000" dirty="0">
                        <a:latin typeface="Calibri" charset="0"/>
                        <a:ea typeface="Calibri" charset="0"/>
                        <a:cs typeface="Calibri" charset="0"/>
                      </a:endParaRPr>
                    </a:p>
                  </a:txBody>
                  <a:tcPr marL="76200" marR="76200" marT="25400" marB="25400" anchor="ctr">
                    <a:lnL w="0" cap="flat" cmpd="sng" algn="ctr">
                      <a:noFill/>
                    </a:lnL>
                    <a:lnR w="0" cap="flat" cmpd="sng" algn="ctr">
                      <a:noFill/>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tcPr>
                </a:tc>
              </a:tr>
            </a:tbl>
          </a:graphicData>
        </a:graphic>
      </p:graphicFrame>
      <p:sp>
        <p:nvSpPr>
          <p:cNvPr id="22" name="Shape 19"/>
          <p:cNvSpPr/>
          <p:nvPr/>
        </p:nvSpPr>
        <p:spPr>
          <a:xfrm>
            <a:off x="6248095" y="4059936"/>
            <a:ext cx="5394960" cy="1883664"/>
          </a:xfrm>
          <a:prstGeom prst="roundRect">
            <a:avLst>
              <a:gd name="adj" fmla="val 2913"/>
            </a:avLst>
          </a:prstGeom>
          <a:solidFill>
            <a:srgbClr val="F3F5F8"/>
          </a:solidFill>
          <a:ln w="9525">
            <a:solidFill>
              <a:srgbClr val="DCE1E8"/>
            </a:solidFill>
            <a:prstDash val="solid"/>
          </a:ln>
        </p:spPr>
      </p:sp>
      <p:sp>
        <p:nvSpPr>
          <p:cNvPr id="23" name="Text 20"/>
          <p:cNvSpPr/>
          <p:nvPr/>
        </p:nvSpPr>
        <p:spPr>
          <a:xfrm>
            <a:off x="6540703" y="4297680"/>
            <a:ext cx="4809744" cy="603504"/>
          </a:xfrm>
          <a:prstGeom prst="rect">
            <a:avLst/>
          </a:prstGeom>
          <a:noFill/>
          <a:ln/>
        </p:spPr>
        <p:txBody>
          <a:bodyPr wrap="square" lIns="0" tIns="0" rIns="0" bIns="0" rtlCol="0" anchor="ctr"/>
          <a:lstStyle/>
          <a:p>
            <a:pPr indent="0" marL="0">
              <a:buNone/>
            </a:pPr>
            <a:r>
              <a:rPr lang="en-US" sz="3600" b="1" dirty="0">
                <a:solidFill>
                  <a:srgbClr val="9B2226"/>
                </a:solidFill>
                <a:latin typeface="Cambria" pitchFamily="34" charset="0"/>
                <a:ea typeface="Cambria" pitchFamily="34" charset="-122"/>
                <a:cs typeface="Cambria" pitchFamily="34" charset="-120"/>
              </a:rPr>
              <a:t>51.1%</a:t>
            </a:r>
            <a:endParaRPr lang="en-US" sz="3600" dirty="0"/>
          </a:p>
        </p:txBody>
      </p:sp>
      <p:sp>
        <p:nvSpPr>
          <p:cNvPr id="24" name="Text 21"/>
          <p:cNvSpPr/>
          <p:nvPr/>
        </p:nvSpPr>
        <p:spPr>
          <a:xfrm>
            <a:off x="6540703" y="4956048"/>
            <a:ext cx="4809744" cy="841248"/>
          </a:xfrm>
          <a:prstGeom prst="rect">
            <a:avLst/>
          </a:prstGeom>
          <a:noFill/>
          <a:ln/>
        </p:spPr>
        <p:txBody>
          <a:bodyPr wrap="square" lIns="0" tIns="0" rIns="0" bIns="0" rtlCol="0" anchor="t"/>
          <a:lstStyle/>
          <a:p>
            <a:pPr indent="0" marL="0">
              <a:lnSpc>
                <a:spcPts val="1500"/>
              </a:lnSpc>
              <a:buNone/>
            </a:pPr>
            <a:r>
              <a:rPr lang="en-US" sz="1050" dirty="0">
                <a:solidFill>
                  <a:srgbClr val="222831"/>
                </a:solidFill>
                <a:latin typeface="Calibri" pitchFamily="34" charset="0"/>
                <a:ea typeface="Calibri" pitchFamily="34" charset="-122"/>
                <a:cs typeface="Calibri" pitchFamily="34" charset="-120"/>
              </a:rPr>
              <a:t>of claims the evidence could not carry, withheld before publication rather than after someone questioned them. The count fell from 24 to 23 when a power bug was fixed — see slide 10.</a:t>
            </a:r>
            <a:endParaRPr lang="en-US" sz="1050" dirty="0"/>
          </a:p>
        </p:txBody>
      </p:sp>
      <p:sp>
        <p:nvSpPr>
          <p:cNvPr id="25" name="Text 22"/>
          <p:cNvSpPr/>
          <p:nvPr/>
        </p:nvSpPr>
        <p:spPr>
          <a:xfrm>
            <a:off x="548640" y="6336792"/>
            <a:ext cx="9966960" cy="219456"/>
          </a:xfrm>
          <a:prstGeom prst="rect">
            <a:avLst/>
          </a:prstGeom>
          <a:noFill/>
          <a:ln/>
        </p:spPr>
        <p:txBody>
          <a:bodyPr wrap="square" lIns="0" tIns="0" rIns="0" bIns="0" rtlCol="0" anchor="ctr"/>
          <a:lstStyle/>
          <a:p>
            <a:pPr algn="l" indent="0" marL="0">
              <a:buNone/>
            </a:pPr>
            <a:r>
              <a:rPr lang="en-US" sz="800" dirty="0">
                <a:solidFill>
                  <a:srgbClr val="6E7889"/>
                </a:solidFill>
                <a:latin typeface="Calibri" pitchFamily="34" charset="0"/>
                <a:ea typeface="Calibri" pitchFamily="34" charset="-122"/>
                <a:cs typeface="Calibri" pitchFamily="34" charset="-120"/>
              </a:rPr>
              <a:t>results/portfolio.json  md5 299bd4f19e03caa2cd7e33681340c294  ·  summary.claims_blocked = 23 / claims_submitted = 45 / block_rate = 0.511</a:t>
            </a:r>
            <a:endParaRPr lang="en-US" sz="800" dirty="0"/>
          </a:p>
        </p:txBody>
      </p:sp>
      <p:sp>
        <p:nvSpPr>
          <p:cNvPr id="26" name="Text 23"/>
          <p:cNvSpPr/>
          <p:nvPr/>
        </p:nvSpPr>
        <p:spPr>
          <a:xfrm>
            <a:off x="10927080" y="6336792"/>
            <a:ext cx="713232" cy="219456"/>
          </a:xfrm>
          <a:prstGeom prst="rect">
            <a:avLst/>
          </a:prstGeom>
          <a:noFill/>
          <a:ln/>
        </p:spPr>
        <p:txBody>
          <a:bodyPr wrap="square" lIns="0" tIns="0" rIns="0" bIns="0" rtlCol="0" anchor="ctr"/>
          <a:lstStyle/>
          <a:p>
            <a:pPr algn="r" indent="0" marL="0">
              <a:buNone/>
            </a:pPr>
            <a:r>
              <a:rPr lang="en-US" sz="800" dirty="0">
                <a:solidFill>
                  <a:srgbClr val="6E7889"/>
                </a:solidFill>
                <a:latin typeface="Calibri" pitchFamily="34" charset="0"/>
                <a:ea typeface="Calibri" pitchFamily="34" charset="-122"/>
                <a:cs typeface="Calibri" pitchFamily="34" charset="-120"/>
              </a:rPr>
              <a:t>8</a:t>
            </a:r>
            <a:endParaRPr lang="en-US" sz="8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nvSpPr>
        <p:spPr>
          <a:xfrm>
            <a:off x="548640" y="292608"/>
            <a:ext cx="11094415" cy="201168"/>
          </a:xfrm>
          <a:prstGeom prst="rect">
            <a:avLst/>
          </a:prstGeom>
          <a:noFill/>
          <a:ln/>
        </p:spPr>
        <p:txBody>
          <a:bodyPr wrap="square" lIns="0" tIns="0" rIns="0" bIns="0" rtlCol="0" anchor="ctr"/>
          <a:lstStyle/>
          <a:p>
            <a:pPr indent="0" marL="0">
              <a:buNone/>
            </a:pPr>
            <a:r>
              <a:rPr lang="en-US" sz="950" b="1" spc="160" kern="0" dirty="0">
                <a:solidFill>
                  <a:srgbClr val="6E7889"/>
                </a:solidFill>
                <a:latin typeface="Calibri" pitchFamily="34" charset="0"/>
                <a:ea typeface="Calibri" pitchFamily="34" charset="-122"/>
                <a:cs typeface="Calibri" pitchFamily="34" charset="-120"/>
              </a:rPr>
              <a:t>09  ·  CANDIDATE SELECTION</a:t>
            </a:r>
            <a:endParaRPr lang="en-US" sz="950" dirty="0"/>
          </a:p>
        </p:txBody>
      </p:sp>
      <p:sp>
        <p:nvSpPr>
          <p:cNvPr id="3" name="Text 1"/>
          <p:cNvSpPr/>
          <p:nvPr/>
        </p:nvSpPr>
        <p:spPr>
          <a:xfrm>
            <a:off x="548640" y="530352"/>
            <a:ext cx="11094415" cy="786384"/>
          </a:xfrm>
          <a:prstGeom prst="rect">
            <a:avLst/>
          </a:prstGeom>
          <a:noFill/>
          <a:ln/>
        </p:spPr>
        <p:txBody>
          <a:bodyPr wrap="square" lIns="0" tIns="0" rIns="0" bIns="0" rtlCol="0" anchor="t"/>
          <a:lstStyle/>
          <a:p>
            <a:pPr indent="0" marL="0">
              <a:lnSpc>
                <a:spcPts val="3200"/>
              </a:lnSpc>
              <a:buNone/>
            </a:pPr>
            <a:r>
              <a:rPr lang="en-US" sz="2600" b="1" dirty="0">
                <a:solidFill>
                  <a:srgbClr val="1E3A5F"/>
                </a:solidFill>
                <a:latin typeface="Cambria" pitchFamily="34" charset="0"/>
                <a:ea typeface="Cambria" pitchFamily="34" charset="-122"/>
                <a:cs typeface="Cambria" pitchFamily="34" charset="-120"/>
              </a:rPr>
              <a:t>The eval cannot separate the candidates, and saying so is the result</a:t>
            </a:r>
            <a:endParaRPr lang="en-US" sz="2600" dirty="0"/>
          </a:p>
        </p:txBody>
      </p:sp>
      <p:sp>
        <p:nvSpPr>
          <p:cNvPr id="4" name="Text 2"/>
          <p:cNvSpPr/>
          <p:nvPr/>
        </p:nvSpPr>
        <p:spPr>
          <a:xfrm>
            <a:off x="548640" y="1371600"/>
            <a:ext cx="11094415" cy="402336"/>
          </a:xfrm>
          <a:prstGeom prst="rect">
            <a:avLst/>
          </a:prstGeom>
          <a:noFill/>
          <a:ln/>
        </p:spPr>
        <p:txBody>
          <a:bodyPr wrap="square" lIns="0" tIns="0" rIns="0" bIns="0" rtlCol="0" anchor="t"/>
          <a:lstStyle/>
          <a:p>
            <a:pPr indent="0" marL="0">
              <a:lnSpc>
                <a:spcPts val="1600"/>
              </a:lnSpc>
              <a:buNone/>
            </a:pPr>
            <a:r>
              <a:rPr lang="en-US" sz="1200" dirty="0">
                <a:solidFill>
                  <a:srgbClr val="6E7889"/>
                </a:solidFill>
                <a:latin typeface="Calibri" pitchFamily="34" charset="0"/>
                <a:ea typeface="Calibri" pitchFamily="34" charset="-122"/>
                <a:cs typeface="Calibri" pitchFamily="34" charset="-120"/>
              </a:rPr>
              <a:t>agentic · 48 paired items · cluster bootstrap, 2,000 resamples · MDE at 80% power on the observed scale · 3 tests, Bonferroni-corrected</a:t>
            </a:r>
            <a:endParaRPr lang="en-US" sz="1200" dirty="0"/>
          </a:p>
        </p:txBody>
      </p:sp>
      <p:graphicFrame>
        <p:nvGraphicFramePr>
          <p:cNvPr id="10" name="Table 0"/>
          <p:cNvGraphicFramePr>
            <a:graphicFrameLocks noGrp="1"/>
          </p:cNvGraphicFramePr>
          <p:nvPr>
            <p:extLst>
              <p:ext uri="{D42A27DB-BD31-4B8C-83A1-F6EECF244321}">
                <p14:modId xmlns:p14="http://schemas.microsoft.com/office/powerpoint/2010/main" val="1579011935"/>
              </p:ext>
            </p:extLst>
          </p:nvPr>
        </p:nvGraphicFramePr>
        <p:xfrm>
          <a:off x="548640" y="2139696"/>
          <a:ext cx="9144000" cy="914400"/>
        </p:xfrm>
        <a:graphic>
          <a:graphicData uri="http://schemas.openxmlformats.org/drawingml/2006/table">
            <a:tbl>
              <a:tblPr/>
              <a:tblGrid>
                <a:gridCol w="1783080"/>
                <a:gridCol w="1417320"/>
                <a:gridCol w="1188720"/>
                <a:gridCol w="1965960"/>
                <a:gridCol w="1097280"/>
                <a:gridCol w="3642055"/>
              </a:tblGrid>
              <a:tr h="329184">
                <a:tc>
                  <a:txBody>
                    <a:bodyPr/>
                    <a:lstStyle/>
                    <a:p>
                      <a:pPr algn="l" indent="0" marL="0">
                        <a:buNone/>
                      </a:pPr>
                      <a:r>
                        <a:rPr lang="en-US" sz="950" b="1" dirty="0">
                          <a:solidFill>
                            <a:srgbClr val="FFFFFF"/>
                          </a:solidFill>
                          <a:latin typeface="Calibri" pitchFamily="34" charset="0"/>
                          <a:ea typeface="Calibri" pitchFamily="34" charset="-122"/>
                          <a:cs typeface="Calibri" pitchFamily="34" charset="-120"/>
                        </a:rPr>
                        <a:t>Comparison</a:t>
                      </a:r>
                      <a:endParaRPr lang="en-US" sz="950" dirty="0">
                        <a:latin typeface="Calibri" charset="0"/>
                        <a:ea typeface="Calibri" charset="0"/>
                        <a:cs typeface="Calibri" charset="0"/>
                      </a:endParaRPr>
                    </a:p>
                  </a:txBody>
                  <a:tcPr marL="76200" marR="76200" marT="25400" marB="25400" anchor="ctr">
                    <a:lnL w="0" cap="flat" cmpd="sng" algn="ctr">
                      <a:noFill/>
                    </a:lnL>
                    <a:lnR w="0" cap="flat" cmpd="sng" algn="ctr">
                      <a:noFill/>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1E3A5F"/>
                    </a:solidFill>
                  </a:tcPr>
                </a:tc>
                <a:tc>
                  <a:txBody>
                    <a:bodyPr/>
                    <a:lstStyle/>
                    <a:p>
                      <a:pPr algn="ctr" indent="0" marL="0">
                        <a:buNone/>
                      </a:pPr>
                      <a:r>
                        <a:rPr lang="en-US" sz="950" b="1" dirty="0">
                          <a:solidFill>
                            <a:srgbClr val="FFFFFF"/>
                          </a:solidFill>
                          <a:latin typeface="Calibri" pitchFamily="34" charset="0"/>
                          <a:ea typeface="Calibri" pitchFamily="34" charset="-122"/>
                          <a:cs typeface="Calibri" pitchFamily="34" charset="-120"/>
                        </a:rPr>
                        <a:t>Δ composite</a:t>
                      </a:r>
                      <a:endParaRPr lang="en-US" sz="950" dirty="0">
                        <a:latin typeface="Calibri" charset="0"/>
                        <a:ea typeface="Calibri" charset="0"/>
                        <a:cs typeface="Calibri" charset="0"/>
                      </a:endParaRPr>
                    </a:p>
                  </a:txBody>
                  <a:tcPr marL="76200" marR="76200" marT="25400" marB="25400" anchor="ctr">
                    <a:lnL w="0" cap="flat" cmpd="sng" algn="ctr">
                      <a:noFill/>
                    </a:lnL>
                    <a:lnR w="0" cap="flat" cmpd="sng" algn="ctr">
                      <a:noFill/>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1E3A5F"/>
                    </a:solidFill>
                  </a:tcPr>
                </a:tc>
                <a:tc>
                  <a:txBody>
                    <a:bodyPr/>
                    <a:lstStyle/>
                    <a:p>
                      <a:pPr algn="ctr" indent="0" marL="0">
                        <a:buNone/>
                      </a:pPr>
                      <a:r>
                        <a:rPr lang="en-US" sz="950" b="1" dirty="0">
                          <a:solidFill>
                            <a:srgbClr val="FFFFFF"/>
                          </a:solidFill>
                          <a:latin typeface="Calibri" pitchFamily="34" charset="0"/>
                          <a:ea typeface="Calibri" pitchFamily="34" charset="-122"/>
                          <a:cs typeface="Calibri" pitchFamily="34" charset="-120"/>
                        </a:rPr>
                        <a:t>MDE</a:t>
                      </a:r>
                      <a:endParaRPr lang="en-US" sz="950" dirty="0">
                        <a:latin typeface="Calibri" charset="0"/>
                        <a:ea typeface="Calibri" charset="0"/>
                        <a:cs typeface="Calibri" charset="0"/>
                      </a:endParaRPr>
                    </a:p>
                  </a:txBody>
                  <a:tcPr marL="76200" marR="76200" marT="25400" marB="25400" anchor="ctr">
                    <a:lnL w="0" cap="flat" cmpd="sng" algn="ctr">
                      <a:noFill/>
                    </a:lnL>
                    <a:lnR w="0" cap="flat" cmpd="sng" algn="ctr">
                      <a:noFill/>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1E3A5F"/>
                    </a:solidFill>
                  </a:tcPr>
                </a:tc>
                <a:tc>
                  <a:txBody>
                    <a:bodyPr/>
                    <a:lstStyle/>
                    <a:p>
                      <a:pPr algn="ctr" indent="0" marL="0">
                        <a:buNone/>
                      </a:pPr>
                      <a:r>
                        <a:rPr lang="en-US" sz="950" b="1" dirty="0">
                          <a:solidFill>
                            <a:srgbClr val="FFFFFF"/>
                          </a:solidFill>
                          <a:latin typeface="Calibri" pitchFamily="34" charset="0"/>
                          <a:ea typeface="Calibri" pitchFamily="34" charset="-122"/>
                          <a:cs typeface="Calibri" pitchFamily="34" charset="-120"/>
                        </a:rPr>
                        <a:t>95% CI</a:t>
                      </a:r>
                      <a:endParaRPr lang="en-US" sz="950" dirty="0">
                        <a:latin typeface="Calibri" charset="0"/>
                        <a:ea typeface="Calibri" charset="0"/>
                        <a:cs typeface="Calibri" charset="0"/>
                      </a:endParaRPr>
                    </a:p>
                  </a:txBody>
                  <a:tcPr marL="76200" marR="76200" marT="25400" marB="25400" anchor="ctr">
                    <a:lnL w="0" cap="flat" cmpd="sng" algn="ctr">
                      <a:noFill/>
                    </a:lnL>
                    <a:lnR w="0" cap="flat" cmpd="sng" algn="ctr">
                      <a:noFill/>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1E3A5F"/>
                    </a:solidFill>
                  </a:tcPr>
                </a:tc>
                <a:tc>
                  <a:txBody>
                    <a:bodyPr/>
                    <a:lstStyle/>
                    <a:p>
                      <a:pPr algn="ctr" indent="0" marL="0">
                        <a:buNone/>
                      </a:pPr>
                      <a:r>
                        <a:rPr lang="en-US" sz="950" b="1" dirty="0">
                          <a:solidFill>
                            <a:srgbClr val="FFFFFF"/>
                          </a:solidFill>
                          <a:latin typeface="Calibri" pitchFamily="34" charset="0"/>
                          <a:ea typeface="Calibri" pitchFamily="34" charset="-122"/>
                          <a:cs typeface="Calibri" pitchFamily="34" charset="-120"/>
                        </a:rPr>
                        <a:t>Perm. p</a:t>
                      </a:r>
                      <a:endParaRPr lang="en-US" sz="950" dirty="0">
                        <a:latin typeface="Calibri" charset="0"/>
                        <a:ea typeface="Calibri" charset="0"/>
                        <a:cs typeface="Calibri" charset="0"/>
                      </a:endParaRPr>
                    </a:p>
                  </a:txBody>
                  <a:tcPr marL="76200" marR="76200" marT="25400" marB="25400" anchor="ctr">
                    <a:lnL w="0" cap="flat" cmpd="sng" algn="ctr">
                      <a:noFill/>
                    </a:lnL>
                    <a:lnR w="0" cap="flat" cmpd="sng" algn="ctr">
                      <a:noFill/>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1E3A5F"/>
                    </a:solidFill>
                  </a:tcPr>
                </a:tc>
                <a:tc>
                  <a:txBody>
                    <a:bodyPr/>
                    <a:lstStyle/>
                    <a:p>
                      <a:pPr algn="ctr" indent="0" marL="0">
                        <a:buNone/>
                      </a:pPr>
                      <a:r>
                        <a:rPr lang="en-US" sz="950" b="1" dirty="0">
                          <a:solidFill>
                            <a:srgbClr val="FFFFFF"/>
                          </a:solidFill>
                          <a:latin typeface="Calibri" pitchFamily="34" charset="0"/>
                          <a:ea typeface="Calibri" pitchFamily="34" charset="-122"/>
                          <a:cs typeface="Calibri" pitchFamily="34" charset="-120"/>
                        </a:rPr>
                        <a:t>Verdict</a:t>
                      </a:r>
                      <a:endParaRPr lang="en-US" sz="950" dirty="0">
                        <a:latin typeface="Calibri" charset="0"/>
                        <a:ea typeface="Calibri" charset="0"/>
                        <a:cs typeface="Calibri" charset="0"/>
                      </a:endParaRPr>
                    </a:p>
                  </a:txBody>
                  <a:tcPr marL="76200" marR="76200" marT="25400" marB="25400" anchor="ctr">
                    <a:lnL w="0" cap="flat" cmpd="sng" algn="ctr">
                      <a:noFill/>
                    </a:lnL>
                    <a:lnR w="0" cap="flat" cmpd="sng" algn="ctr">
                      <a:noFill/>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1E3A5F"/>
                    </a:solidFill>
                  </a:tcPr>
                </a:tc>
              </a:tr>
              <a:tr h="329184">
                <a:tc>
                  <a:txBody>
                    <a:bodyPr/>
                    <a:lstStyle/>
                    <a:p>
                      <a:pPr algn="l" indent="0" marL="0">
                        <a:buNone/>
                      </a:pPr>
                      <a:r>
                        <a:rPr lang="en-US" sz="1000" dirty="0">
                          <a:solidFill>
                            <a:srgbClr val="222831"/>
                          </a:solidFill>
                          <a:latin typeface="Courier New" pitchFamily="34" charset="0"/>
                          <a:ea typeface="Courier New" pitchFamily="34" charset="-122"/>
                          <a:cs typeface="Courier New" pitchFamily="34" charset="-120"/>
                        </a:rPr>
                        <a:t>v3 vs baseline</a:t>
                      </a:r>
                      <a:endParaRPr lang="en-US" sz="1000" dirty="0">
                        <a:latin typeface="Courier New" charset="0"/>
                        <a:ea typeface="Courier New" charset="0"/>
                        <a:cs typeface="Courier New" charset="0"/>
                      </a:endParaRPr>
                    </a:p>
                  </a:txBody>
                  <a:tcPr marL="76200" marR="76200" marT="25400" marB="25400" anchor="ctr">
                    <a:lnL w="0" cap="flat" cmpd="sng" algn="ctr">
                      <a:noFill/>
                    </a:lnL>
                    <a:lnR w="0" cap="flat" cmpd="sng" algn="ctr">
                      <a:noFill/>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tcPr>
                </a:tc>
                <a:tc>
                  <a:txBody>
                    <a:bodyPr/>
                    <a:lstStyle/>
                    <a:p>
                      <a:pPr algn="ctr" indent="0" marL="0">
                        <a:buNone/>
                      </a:pPr>
                      <a:r>
                        <a:rPr lang="en-US" sz="1000" b="1" dirty="0">
                          <a:solidFill>
                            <a:srgbClr val="222831"/>
                          </a:solidFill>
                          <a:latin typeface="Calibri" pitchFamily="34" charset="0"/>
                          <a:ea typeface="Calibri" pitchFamily="34" charset="-122"/>
                          <a:cs typeface="Calibri" pitchFamily="34" charset="-120"/>
                        </a:rPr>
                        <a:t>+0.1573</a:t>
                      </a:r>
                      <a:endParaRPr lang="en-US" sz="1000" dirty="0">
                        <a:latin typeface="Calibri" charset="0"/>
                        <a:ea typeface="Calibri" charset="0"/>
                        <a:cs typeface="Calibri" charset="0"/>
                      </a:endParaRPr>
                    </a:p>
                  </a:txBody>
                  <a:tcPr marL="76200" marR="76200" marT="25400" marB="25400" anchor="ctr">
                    <a:lnL w="0" cap="flat" cmpd="sng" algn="ctr">
                      <a:noFill/>
                    </a:lnL>
                    <a:lnR w="0" cap="flat" cmpd="sng" algn="ctr">
                      <a:noFill/>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tcPr>
                </a:tc>
                <a:tc>
                  <a:txBody>
                    <a:bodyPr/>
                    <a:lstStyle/>
                    <a:p>
                      <a:pPr algn="ctr" indent="0" marL="0">
                        <a:buNone/>
                      </a:pPr>
                      <a:r>
                        <a:rPr lang="en-US" sz="1000" dirty="0">
                          <a:solidFill>
                            <a:srgbClr val="222831"/>
                          </a:solidFill>
                          <a:latin typeface="Calibri" pitchFamily="34" charset="0"/>
                          <a:ea typeface="Calibri" pitchFamily="34" charset="-122"/>
                          <a:cs typeface="Calibri" pitchFamily="34" charset="-120"/>
                        </a:rPr>
                        <a:t>0.1075</a:t>
                      </a:r>
                      <a:endParaRPr lang="en-US" sz="1000" dirty="0">
                        <a:latin typeface="Calibri" charset="0"/>
                        <a:ea typeface="Calibri" charset="0"/>
                        <a:cs typeface="Calibri" charset="0"/>
                      </a:endParaRPr>
                    </a:p>
                  </a:txBody>
                  <a:tcPr marL="76200" marR="76200" marT="25400" marB="25400" anchor="ctr">
                    <a:lnL w="0" cap="flat" cmpd="sng" algn="ctr">
                      <a:noFill/>
                    </a:lnL>
                    <a:lnR w="0" cap="flat" cmpd="sng" algn="ctr">
                      <a:noFill/>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tcPr>
                </a:tc>
                <a:tc>
                  <a:txBody>
                    <a:bodyPr/>
                    <a:lstStyle/>
                    <a:p>
                      <a:pPr algn="ctr" indent="0" marL="0">
                        <a:buNone/>
                      </a:pPr>
                      <a:r>
                        <a:rPr lang="en-US" sz="1000" dirty="0">
                          <a:solidFill>
                            <a:srgbClr val="222831"/>
                          </a:solidFill>
                          <a:latin typeface="Calibri" pitchFamily="34" charset="0"/>
                          <a:ea typeface="Calibri" pitchFamily="34" charset="-122"/>
                          <a:cs typeface="Calibri" pitchFamily="34" charset="-120"/>
                        </a:rPr>
                        <a:t>[0.0851, 0.2313]</a:t>
                      </a:r>
                      <a:endParaRPr lang="en-US" sz="1000" dirty="0">
                        <a:latin typeface="Calibri" charset="0"/>
                        <a:ea typeface="Calibri" charset="0"/>
                        <a:cs typeface="Calibri" charset="0"/>
                      </a:endParaRPr>
                    </a:p>
                  </a:txBody>
                  <a:tcPr marL="76200" marR="76200" marT="25400" marB="25400" anchor="ctr">
                    <a:lnL w="0" cap="flat" cmpd="sng" algn="ctr">
                      <a:noFill/>
                    </a:lnL>
                    <a:lnR w="0" cap="flat" cmpd="sng" algn="ctr">
                      <a:noFill/>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tcPr>
                </a:tc>
                <a:tc>
                  <a:txBody>
                    <a:bodyPr/>
                    <a:lstStyle/>
                    <a:p>
                      <a:pPr algn="ctr" indent="0" marL="0">
                        <a:buNone/>
                      </a:pPr>
                      <a:r>
                        <a:rPr lang="en-US" sz="1000" dirty="0">
                          <a:solidFill>
                            <a:srgbClr val="222831"/>
                          </a:solidFill>
                          <a:latin typeface="Calibri" pitchFamily="34" charset="0"/>
                          <a:ea typeface="Calibri" pitchFamily="34" charset="-122"/>
                          <a:cs typeface="Calibri" pitchFamily="34" charset="-120"/>
                        </a:rPr>
                        <a:t>0.0003</a:t>
                      </a:r>
                      <a:endParaRPr lang="en-US" sz="1000" dirty="0">
                        <a:latin typeface="Calibri" charset="0"/>
                        <a:ea typeface="Calibri" charset="0"/>
                        <a:cs typeface="Calibri" charset="0"/>
                      </a:endParaRPr>
                    </a:p>
                  </a:txBody>
                  <a:tcPr marL="76200" marR="76200" marT="25400" marB="25400" anchor="ctr">
                    <a:lnL w="0" cap="flat" cmpd="sng" algn="ctr">
                      <a:noFill/>
                    </a:lnL>
                    <a:lnR w="0" cap="flat" cmpd="sng" algn="ctr">
                      <a:noFill/>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tcPr>
                </a:tc>
                <a:tc>
                  <a:txBody>
                    <a:bodyPr/>
                    <a:lstStyle/>
                    <a:p>
                      <a:pPr algn="ctr" indent="0" marL="0">
                        <a:buNone/>
                      </a:pPr>
                      <a:r>
                        <a:rPr lang="en-US" sz="1000" b="1" dirty="0">
                          <a:solidFill>
                            <a:srgbClr val="2C6E49"/>
                          </a:solidFill>
                          <a:latin typeface="Calibri" pitchFamily="34" charset="0"/>
                          <a:ea typeface="Calibri" pitchFamily="34" charset="-122"/>
                          <a:cs typeface="Calibri" pitchFamily="34" charset="-120"/>
                        </a:rPr>
                        <a:t>CLEARS ITS MDE</a:t>
                      </a:r>
                      <a:endParaRPr lang="en-US" sz="1000" dirty="0">
                        <a:latin typeface="Calibri" charset="0"/>
                        <a:ea typeface="Calibri" charset="0"/>
                        <a:cs typeface="Calibri" charset="0"/>
                      </a:endParaRPr>
                    </a:p>
                  </a:txBody>
                  <a:tcPr marL="76200" marR="76200" marT="25400" marB="25400" anchor="ctr">
                    <a:lnL w="0" cap="flat" cmpd="sng" algn="ctr">
                      <a:noFill/>
                    </a:lnL>
                    <a:lnR w="0" cap="flat" cmpd="sng" algn="ctr">
                      <a:noFill/>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tcPr>
                </a:tc>
              </a:tr>
              <a:tr h="329184">
                <a:tc>
                  <a:txBody>
                    <a:bodyPr/>
                    <a:lstStyle/>
                    <a:p>
                      <a:pPr algn="l" indent="0" marL="0">
                        <a:buNone/>
                      </a:pPr>
                      <a:r>
                        <a:rPr lang="en-US" sz="1000" dirty="0">
                          <a:solidFill>
                            <a:srgbClr val="222831"/>
                          </a:solidFill>
                          <a:latin typeface="Courier New" pitchFamily="34" charset="0"/>
                          <a:ea typeface="Courier New" pitchFamily="34" charset="-122"/>
                          <a:cs typeface="Courier New" pitchFamily="34" charset="-120"/>
                        </a:rPr>
                        <a:t>v2 vs baseline</a:t>
                      </a:r>
                      <a:endParaRPr lang="en-US" sz="1000" dirty="0">
                        <a:latin typeface="Courier New" charset="0"/>
                        <a:ea typeface="Courier New" charset="0"/>
                        <a:cs typeface="Courier New" charset="0"/>
                      </a:endParaRPr>
                    </a:p>
                  </a:txBody>
                  <a:tcPr marL="76200" marR="76200" marT="25400" marB="25400" anchor="ctr">
                    <a:lnL w="0" cap="flat" cmpd="sng" algn="ctr">
                      <a:noFill/>
                    </a:lnL>
                    <a:lnR w="0" cap="flat" cmpd="sng" algn="ctr">
                      <a:noFill/>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tcPr>
                </a:tc>
                <a:tc>
                  <a:txBody>
                    <a:bodyPr/>
                    <a:lstStyle/>
                    <a:p>
                      <a:pPr algn="ctr" indent="0" marL="0">
                        <a:buNone/>
                      </a:pPr>
                      <a:r>
                        <a:rPr lang="en-US" sz="1000" b="1" dirty="0">
                          <a:solidFill>
                            <a:srgbClr val="222831"/>
                          </a:solidFill>
                          <a:latin typeface="Calibri" pitchFamily="34" charset="0"/>
                          <a:ea typeface="Calibri" pitchFamily="34" charset="-122"/>
                          <a:cs typeface="Calibri" pitchFamily="34" charset="-120"/>
                        </a:rPr>
                        <a:t>+0.1243</a:t>
                      </a:r>
                      <a:endParaRPr lang="en-US" sz="1000" dirty="0">
                        <a:latin typeface="Calibri" charset="0"/>
                        <a:ea typeface="Calibri" charset="0"/>
                        <a:cs typeface="Calibri" charset="0"/>
                      </a:endParaRPr>
                    </a:p>
                  </a:txBody>
                  <a:tcPr marL="76200" marR="76200" marT="25400" marB="25400" anchor="ctr">
                    <a:lnL w="0" cap="flat" cmpd="sng" algn="ctr">
                      <a:noFill/>
                    </a:lnL>
                    <a:lnR w="0" cap="flat" cmpd="sng" algn="ctr">
                      <a:noFill/>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tcPr>
                </a:tc>
                <a:tc>
                  <a:txBody>
                    <a:bodyPr/>
                    <a:lstStyle/>
                    <a:p>
                      <a:pPr algn="ctr" indent="0" marL="0">
                        <a:buNone/>
                      </a:pPr>
                      <a:r>
                        <a:rPr lang="en-US" sz="1000" dirty="0">
                          <a:solidFill>
                            <a:srgbClr val="222831"/>
                          </a:solidFill>
                          <a:latin typeface="Calibri" pitchFamily="34" charset="0"/>
                          <a:ea typeface="Calibri" pitchFamily="34" charset="-122"/>
                          <a:cs typeface="Calibri" pitchFamily="34" charset="-120"/>
                        </a:rPr>
                        <a:t>0.1199</a:t>
                      </a:r>
                      <a:endParaRPr lang="en-US" sz="1000" dirty="0">
                        <a:latin typeface="Calibri" charset="0"/>
                        <a:ea typeface="Calibri" charset="0"/>
                        <a:cs typeface="Calibri" charset="0"/>
                      </a:endParaRPr>
                    </a:p>
                  </a:txBody>
                  <a:tcPr marL="76200" marR="76200" marT="25400" marB="25400" anchor="ctr">
                    <a:lnL w="0" cap="flat" cmpd="sng" algn="ctr">
                      <a:noFill/>
                    </a:lnL>
                    <a:lnR w="0" cap="flat" cmpd="sng" algn="ctr">
                      <a:noFill/>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tcPr>
                </a:tc>
                <a:tc>
                  <a:txBody>
                    <a:bodyPr/>
                    <a:lstStyle/>
                    <a:p>
                      <a:pPr algn="ctr" indent="0" marL="0">
                        <a:buNone/>
                      </a:pPr>
                      <a:r>
                        <a:rPr lang="en-US" sz="1000" dirty="0">
                          <a:solidFill>
                            <a:srgbClr val="222831"/>
                          </a:solidFill>
                          <a:latin typeface="Calibri" pitchFamily="34" charset="0"/>
                          <a:ea typeface="Calibri" pitchFamily="34" charset="-122"/>
                          <a:cs typeface="Calibri" pitchFamily="34" charset="-120"/>
                        </a:rPr>
                        <a:t>[0.0414, 0.2115]</a:t>
                      </a:r>
                      <a:endParaRPr lang="en-US" sz="1000" dirty="0">
                        <a:latin typeface="Calibri" charset="0"/>
                        <a:ea typeface="Calibri" charset="0"/>
                        <a:cs typeface="Calibri" charset="0"/>
                      </a:endParaRPr>
                    </a:p>
                  </a:txBody>
                  <a:tcPr marL="76200" marR="76200" marT="25400" marB="25400" anchor="ctr">
                    <a:lnL w="0" cap="flat" cmpd="sng" algn="ctr">
                      <a:noFill/>
                    </a:lnL>
                    <a:lnR w="0" cap="flat" cmpd="sng" algn="ctr">
                      <a:noFill/>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tcPr>
                </a:tc>
                <a:tc>
                  <a:txBody>
                    <a:bodyPr/>
                    <a:lstStyle/>
                    <a:p>
                      <a:pPr algn="ctr" indent="0" marL="0">
                        <a:buNone/>
                      </a:pPr>
                      <a:r>
                        <a:rPr lang="en-US" sz="1000" dirty="0">
                          <a:solidFill>
                            <a:srgbClr val="222831"/>
                          </a:solidFill>
                          <a:latin typeface="Calibri" pitchFamily="34" charset="0"/>
                          <a:ea typeface="Calibri" pitchFamily="34" charset="-122"/>
                          <a:cs typeface="Calibri" pitchFamily="34" charset="-120"/>
                        </a:rPr>
                        <a:t>0.0049</a:t>
                      </a:r>
                      <a:endParaRPr lang="en-US" sz="1000" dirty="0">
                        <a:latin typeface="Calibri" charset="0"/>
                        <a:ea typeface="Calibri" charset="0"/>
                        <a:cs typeface="Calibri" charset="0"/>
                      </a:endParaRPr>
                    </a:p>
                  </a:txBody>
                  <a:tcPr marL="76200" marR="76200" marT="25400" marB="25400" anchor="ctr">
                    <a:lnL w="0" cap="flat" cmpd="sng" algn="ctr">
                      <a:noFill/>
                    </a:lnL>
                    <a:lnR w="0" cap="flat" cmpd="sng" algn="ctr">
                      <a:noFill/>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tcPr>
                </a:tc>
                <a:tc>
                  <a:txBody>
                    <a:bodyPr/>
                    <a:lstStyle/>
                    <a:p>
                      <a:pPr algn="ctr" indent="0" marL="0">
                        <a:buNone/>
                      </a:pPr>
                      <a:r>
                        <a:rPr lang="en-US" sz="1000" b="1" dirty="0">
                          <a:solidFill>
                            <a:srgbClr val="9A6B12"/>
                          </a:solidFill>
                          <a:latin typeface="Calibri" pitchFamily="34" charset="0"/>
                          <a:ea typeface="Calibri" pitchFamily="34" charset="-122"/>
                          <a:cs typeface="Calibri" pitchFamily="34" charset="-120"/>
                        </a:rPr>
                        <a:t>CLEARS — WAS A FALSE BLOCK</a:t>
                      </a:r>
                      <a:endParaRPr lang="en-US" sz="1000" dirty="0">
                        <a:latin typeface="Calibri" charset="0"/>
                        <a:ea typeface="Calibri" charset="0"/>
                        <a:cs typeface="Calibri" charset="0"/>
                      </a:endParaRPr>
                    </a:p>
                  </a:txBody>
                  <a:tcPr marL="76200" marR="76200" marT="25400" marB="25400" anchor="ctr">
                    <a:lnL w="0" cap="flat" cmpd="sng" algn="ctr">
                      <a:noFill/>
                    </a:lnL>
                    <a:lnR w="0" cap="flat" cmpd="sng" algn="ctr">
                      <a:noFill/>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tcPr>
                </a:tc>
              </a:tr>
              <a:tr h="329184">
                <a:tc>
                  <a:txBody>
                    <a:bodyPr/>
                    <a:lstStyle/>
                    <a:p>
                      <a:pPr algn="l" indent="0" marL="0">
                        <a:buNone/>
                      </a:pPr>
                      <a:r>
                        <a:rPr lang="en-US" sz="1000" dirty="0">
                          <a:solidFill>
                            <a:srgbClr val="222831"/>
                          </a:solidFill>
                          <a:latin typeface="Courier New" pitchFamily="34" charset="0"/>
                          <a:ea typeface="Courier New" pitchFamily="34" charset="-122"/>
                          <a:cs typeface="Courier New" pitchFamily="34" charset="-120"/>
                        </a:rPr>
                        <a:t>v2 vs v3</a:t>
                      </a:r>
                      <a:endParaRPr lang="en-US" sz="1000" dirty="0">
                        <a:latin typeface="Courier New" charset="0"/>
                        <a:ea typeface="Courier New" charset="0"/>
                        <a:cs typeface="Courier New" charset="0"/>
                      </a:endParaRPr>
                    </a:p>
                  </a:txBody>
                  <a:tcPr marL="76200" marR="76200" marT="25400" marB="25400" anchor="ctr">
                    <a:lnL w="0" cap="flat" cmpd="sng" algn="ctr">
                      <a:noFill/>
                    </a:lnL>
                    <a:lnR w="0" cap="flat" cmpd="sng" algn="ctr">
                      <a:noFill/>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tcPr>
                </a:tc>
                <a:tc>
                  <a:txBody>
                    <a:bodyPr/>
                    <a:lstStyle/>
                    <a:p>
                      <a:pPr algn="ctr" indent="0" marL="0">
                        <a:buNone/>
                      </a:pPr>
                      <a:r>
                        <a:rPr lang="en-US" sz="1000" b="1" dirty="0">
                          <a:solidFill>
                            <a:srgbClr val="222831"/>
                          </a:solidFill>
                          <a:latin typeface="Calibri" pitchFamily="34" charset="0"/>
                          <a:ea typeface="Calibri" pitchFamily="34" charset="-122"/>
                          <a:cs typeface="Calibri" pitchFamily="34" charset="-120"/>
                        </a:rPr>
                        <a:t>−0.0329</a:t>
                      </a:r>
                      <a:endParaRPr lang="en-US" sz="1000" dirty="0">
                        <a:latin typeface="Calibri" charset="0"/>
                        <a:ea typeface="Calibri" charset="0"/>
                        <a:cs typeface="Calibri" charset="0"/>
                      </a:endParaRPr>
                    </a:p>
                  </a:txBody>
                  <a:tcPr marL="76200" marR="76200" marT="25400" marB="25400" anchor="ctr">
                    <a:lnL w="0" cap="flat" cmpd="sng" algn="ctr">
                      <a:noFill/>
                    </a:lnL>
                    <a:lnR w="0" cap="flat" cmpd="sng" algn="ctr">
                      <a:noFill/>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tcPr>
                </a:tc>
                <a:tc>
                  <a:txBody>
                    <a:bodyPr/>
                    <a:lstStyle/>
                    <a:p>
                      <a:pPr algn="ctr" indent="0" marL="0">
                        <a:buNone/>
                      </a:pPr>
                      <a:r>
                        <a:rPr lang="en-US" sz="1000" dirty="0">
                          <a:solidFill>
                            <a:srgbClr val="222831"/>
                          </a:solidFill>
                          <a:latin typeface="Calibri" pitchFamily="34" charset="0"/>
                          <a:ea typeface="Calibri" pitchFamily="34" charset="-122"/>
                          <a:cs typeface="Calibri" pitchFamily="34" charset="-120"/>
                        </a:rPr>
                        <a:t>0.0944</a:t>
                      </a:r>
                      <a:endParaRPr lang="en-US" sz="1000" dirty="0">
                        <a:latin typeface="Calibri" charset="0"/>
                        <a:ea typeface="Calibri" charset="0"/>
                        <a:cs typeface="Calibri" charset="0"/>
                      </a:endParaRPr>
                    </a:p>
                  </a:txBody>
                  <a:tcPr marL="76200" marR="76200" marT="25400" marB="25400" anchor="ctr">
                    <a:lnL w="0" cap="flat" cmpd="sng" algn="ctr">
                      <a:noFill/>
                    </a:lnL>
                    <a:lnR w="0" cap="flat" cmpd="sng" algn="ctr">
                      <a:noFill/>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tcPr>
                </a:tc>
                <a:tc>
                  <a:txBody>
                    <a:bodyPr/>
                    <a:lstStyle/>
                    <a:p>
                      <a:pPr algn="ctr" indent="0" marL="0">
                        <a:buNone/>
                      </a:pPr>
                      <a:r>
                        <a:rPr lang="en-US" sz="1000" dirty="0">
                          <a:solidFill>
                            <a:srgbClr val="222831"/>
                          </a:solidFill>
                          <a:latin typeface="Calibri" pitchFamily="34" charset="0"/>
                          <a:ea typeface="Calibri" pitchFamily="34" charset="-122"/>
                          <a:cs typeface="Calibri" pitchFamily="34" charset="-120"/>
                        </a:rPr>
                        <a:t>[−0.1000, 0.0320]</a:t>
                      </a:r>
                      <a:endParaRPr lang="en-US" sz="1000" dirty="0">
                        <a:latin typeface="Calibri" charset="0"/>
                        <a:ea typeface="Calibri" charset="0"/>
                        <a:cs typeface="Calibri" charset="0"/>
                      </a:endParaRPr>
                    </a:p>
                  </a:txBody>
                  <a:tcPr marL="76200" marR="76200" marT="25400" marB="25400" anchor="ctr">
                    <a:lnL w="0" cap="flat" cmpd="sng" algn="ctr">
                      <a:noFill/>
                    </a:lnL>
                    <a:lnR w="0" cap="flat" cmpd="sng" algn="ctr">
                      <a:noFill/>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tcPr>
                </a:tc>
                <a:tc>
                  <a:txBody>
                    <a:bodyPr/>
                    <a:lstStyle/>
                    <a:p>
                      <a:pPr algn="ctr" indent="0" marL="0">
                        <a:buNone/>
                      </a:pPr>
                      <a:r>
                        <a:rPr lang="en-US" sz="1000" dirty="0">
                          <a:solidFill>
                            <a:srgbClr val="222831"/>
                          </a:solidFill>
                          <a:latin typeface="Calibri" pitchFamily="34" charset="0"/>
                          <a:ea typeface="Calibri" pitchFamily="34" charset="-122"/>
                          <a:cs typeface="Calibri" pitchFamily="34" charset="-120"/>
                        </a:rPr>
                        <a:t>0.331</a:t>
                      </a:r>
                      <a:endParaRPr lang="en-US" sz="1000" dirty="0">
                        <a:latin typeface="Calibri" charset="0"/>
                        <a:ea typeface="Calibri" charset="0"/>
                        <a:cs typeface="Calibri" charset="0"/>
                      </a:endParaRPr>
                    </a:p>
                  </a:txBody>
                  <a:tcPr marL="76200" marR="76200" marT="25400" marB="25400" anchor="ctr">
                    <a:lnL w="0" cap="flat" cmpd="sng" algn="ctr">
                      <a:noFill/>
                    </a:lnL>
                    <a:lnR w="0" cap="flat" cmpd="sng" algn="ctr">
                      <a:noFill/>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tcPr>
                </a:tc>
                <a:tc>
                  <a:txBody>
                    <a:bodyPr/>
                    <a:lstStyle/>
                    <a:p>
                      <a:pPr algn="ctr" indent="0" marL="0">
                        <a:buNone/>
                      </a:pPr>
                      <a:r>
                        <a:rPr lang="en-US" sz="1000" b="1" dirty="0">
                          <a:solidFill>
                            <a:srgbClr val="9B2226"/>
                          </a:solidFill>
                          <a:latin typeface="Calibri" pitchFamily="34" charset="0"/>
                          <a:ea typeface="Calibri" pitchFamily="34" charset="-122"/>
                          <a:cs typeface="Calibri" pitchFamily="34" charset="-120"/>
                        </a:rPr>
                        <a:t>INSIDE THE NOISE FLOOR</a:t>
                      </a:r>
                      <a:endParaRPr lang="en-US" sz="1000" dirty="0">
                        <a:latin typeface="Calibri" charset="0"/>
                        <a:ea typeface="Calibri" charset="0"/>
                        <a:cs typeface="Calibri" charset="0"/>
                      </a:endParaRPr>
                    </a:p>
                  </a:txBody>
                  <a:tcPr marL="76200" marR="76200" marT="25400" marB="25400" anchor="ctr">
                    <a:lnL w="0" cap="flat" cmpd="sng" algn="ctr">
                      <a:noFill/>
                    </a:lnL>
                    <a:lnR w="0" cap="flat" cmpd="sng" algn="ctr">
                      <a:noFill/>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tcPr>
                </a:tc>
              </a:tr>
            </a:tbl>
          </a:graphicData>
        </a:graphic>
      </p:graphicFrame>
      <p:sp>
        <p:nvSpPr>
          <p:cNvPr id="6" name="Shape 3"/>
          <p:cNvSpPr/>
          <p:nvPr/>
        </p:nvSpPr>
        <p:spPr>
          <a:xfrm>
            <a:off x="548640" y="3566160"/>
            <a:ext cx="5394960" cy="2377440"/>
          </a:xfrm>
          <a:prstGeom prst="roundRect">
            <a:avLst>
              <a:gd name="adj" fmla="val 2308"/>
            </a:avLst>
          </a:prstGeom>
          <a:solidFill>
            <a:srgbClr val="F3F5F8"/>
          </a:solidFill>
          <a:ln w="9525">
            <a:solidFill>
              <a:srgbClr val="DCE1E8"/>
            </a:solidFill>
            <a:prstDash val="solid"/>
          </a:ln>
        </p:spPr>
      </p:sp>
      <p:sp>
        <p:nvSpPr>
          <p:cNvPr id="7" name="Text 4"/>
          <p:cNvSpPr/>
          <p:nvPr/>
        </p:nvSpPr>
        <p:spPr>
          <a:xfrm>
            <a:off x="822960" y="3803904"/>
            <a:ext cx="4846320" cy="219456"/>
          </a:xfrm>
          <a:prstGeom prst="rect">
            <a:avLst/>
          </a:prstGeom>
          <a:noFill/>
          <a:ln/>
        </p:spPr>
        <p:txBody>
          <a:bodyPr wrap="square" lIns="0" tIns="0" rIns="0" bIns="0" rtlCol="0" anchor="ctr"/>
          <a:lstStyle/>
          <a:p>
            <a:pPr indent="0" marL="0">
              <a:buNone/>
            </a:pPr>
            <a:r>
              <a:rPr lang="en-US" sz="1050" b="1" spc="60" kern="0" dirty="0">
                <a:solidFill>
                  <a:srgbClr val="1E3A5F"/>
                </a:solidFill>
                <a:latin typeface="Calibri" pitchFamily="34" charset="0"/>
                <a:ea typeface="Calibri" pitchFamily="34" charset="-122"/>
                <a:cs typeface="Calibri" pitchFamily="34" charset="-120"/>
              </a:rPr>
              <a:t>ON reasoning, NO CONTRAST CLEARS ITS MDE</a:t>
            </a:r>
            <a:endParaRPr lang="en-US" sz="1050" dirty="0"/>
          </a:p>
        </p:txBody>
      </p:sp>
      <p:sp>
        <p:nvSpPr>
          <p:cNvPr id="8" name="Text 5"/>
          <p:cNvSpPr/>
          <p:nvPr/>
        </p:nvSpPr>
        <p:spPr>
          <a:xfrm>
            <a:off x="822960" y="4151376"/>
            <a:ext cx="1691640" cy="274320"/>
          </a:xfrm>
          <a:prstGeom prst="rect">
            <a:avLst/>
          </a:prstGeom>
          <a:noFill/>
          <a:ln/>
        </p:spPr>
        <p:txBody>
          <a:bodyPr wrap="square" lIns="0" tIns="0" rIns="0" bIns="0" rtlCol="0" anchor="ctr"/>
          <a:lstStyle/>
          <a:p>
            <a:pPr indent="0" marL="0">
              <a:buNone/>
            </a:pPr>
            <a:r>
              <a:rPr lang="en-US" sz="1000" dirty="0">
                <a:solidFill>
                  <a:srgbClr val="222831"/>
                </a:solidFill>
                <a:latin typeface="Courier New" pitchFamily="34" charset="0"/>
                <a:ea typeface="Courier New" pitchFamily="34" charset="-122"/>
                <a:cs typeface="Courier New" pitchFamily="34" charset="-120"/>
              </a:rPr>
              <a:t>v2 vs baseline</a:t>
            </a:r>
            <a:endParaRPr lang="en-US" sz="1000" dirty="0"/>
          </a:p>
        </p:txBody>
      </p:sp>
      <p:sp>
        <p:nvSpPr>
          <p:cNvPr id="9" name="Text 6"/>
          <p:cNvSpPr/>
          <p:nvPr/>
        </p:nvSpPr>
        <p:spPr>
          <a:xfrm>
            <a:off x="2560320" y="4151376"/>
            <a:ext cx="1188720" cy="274320"/>
          </a:xfrm>
          <a:prstGeom prst="rect">
            <a:avLst/>
          </a:prstGeom>
          <a:noFill/>
          <a:ln/>
        </p:spPr>
        <p:txBody>
          <a:bodyPr wrap="square" lIns="0" tIns="0" rIns="0" bIns="0" rtlCol="0" anchor="ctr"/>
          <a:lstStyle/>
          <a:p>
            <a:pPr indent="0" marL="0">
              <a:buNone/>
            </a:pPr>
            <a:r>
              <a:rPr lang="en-US" sz="1000" dirty="0">
                <a:solidFill>
                  <a:srgbClr val="222831"/>
                </a:solidFill>
                <a:latin typeface="Calibri" pitchFamily="34" charset="0"/>
                <a:ea typeface="Calibri" pitchFamily="34" charset="-122"/>
                <a:cs typeface="Calibri" pitchFamily="34" charset="-120"/>
              </a:rPr>
              <a:t>Δ +0.0497</a:t>
            </a:r>
            <a:endParaRPr lang="en-US" sz="1000" dirty="0"/>
          </a:p>
        </p:txBody>
      </p:sp>
      <p:sp>
        <p:nvSpPr>
          <p:cNvPr id="10" name="Text 7"/>
          <p:cNvSpPr/>
          <p:nvPr/>
        </p:nvSpPr>
        <p:spPr>
          <a:xfrm>
            <a:off x="3749040" y="4151376"/>
            <a:ext cx="1280160" cy="274320"/>
          </a:xfrm>
          <a:prstGeom prst="rect">
            <a:avLst/>
          </a:prstGeom>
          <a:noFill/>
          <a:ln/>
        </p:spPr>
        <p:txBody>
          <a:bodyPr wrap="square" lIns="0" tIns="0" rIns="0" bIns="0" rtlCol="0" anchor="ctr"/>
          <a:lstStyle/>
          <a:p>
            <a:pPr indent="0" marL="0">
              <a:buNone/>
            </a:pPr>
            <a:r>
              <a:rPr lang="en-US" sz="1000" dirty="0">
                <a:solidFill>
                  <a:srgbClr val="9B2226"/>
                </a:solidFill>
                <a:latin typeface="Calibri" pitchFamily="34" charset="0"/>
                <a:ea typeface="Calibri" pitchFamily="34" charset="-122"/>
                <a:cs typeface="Calibri" pitchFamily="34" charset="-120"/>
              </a:rPr>
              <a:t>MDE 0.1404</a:t>
            </a:r>
            <a:endParaRPr lang="en-US" sz="1000" dirty="0"/>
          </a:p>
        </p:txBody>
      </p:sp>
      <p:sp>
        <p:nvSpPr>
          <p:cNvPr id="11" name="Text 8"/>
          <p:cNvSpPr/>
          <p:nvPr/>
        </p:nvSpPr>
        <p:spPr>
          <a:xfrm>
            <a:off x="822960" y="4462272"/>
            <a:ext cx="1691640" cy="274320"/>
          </a:xfrm>
          <a:prstGeom prst="rect">
            <a:avLst/>
          </a:prstGeom>
          <a:noFill/>
          <a:ln/>
        </p:spPr>
        <p:txBody>
          <a:bodyPr wrap="square" lIns="0" tIns="0" rIns="0" bIns="0" rtlCol="0" anchor="ctr"/>
          <a:lstStyle/>
          <a:p>
            <a:pPr indent="0" marL="0">
              <a:buNone/>
            </a:pPr>
            <a:r>
              <a:rPr lang="en-US" sz="1000" dirty="0">
                <a:solidFill>
                  <a:srgbClr val="222831"/>
                </a:solidFill>
                <a:latin typeface="Courier New" pitchFamily="34" charset="0"/>
                <a:ea typeface="Courier New" pitchFamily="34" charset="-122"/>
                <a:cs typeface="Courier New" pitchFamily="34" charset="-120"/>
              </a:rPr>
              <a:t>v2 vs v3</a:t>
            </a:r>
            <a:endParaRPr lang="en-US" sz="1000" dirty="0"/>
          </a:p>
        </p:txBody>
      </p:sp>
      <p:sp>
        <p:nvSpPr>
          <p:cNvPr id="12" name="Text 9"/>
          <p:cNvSpPr/>
          <p:nvPr/>
        </p:nvSpPr>
        <p:spPr>
          <a:xfrm>
            <a:off x="2560320" y="4462272"/>
            <a:ext cx="1188720" cy="274320"/>
          </a:xfrm>
          <a:prstGeom prst="rect">
            <a:avLst/>
          </a:prstGeom>
          <a:noFill/>
          <a:ln/>
        </p:spPr>
        <p:txBody>
          <a:bodyPr wrap="square" lIns="0" tIns="0" rIns="0" bIns="0" rtlCol="0" anchor="ctr"/>
          <a:lstStyle/>
          <a:p>
            <a:pPr indent="0" marL="0">
              <a:buNone/>
            </a:pPr>
            <a:r>
              <a:rPr lang="en-US" sz="1000" dirty="0">
                <a:solidFill>
                  <a:srgbClr val="222831"/>
                </a:solidFill>
                <a:latin typeface="Calibri" pitchFamily="34" charset="0"/>
                <a:ea typeface="Calibri" pitchFamily="34" charset="-122"/>
                <a:cs typeface="Calibri" pitchFamily="34" charset="-120"/>
              </a:rPr>
              <a:t>Δ +0.0385</a:t>
            </a:r>
            <a:endParaRPr lang="en-US" sz="1000" dirty="0"/>
          </a:p>
        </p:txBody>
      </p:sp>
      <p:sp>
        <p:nvSpPr>
          <p:cNvPr id="13" name="Text 10"/>
          <p:cNvSpPr/>
          <p:nvPr/>
        </p:nvSpPr>
        <p:spPr>
          <a:xfrm>
            <a:off x="3749040" y="4462272"/>
            <a:ext cx="1280160" cy="274320"/>
          </a:xfrm>
          <a:prstGeom prst="rect">
            <a:avLst/>
          </a:prstGeom>
          <a:noFill/>
          <a:ln/>
        </p:spPr>
        <p:txBody>
          <a:bodyPr wrap="square" lIns="0" tIns="0" rIns="0" bIns="0" rtlCol="0" anchor="ctr"/>
          <a:lstStyle/>
          <a:p>
            <a:pPr indent="0" marL="0">
              <a:buNone/>
            </a:pPr>
            <a:r>
              <a:rPr lang="en-US" sz="1000" dirty="0">
                <a:solidFill>
                  <a:srgbClr val="9B2226"/>
                </a:solidFill>
                <a:latin typeface="Calibri" pitchFamily="34" charset="0"/>
                <a:ea typeface="Calibri" pitchFamily="34" charset="-122"/>
                <a:cs typeface="Calibri" pitchFamily="34" charset="-120"/>
              </a:rPr>
              <a:t>MDE 0.1271</a:t>
            </a:r>
            <a:endParaRPr lang="en-US" sz="1000" dirty="0"/>
          </a:p>
        </p:txBody>
      </p:sp>
      <p:sp>
        <p:nvSpPr>
          <p:cNvPr id="14" name="Text 11"/>
          <p:cNvSpPr/>
          <p:nvPr/>
        </p:nvSpPr>
        <p:spPr>
          <a:xfrm>
            <a:off x="822960" y="4773168"/>
            <a:ext cx="1691640" cy="274320"/>
          </a:xfrm>
          <a:prstGeom prst="rect">
            <a:avLst/>
          </a:prstGeom>
          <a:noFill/>
          <a:ln/>
        </p:spPr>
        <p:txBody>
          <a:bodyPr wrap="square" lIns="0" tIns="0" rIns="0" bIns="0" rtlCol="0" anchor="ctr"/>
          <a:lstStyle/>
          <a:p>
            <a:pPr indent="0" marL="0">
              <a:buNone/>
            </a:pPr>
            <a:r>
              <a:rPr lang="en-US" sz="1000" dirty="0">
                <a:solidFill>
                  <a:srgbClr val="222831"/>
                </a:solidFill>
                <a:latin typeface="Courier New" pitchFamily="34" charset="0"/>
                <a:ea typeface="Courier New" pitchFamily="34" charset="-122"/>
                <a:cs typeface="Courier New" pitchFamily="34" charset="-120"/>
              </a:rPr>
              <a:t>v3 vs baseline</a:t>
            </a:r>
            <a:endParaRPr lang="en-US" sz="1000" dirty="0"/>
          </a:p>
        </p:txBody>
      </p:sp>
      <p:sp>
        <p:nvSpPr>
          <p:cNvPr id="15" name="Text 12"/>
          <p:cNvSpPr/>
          <p:nvPr/>
        </p:nvSpPr>
        <p:spPr>
          <a:xfrm>
            <a:off x="2560320" y="4773168"/>
            <a:ext cx="1188720" cy="274320"/>
          </a:xfrm>
          <a:prstGeom prst="rect">
            <a:avLst/>
          </a:prstGeom>
          <a:noFill/>
          <a:ln/>
        </p:spPr>
        <p:txBody>
          <a:bodyPr wrap="square" lIns="0" tIns="0" rIns="0" bIns="0" rtlCol="0" anchor="ctr"/>
          <a:lstStyle/>
          <a:p>
            <a:pPr indent="0" marL="0">
              <a:buNone/>
            </a:pPr>
            <a:r>
              <a:rPr lang="en-US" sz="1000" dirty="0">
                <a:solidFill>
                  <a:srgbClr val="222831"/>
                </a:solidFill>
                <a:latin typeface="Calibri" pitchFamily="34" charset="0"/>
                <a:ea typeface="Calibri" pitchFamily="34" charset="-122"/>
                <a:cs typeface="Calibri" pitchFamily="34" charset="-120"/>
              </a:rPr>
              <a:t>Δ +0.0112</a:t>
            </a:r>
            <a:endParaRPr lang="en-US" sz="1000" dirty="0"/>
          </a:p>
        </p:txBody>
      </p:sp>
      <p:sp>
        <p:nvSpPr>
          <p:cNvPr id="16" name="Text 13"/>
          <p:cNvSpPr/>
          <p:nvPr/>
        </p:nvSpPr>
        <p:spPr>
          <a:xfrm>
            <a:off x="3749040" y="4773168"/>
            <a:ext cx="1280160" cy="274320"/>
          </a:xfrm>
          <a:prstGeom prst="rect">
            <a:avLst/>
          </a:prstGeom>
          <a:noFill/>
          <a:ln/>
        </p:spPr>
        <p:txBody>
          <a:bodyPr wrap="square" lIns="0" tIns="0" rIns="0" bIns="0" rtlCol="0" anchor="ctr"/>
          <a:lstStyle/>
          <a:p>
            <a:pPr indent="0" marL="0">
              <a:buNone/>
            </a:pPr>
            <a:r>
              <a:rPr lang="en-US" sz="1000" dirty="0">
                <a:solidFill>
                  <a:srgbClr val="9B2226"/>
                </a:solidFill>
                <a:latin typeface="Calibri" pitchFamily="34" charset="0"/>
                <a:ea typeface="Calibri" pitchFamily="34" charset="-122"/>
                <a:cs typeface="Calibri" pitchFamily="34" charset="-120"/>
              </a:rPr>
              <a:t>MDE 0.1267</a:t>
            </a:r>
            <a:endParaRPr lang="en-US" sz="1000" dirty="0"/>
          </a:p>
        </p:txBody>
      </p:sp>
      <p:sp>
        <p:nvSpPr>
          <p:cNvPr id="17" name="Text 14"/>
          <p:cNvSpPr/>
          <p:nvPr/>
        </p:nvSpPr>
        <p:spPr>
          <a:xfrm>
            <a:off x="822960" y="5175504"/>
            <a:ext cx="4846320" cy="603504"/>
          </a:xfrm>
          <a:prstGeom prst="rect">
            <a:avLst/>
          </a:prstGeom>
          <a:noFill/>
          <a:ln/>
        </p:spPr>
        <p:txBody>
          <a:bodyPr wrap="square" lIns="0" tIns="0" rIns="0" bIns="0" rtlCol="0" anchor="t"/>
          <a:lstStyle/>
          <a:p>
            <a:pPr indent="0" marL="0">
              <a:lnSpc>
                <a:spcPts val="1500"/>
              </a:lnSpc>
              <a:buNone/>
            </a:pPr>
            <a:r>
              <a:rPr lang="en-US" sz="1050" dirty="0">
                <a:solidFill>
                  <a:srgbClr val="222831"/>
                </a:solidFill>
                <a:latin typeface="Calibri" pitchFamily="34" charset="0"/>
                <a:ea typeface="Calibri" pitchFamily="34" charset="-122"/>
                <a:cs typeface="Calibri" pitchFamily="34" charset="-120"/>
              </a:rPr>
              <a:t>Every ranking claim on that track is blocked. The design was never powered to order these systems, and the run says so rather than reporting a three-point “improvement”.</a:t>
            </a:r>
            <a:endParaRPr lang="en-US" sz="1050" dirty="0"/>
          </a:p>
        </p:txBody>
      </p:sp>
      <p:sp>
        <p:nvSpPr>
          <p:cNvPr id="18" name="Shape 15"/>
          <p:cNvSpPr/>
          <p:nvPr/>
        </p:nvSpPr>
        <p:spPr>
          <a:xfrm>
            <a:off x="6248095" y="3566160"/>
            <a:ext cx="5394960" cy="2377440"/>
          </a:xfrm>
          <a:prstGeom prst="roundRect">
            <a:avLst>
              <a:gd name="adj" fmla="val 2308"/>
            </a:avLst>
          </a:prstGeom>
          <a:solidFill>
            <a:srgbClr val="F3F5F8"/>
          </a:solidFill>
          <a:ln w="9525">
            <a:solidFill>
              <a:srgbClr val="DCE1E8"/>
            </a:solidFill>
            <a:prstDash val="solid"/>
          </a:ln>
        </p:spPr>
      </p:sp>
      <p:sp>
        <p:nvSpPr>
          <p:cNvPr id="19" name="Text 16"/>
          <p:cNvSpPr/>
          <p:nvPr/>
        </p:nvSpPr>
        <p:spPr>
          <a:xfrm>
            <a:off x="6522415" y="3803904"/>
            <a:ext cx="4846320" cy="219456"/>
          </a:xfrm>
          <a:prstGeom prst="rect">
            <a:avLst/>
          </a:prstGeom>
          <a:noFill/>
          <a:ln/>
        </p:spPr>
        <p:txBody>
          <a:bodyPr wrap="square" lIns="0" tIns="0" rIns="0" bIns="0" rtlCol="0" anchor="ctr"/>
          <a:lstStyle/>
          <a:p>
            <a:pPr indent="0" marL="0">
              <a:buNone/>
            </a:pPr>
            <a:r>
              <a:rPr lang="en-US" sz="1050" b="1" spc="60" kern="0" dirty="0">
                <a:solidFill>
                  <a:srgbClr val="1E3A5F"/>
                </a:solidFill>
                <a:latin typeface="Calibri" pitchFamily="34" charset="0"/>
                <a:ea typeface="Calibri" pitchFamily="34" charset="-122"/>
                <a:cs typeface="Calibri" pitchFamily="34" charset="-120"/>
              </a:rPr>
              <a:t>SIGNIFICANCE IS NOT THE BAR</a:t>
            </a:r>
            <a:endParaRPr lang="en-US" sz="1050" dirty="0"/>
          </a:p>
        </p:txBody>
      </p:sp>
      <p:sp>
        <p:nvSpPr>
          <p:cNvPr id="20" name="Text 17"/>
          <p:cNvSpPr/>
          <p:nvPr/>
        </p:nvSpPr>
        <p:spPr>
          <a:xfrm>
            <a:off x="6522415" y="4151376"/>
            <a:ext cx="4846320" cy="1700784"/>
          </a:xfrm>
          <a:prstGeom prst="rect">
            <a:avLst/>
          </a:prstGeom>
          <a:noFill/>
          <a:ln/>
        </p:spPr>
        <p:txBody>
          <a:bodyPr wrap="square" lIns="0" tIns="0" rIns="0" bIns="0" rtlCol="0" anchor="t"/>
          <a:lstStyle/>
          <a:p>
            <a:pPr indent="0" marL="0">
              <a:lnSpc>
                <a:spcPts val="1500"/>
              </a:lnSpc>
              <a:spcAft>
                <a:spcPts val="800"/>
              </a:spcAft>
              <a:buNone/>
            </a:pPr>
            <a:r>
              <a:rPr lang="en-US" sz="1050" dirty="0">
                <a:solidFill>
                  <a:srgbClr val="222831"/>
                </a:solidFill>
                <a:latin typeface="Calibri" pitchFamily="34" charset="0"/>
                <a:ea typeface="Calibri" pitchFamily="34" charset="-122"/>
                <a:cs typeface="Calibri" pitchFamily="34" charset="-120"/>
              </a:rPr>
              <a:t>One of three agentic comparisons orders two candidates, and it is the one against the baseline. The candidate-versus-candidate ranking is blocked, not footnoted.</a:t>
            </a:r>
            <a:endParaRPr lang="en-US" sz="1050" dirty="0"/>
          </a:p>
          <a:p>
            <a:pPr indent="0" marL="0">
              <a:lnSpc>
                <a:spcPts val="1500"/>
              </a:lnSpc>
              <a:spcAft>
                <a:spcPts val="800"/>
              </a:spcAft>
              <a:buNone/>
            </a:pPr>
            <a:r>
              <a:rPr lang="en-US" sz="1050" dirty="0">
                <a:solidFill>
                  <a:srgbClr val="222831"/>
                </a:solidFill>
                <a:latin typeface="Calibri" pitchFamily="34" charset="0"/>
                <a:ea typeface="Calibri" pitchFamily="34" charset="-122"/>
                <a:cs typeface="Calibri" pitchFamily="34" charset="-120"/>
              </a:rPr>
              <a:t>To resolve a 0.05 difference on v2-vs-v3 this design needs n ≥ 172 against the 48 items held. A p-value alone will clear a bar the measurement cannot.</a:t>
            </a:r>
            <a:endParaRPr lang="en-US" sz="1050" dirty="0"/>
          </a:p>
          <a:p>
            <a:pPr indent="0" marL="0">
              <a:lnSpc>
                <a:spcPts val="1500"/>
              </a:lnSpc>
              <a:spcAft>
                <a:spcPts val="800"/>
              </a:spcAft>
              <a:buNone/>
            </a:pPr>
            <a:r>
              <a:rPr lang="en-US" sz="1050" dirty="0">
                <a:solidFill>
                  <a:srgbClr val="222831"/>
                </a:solidFill>
                <a:latin typeface="Calibri" pitchFamily="34" charset="0"/>
                <a:ea typeface="Calibri" pitchFamily="34" charset="-122"/>
                <a:cs typeface="Calibri" pitchFamily="34" charset="-120"/>
              </a:rPr>
              <a:t>The MDE is computed at plain n against the observed SD, which already carries the measurement error. The true-score-scale MDE and n_eff are reported alongside and never compounded with it — slide 10.</a:t>
            </a:r>
            <a:endParaRPr lang="en-US" sz="1050" dirty="0"/>
          </a:p>
        </p:txBody>
      </p:sp>
      <p:sp>
        <p:nvSpPr>
          <p:cNvPr id="21" name="Text 18"/>
          <p:cNvSpPr/>
          <p:nvPr/>
        </p:nvSpPr>
        <p:spPr>
          <a:xfrm>
            <a:off x="548640" y="6336792"/>
            <a:ext cx="9966960" cy="219456"/>
          </a:xfrm>
          <a:prstGeom prst="rect">
            <a:avLst/>
          </a:prstGeom>
          <a:noFill/>
          <a:ln/>
        </p:spPr>
        <p:txBody>
          <a:bodyPr wrap="square" lIns="0" tIns="0" rIns="0" bIns="0" rtlCol="0" anchor="ctr"/>
          <a:lstStyle/>
          <a:p>
            <a:pPr algn="l" indent="0" marL="0">
              <a:buNone/>
            </a:pPr>
            <a:r>
              <a:rPr lang="en-US" sz="800" dirty="0">
                <a:solidFill>
                  <a:srgbClr val="6E7889"/>
                </a:solidFill>
                <a:latin typeface="Calibri" pitchFamily="34" charset="0"/>
                <a:ea typeface="Calibri" pitchFamily="34" charset="-122"/>
                <a:cs typeface="Calibri" pitchFamily="34" charset="-120"/>
              </a:rPr>
              <a:t>results/portfolio.json  md5 299bd4f19e03caa2cd7e33681340c294  ·  tracks.{agentic,reasoning}.comparison.comparisons[*].power.mde_absolute</a:t>
            </a:r>
            <a:endParaRPr lang="en-US" sz="800" dirty="0"/>
          </a:p>
        </p:txBody>
      </p:sp>
      <p:sp>
        <p:nvSpPr>
          <p:cNvPr id="22" name="Text 19"/>
          <p:cNvSpPr/>
          <p:nvPr/>
        </p:nvSpPr>
        <p:spPr>
          <a:xfrm>
            <a:off x="10927080" y="6336792"/>
            <a:ext cx="713232" cy="219456"/>
          </a:xfrm>
          <a:prstGeom prst="rect">
            <a:avLst/>
          </a:prstGeom>
          <a:noFill/>
          <a:ln/>
        </p:spPr>
        <p:txBody>
          <a:bodyPr wrap="square" lIns="0" tIns="0" rIns="0" bIns="0" rtlCol="0" anchor="ctr"/>
          <a:lstStyle/>
          <a:p>
            <a:pPr algn="r" indent="0" marL="0">
              <a:buNone/>
            </a:pPr>
            <a:r>
              <a:rPr lang="en-US" sz="800" dirty="0">
                <a:solidFill>
                  <a:srgbClr val="6E7889"/>
                </a:solidFill>
                <a:latin typeface="Calibri" pitchFamily="34" charset="0"/>
                <a:ea typeface="Calibri" pitchFamily="34" charset="-122"/>
                <a:cs typeface="Calibri" pitchFamily="34" charset="-120"/>
              </a:rPr>
              <a:t>9</a:t>
            </a:r>
            <a:endParaRPr lang="en-US" sz="8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nvSpPr>
        <p:spPr>
          <a:xfrm>
            <a:off x="548640" y="292608"/>
            <a:ext cx="11094415" cy="201168"/>
          </a:xfrm>
          <a:prstGeom prst="rect">
            <a:avLst/>
          </a:prstGeom>
          <a:noFill/>
          <a:ln/>
        </p:spPr>
        <p:txBody>
          <a:bodyPr wrap="square" lIns="0" tIns="0" rIns="0" bIns="0" rtlCol="0" anchor="ctr"/>
          <a:lstStyle/>
          <a:p>
            <a:pPr indent="0" marL="0">
              <a:buNone/>
            </a:pPr>
            <a:r>
              <a:rPr lang="en-US" sz="950" b="1" spc="160" kern="0" dirty="0">
                <a:solidFill>
                  <a:srgbClr val="6E7889"/>
                </a:solidFill>
                <a:latin typeface="Calibri" pitchFamily="34" charset="0"/>
                <a:ea typeface="Calibri" pitchFamily="34" charset="-122"/>
                <a:cs typeface="Calibri" pitchFamily="34" charset="-120"/>
              </a:rPr>
              <a:t>10  ·  THE RELIABILITY TAX</a:t>
            </a:r>
            <a:endParaRPr lang="en-US" sz="950" dirty="0"/>
          </a:p>
        </p:txBody>
      </p:sp>
      <p:sp>
        <p:nvSpPr>
          <p:cNvPr id="3" name="Text 1"/>
          <p:cNvSpPr/>
          <p:nvPr/>
        </p:nvSpPr>
        <p:spPr>
          <a:xfrm>
            <a:off x="548640" y="530352"/>
            <a:ext cx="11094415" cy="786384"/>
          </a:xfrm>
          <a:prstGeom prst="rect">
            <a:avLst/>
          </a:prstGeom>
          <a:noFill/>
          <a:ln/>
        </p:spPr>
        <p:txBody>
          <a:bodyPr wrap="square" lIns="0" tIns="0" rIns="0" bIns="0" rtlCol="0" anchor="t"/>
          <a:lstStyle/>
          <a:p>
            <a:pPr indent="0" marL="0">
              <a:lnSpc>
                <a:spcPts val="3200"/>
              </a:lnSpc>
              <a:buNone/>
            </a:pPr>
            <a:r>
              <a:rPr lang="en-US" sz="2600" b="1" dirty="0">
                <a:solidFill>
                  <a:srgbClr val="1E3A5F"/>
                </a:solidFill>
                <a:latin typeface="Cambria" pitchFamily="34" charset="0"/>
                <a:ea typeface="Cambria" pitchFamily="34" charset="-122"/>
                <a:cs typeface="Cambria" pitchFamily="34" charset="-120"/>
              </a:rPr>
              <a:t>Reliability is not one number — and using the wrong one moved a verdict</a:t>
            </a:r>
            <a:endParaRPr lang="en-US" sz="2600" dirty="0"/>
          </a:p>
        </p:txBody>
      </p:sp>
      <p:sp>
        <p:nvSpPr>
          <p:cNvPr id="4" name="Text 2"/>
          <p:cNvSpPr/>
          <p:nvPr/>
        </p:nvSpPr>
        <p:spPr>
          <a:xfrm>
            <a:off x="548640" y="1371600"/>
            <a:ext cx="11094415" cy="402336"/>
          </a:xfrm>
          <a:prstGeom prst="rect">
            <a:avLst/>
          </a:prstGeom>
          <a:noFill/>
          <a:ln/>
        </p:spPr>
        <p:txBody>
          <a:bodyPr wrap="square" lIns="0" tIns="0" rIns="0" bIns="0" rtlCol="0" anchor="t"/>
          <a:lstStyle/>
          <a:p>
            <a:pPr indent="0" marL="0">
              <a:lnSpc>
                <a:spcPts val="1600"/>
              </a:lnSpc>
              <a:buNone/>
            </a:pPr>
            <a:r>
              <a:rPr lang="en-US" sz="1200" dirty="0">
                <a:solidFill>
                  <a:srgbClr val="6E7889"/>
                </a:solidFill>
                <a:latin typeface="Calibri" pitchFamily="34" charset="0"/>
                <a:ea typeface="Calibri" pitchFamily="34" charset="-122"/>
                <a:cs typeface="Calibri" pitchFamily="34" charset="-120"/>
              </a:rPr>
              <a:t>The comparisons are made on the per-item mean of a weighted composite across three annotators, so neither a single dimension's α nor the mean of them is its reliability.</a:t>
            </a:r>
            <a:endParaRPr lang="en-US" sz="1200" dirty="0"/>
          </a:p>
        </p:txBody>
      </p:sp>
      <p:graphicFrame>
        <p:nvGraphicFramePr>
          <p:cNvPr id="11" name="Table 0"/>
          <p:cNvGraphicFramePr>
            <a:graphicFrameLocks noGrp="1"/>
          </p:cNvGraphicFramePr>
          <p:nvPr>
            <p:extLst>
              <p:ext uri="{D42A27DB-BD31-4B8C-83A1-F6EECF244321}">
                <p14:modId xmlns:p14="http://schemas.microsoft.com/office/powerpoint/2010/main" val="1579011935"/>
              </p:ext>
            </p:extLst>
          </p:nvPr>
        </p:nvGraphicFramePr>
        <p:xfrm>
          <a:off x="548640" y="2084832"/>
          <a:ext cx="9144000" cy="914400"/>
        </p:xfrm>
        <a:graphic>
          <a:graphicData uri="http://schemas.openxmlformats.org/drawingml/2006/table">
            <a:tbl>
              <a:tblPr/>
              <a:tblGrid>
                <a:gridCol w="1737360"/>
                <a:gridCol w="2377440"/>
                <a:gridCol w="1645920"/>
                <a:gridCol w="1554480"/>
                <a:gridCol w="914400"/>
                <a:gridCol w="1097280"/>
                <a:gridCol w="1767535"/>
              </a:tblGrid>
              <a:tr h="292608">
                <a:tc>
                  <a:txBody>
                    <a:bodyPr/>
                    <a:lstStyle/>
                    <a:p>
                      <a:pPr algn="l" indent="0" marL="0">
                        <a:buNone/>
                      </a:pPr>
                      <a:r>
                        <a:rPr lang="en-US" sz="950" b="1" dirty="0">
                          <a:solidFill>
                            <a:srgbClr val="FFFFFF"/>
                          </a:solidFill>
                          <a:latin typeface="Calibri" pitchFamily="34" charset="0"/>
                          <a:ea typeface="Calibri" pitchFamily="34" charset="-122"/>
                          <a:cs typeface="Calibri" pitchFamily="34" charset="-120"/>
                        </a:rPr>
                        <a:t>Track</a:t>
                      </a:r>
                      <a:endParaRPr lang="en-US" sz="950" dirty="0">
                        <a:latin typeface="Calibri" charset="0"/>
                        <a:ea typeface="Calibri" charset="0"/>
                        <a:cs typeface="Calibri" charset="0"/>
                      </a:endParaRPr>
                    </a:p>
                  </a:txBody>
                  <a:tcPr marL="76200" marR="76200" marT="25400" marB="25400" anchor="ctr">
                    <a:lnL w="0" cap="flat" cmpd="sng" algn="ctr">
                      <a:noFill/>
                    </a:lnL>
                    <a:lnR w="0" cap="flat" cmpd="sng" algn="ctr">
                      <a:noFill/>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1E3A5F"/>
                    </a:solidFill>
                  </a:tcPr>
                </a:tc>
                <a:tc>
                  <a:txBody>
                    <a:bodyPr/>
                    <a:lstStyle/>
                    <a:p>
                      <a:pPr algn="ctr" indent="0" marL="0">
                        <a:buNone/>
                      </a:pPr>
                      <a:r>
                        <a:rPr lang="en-US" sz="950" b="1" dirty="0">
                          <a:solidFill>
                            <a:srgbClr val="FFFFFF"/>
                          </a:solidFill>
                          <a:latin typeface="Calibri" pitchFamily="34" charset="0"/>
                          <a:ea typeface="Calibri" pitchFamily="34" charset="-122"/>
                          <a:cs typeface="Calibri" pitchFamily="34" charset="-120"/>
                        </a:rPr>
                        <a:t>Mean per-dimension α</a:t>
                      </a:r>
                      <a:endParaRPr lang="en-US" sz="950" dirty="0">
                        <a:latin typeface="Calibri" charset="0"/>
                        <a:ea typeface="Calibri" charset="0"/>
                        <a:cs typeface="Calibri" charset="0"/>
                      </a:endParaRPr>
                    </a:p>
                  </a:txBody>
                  <a:tcPr marL="76200" marR="76200" marT="25400" marB="25400" anchor="ctr">
                    <a:lnL w="0" cap="flat" cmpd="sng" algn="ctr">
                      <a:noFill/>
                    </a:lnL>
                    <a:lnR w="0" cap="flat" cmpd="sng" algn="ctr">
                      <a:noFill/>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1E3A5F"/>
                    </a:solidFill>
                  </a:tcPr>
                </a:tc>
                <a:tc>
                  <a:txBody>
                    <a:bodyPr/>
                    <a:lstStyle/>
                    <a:p>
                      <a:pPr algn="ctr" indent="0" marL="0">
                        <a:buNone/>
                      </a:pPr>
                      <a:r>
                        <a:rPr lang="en-US" sz="950" b="1" dirty="0">
                          <a:solidFill>
                            <a:srgbClr val="FFFFFF"/>
                          </a:solidFill>
                          <a:latin typeface="Calibri" pitchFamily="34" charset="0"/>
                          <a:ea typeface="Calibri" pitchFamily="34" charset="-122"/>
                          <a:cs typeface="Calibri" pitchFamily="34" charset="-120"/>
                        </a:rPr>
                        <a:t>Composite ρ₁</a:t>
                      </a:r>
                      <a:endParaRPr lang="en-US" sz="950" dirty="0">
                        <a:latin typeface="Calibri" charset="0"/>
                        <a:ea typeface="Calibri" charset="0"/>
                        <a:cs typeface="Calibri" charset="0"/>
                      </a:endParaRPr>
                    </a:p>
                  </a:txBody>
                  <a:tcPr marL="76200" marR="76200" marT="25400" marB="25400" anchor="ctr">
                    <a:lnL w="0" cap="flat" cmpd="sng" algn="ctr">
                      <a:noFill/>
                    </a:lnL>
                    <a:lnR w="0" cap="flat" cmpd="sng" algn="ctr">
                      <a:noFill/>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1E3A5F"/>
                    </a:solidFill>
                  </a:tcPr>
                </a:tc>
                <a:tc>
                  <a:txBody>
                    <a:bodyPr/>
                    <a:lstStyle/>
                    <a:p>
                      <a:pPr algn="ctr" indent="0" marL="0">
                        <a:buNone/>
                      </a:pPr>
                      <a:r>
                        <a:rPr lang="en-US" sz="950" b="1" dirty="0">
                          <a:solidFill>
                            <a:srgbClr val="FFFFFF"/>
                          </a:solidFill>
                          <a:latin typeface="Calibri" pitchFamily="34" charset="0"/>
                          <a:ea typeface="Calibri" pitchFamily="34" charset="-122"/>
                          <a:cs typeface="Calibri" pitchFamily="34" charset="-120"/>
                        </a:rPr>
                        <a:t>3-rater ρ₃</a:t>
                      </a:r>
                      <a:endParaRPr lang="en-US" sz="950" dirty="0">
                        <a:latin typeface="Calibri" charset="0"/>
                        <a:ea typeface="Calibri" charset="0"/>
                        <a:cs typeface="Calibri" charset="0"/>
                      </a:endParaRPr>
                    </a:p>
                  </a:txBody>
                  <a:tcPr marL="76200" marR="76200" marT="25400" marB="25400" anchor="ctr">
                    <a:lnL w="0" cap="flat" cmpd="sng" algn="ctr">
                      <a:noFill/>
                    </a:lnL>
                    <a:lnR w="0" cap="flat" cmpd="sng" algn="ctr">
                      <a:noFill/>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1E3A5F"/>
                    </a:solidFill>
                  </a:tcPr>
                </a:tc>
                <a:tc>
                  <a:txBody>
                    <a:bodyPr/>
                    <a:lstStyle/>
                    <a:p>
                      <a:pPr algn="ctr" indent="0" marL="0">
                        <a:buNone/>
                      </a:pPr>
                      <a:r>
                        <a:rPr lang="en-US" sz="950" b="1" dirty="0">
                          <a:solidFill>
                            <a:srgbClr val="FFFFFF"/>
                          </a:solidFill>
                          <a:latin typeface="Calibri" pitchFamily="34" charset="0"/>
                          <a:ea typeface="Calibri" pitchFamily="34" charset="-122"/>
                          <a:cs typeface="Calibri" pitchFamily="34" charset="-120"/>
                        </a:rPr>
                        <a:t>n</a:t>
                      </a:r>
                      <a:endParaRPr lang="en-US" sz="950" dirty="0">
                        <a:latin typeface="Calibri" charset="0"/>
                        <a:ea typeface="Calibri" charset="0"/>
                        <a:cs typeface="Calibri" charset="0"/>
                      </a:endParaRPr>
                    </a:p>
                  </a:txBody>
                  <a:tcPr marL="76200" marR="76200" marT="25400" marB="25400" anchor="ctr">
                    <a:lnL w="0" cap="flat" cmpd="sng" algn="ctr">
                      <a:noFill/>
                    </a:lnL>
                    <a:lnR w="0" cap="flat" cmpd="sng" algn="ctr">
                      <a:noFill/>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1E3A5F"/>
                    </a:solidFill>
                  </a:tcPr>
                </a:tc>
                <a:tc>
                  <a:txBody>
                    <a:bodyPr/>
                    <a:lstStyle/>
                    <a:p>
                      <a:pPr algn="ctr" indent="0" marL="0">
                        <a:buNone/>
                      </a:pPr>
                      <a:r>
                        <a:rPr lang="en-US" sz="950" b="1" dirty="0">
                          <a:solidFill>
                            <a:srgbClr val="FFFFFF"/>
                          </a:solidFill>
                          <a:latin typeface="Calibri" pitchFamily="34" charset="0"/>
                          <a:ea typeface="Calibri" pitchFamily="34" charset="-122"/>
                          <a:cs typeface="Calibri" pitchFamily="34" charset="-120"/>
                        </a:rPr>
                        <a:t>n_eff</a:t>
                      </a:r>
                      <a:endParaRPr lang="en-US" sz="950" dirty="0">
                        <a:latin typeface="Calibri" charset="0"/>
                        <a:ea typeface="Calibri" charset="0"/>
                        <a:cs typeface="Calibri" charset="0"/>
                      </a:endParaRPr>
                    </a:p>
                  </a:txBody>
                  <a:tcPr marL="76200" marR="76200" marT="25400" marB="25400" anchor="ctr">
                    <a:lnL w="0" cap="flat" cmpd="sng" algn="ctr">
                      <a:noFill/>
                    </a:lnL>
                    <a:lnR w="0" cap="flat" cmpd="sng" algn="ctr">
                      <a:noFill/>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1E3A5F"/>
                    </a:solidFill>
                  </a:tcPr>
                </a:tc>
                <a:tc>
                  <a:txBody>
                    <a:bodyPr/>
                    <a:lstStyle/>
                    <a:p>
                      <a:pPr algn="ctr" indent="0" marL="0">
                        <a:buNone/>
                      </a:pPr>
                      <a:r>
                        <a:rPr lang="en-US" sz="950" b="1" dirty="0">
                          <a:solidFill>
                            <a:srgbClr val="FFFFFF"/>
                          </a:solidFill>
                          <a:latin typeface="Calibri" pitchFamily="34" charset="0"/>
                          <a:ea typeface="Calibri" pitchFamily="34" charset="-122"/>
                          <a:cs typeface="Calibri" pitchFamily="34" charset="-120"/>
                        </a:rPr>
                        <a:t>Precision lost</a:t>
                      </a:r>
                      <a:endParaRPr lang="en-US" sz="950" dirty="0">
                        <a:latin typeface="Calibri" charset="0"/>
                        <a:ea typeface="Calibri" charset="0"/>
                        <a:cs typeface="Calibri" charset="0"/>
                      </a:endParaRPr>
                    </a:p>
                  </a:txBody>
                  <a:tcPr marL="76200" marR="76200" marT="25400" marB="25400" anchor="ctr">
                    <a:lnL w="0" cap="flat" cmpd="sng" algn="ctr">
                      <a:noFill/>
                    </a:lnL>
                    <a:lnR w="0" cap="flat" cmpd="sng" algn="ctr">
                      <a:noFill/>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1E3A5F"/>
                    </a:solidFill>
                  </a:tcPr>
                </a:tc>
              </a:tr>
              <a:tr h="292608">
                <a:tc>
                  <a:txBody>
                    <a:bodyPr/>
                    <a:lstStyle/>
                    <a:p>
                      <a:pPr algn="l" indent="0" marL="0">
                        <a:buNone/>
                      </a:pPr>
                      <a:r>
                        <a:rPr lang="en-US" sz="1000" dirty="0">
                          <a:solidFill>
                            <a:srgbClr val="222831"/>
                          </a:solidFill>
                          <a:latin typeface="Courier New" pitchFamily="34" charset="0"/>
                          <a:ea typeface="Courier New" pitchFamily="34" charset="-122"/>
                          <a:cs typeface="Courier New" pitchFamily="34" charset="-120"/>
                        </a:rPr>
                        <a:t>agentic</a:t>
                      </a:r>
                      <a:endParaRPr lang="en-US" sz="1000" dirty="0">
                        <a:latin typeface="Courier New" charset="0"/>
                        <a:ea typeface="Courier New" charset="0"/>
                        <a:cs typeface="Courier New" charset="0"/>
                      </a:endParaRPr>
                    </a:p>
                  </a:txBody>
                  <a:tcPr marL="76200" marR="76200" marT="25400" marB="25400" anchor="ctr">
                    <a:lnL w="0" cap="flat" cmpd="sng" algn="ctr">
                      <a:noFill/>
                    </a:lnL>
                    <a:lnR w="0" cap="flat" cmpd="sng" algn="ctr">
                      <a:noFill/>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tcPr>
                </a:tc>
                <a:tc>
                  <a:txBody>
                    <a:bodyPr/>
                    <a:lstStyle/>
                    <a:p>
                      <a:pPr algn="ctr" indent="0" marL="0">
                        <a:buNone/>
                      </a:pPr>
                      <a:r>
                        <a:rPr lang="en-US" sz="1000" dirty="0">
                          <a:solidFill>
                            <a:srgbClr val="6E7889"/>
                          </a:solidFill>
                          <a:latin typeface="Calibri" pitchFamily="34" charset="0"/>
                          <a:ea typeface="Calibri" pitchFamily="34" charset="-122"/>
                          <a:cs typeface="Calibri" pitchFamily="34" charset="-120"/>
                        </a:rPr>
                        <a:t>0.5841</a:t>
                      </a:r>
                      <a:endParaRPr lang="en-US" sz="1000" dirty="0">
                        <a:latin typeface="Calibri" charset="0"/>
                        <a:ea typeface="Calibri" charset="0"/>
                        <a:cs typeface="Calibri" charset="0"/>
                      </a:endParaRPr>
                    </a:p>
                  </a:txBody>
                  <a:tcPr marL="76200" marR="76200" marT="25400" marB="25400" anchor="ctr">
                    <a:lnL w="0" cap="flat" cmpd="sng" algn="ctr">
                      <a:noFill/>
                    </a:lnL>
                    <a:lnR w="0" cap="flat" cmpd="sng" algn="ctr">
                      <a:noFill/>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tcPr>
                </a:tc>
                <a:tc>
                  <a:txBody>
                    <a:bodyPr/>
                    <a:lstStyle/>
                    <a:p>
                      <a:pPr algn="ctr" indent="0" marL="0">
                        <a:buNone/>
                      </a:pPr>
                      <a:r>
                        <a:rPr lang="en-US" sz="1000" dirty="0">
                          <a:solidFill>
                            <a:srgbClr val="222831"/>
                          </a:solidFill>
                          <a:latin typeface="Calibri" pitchFamily="34" charset="0"/>
                          <a:ea typeface="Calibri" pitchFamily="34" charset="-122"/>
                          <a:cs typeface="Calibri" pitchFamily="34" charset="-120"/>
                        </a:rPr>
                        <a:t>0.7497</a:t>
                      </a:r>
                      <a:endParaRPr lang="en-US" sz="1000" dirty="0">
                        <a:latin typeface="Calibri" charset="0"/>
                        <a:ea typeface="Calibri" charset="0"/>
                        <a:cs typeface="Calibri" charset="0"/>
                      </a:endParaRPr>
                    </a:p>
                  </a:txBody>
                  <a:tcPr marL="76200" marR="76200" marT="25400" marB="25400" anchor="ctr">
                    <a:lnL w="0" cap="flat" cmpd="sng" algn="ctr">
                      <a:noFill/>
                    </a:lnL>
                    <a:lnR w="0" cap="flat" cmpd="sng" algn="ctr">
                      <a:noFill/>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tcPr>
                </a:tc>
                <a:tc>
                  <a:txBody>
                    <a:bodyPr/>
                    <a:lstStyle/>
                    <a:p>
                      <a:pPr algn="ctr" indent="0" marL="0">
                        <a:buNone/>
                      </a:pPr>
                      <a:r>
                        <a:rPr lang="en-US" sz="1000" b="1" dirty="0">
                          <a:solidFill>
                            <a:srgbClr val="222831"/>
                          </a:solidFill>
                          <a:latin typeface="Calibri" pitchFamily="34" charset="0"/>
                          <a:ea typeface="Calibri" pitchFamily="34" charset="-122"/>
                          <a:cs typeface="Calibri" pitchFamily="34" charset="-120"/>
                        </a:rPr>
                        <a:t>0.8999</a:t>
                      </a:r>
                      <a:endParaRPr lang="en-US" sz="1000" dirty="0">
                        <a:latin typeface="Calibri" charset="0"/>
                        <a:ea typeface="Calibri" charset="0"/>
                        <a:cs typeface="Calibri" charset="0"/>
                      </a:endParaRPr>
                    </a:p>
                  </a:txBody>
                  <a:tcPr marL="76200" marR="76200" marT="25400" marB="25400" anchor="ctr">
                    <a:lnL w="0" cap="flat" cmpd="sng" algn="ctr">
                      <a:noFill/>
                    </a:lnL>
                    <a:lnR w="0" cap="flat" cmpd="sng" algn="ctr">
                      <a:noFill/>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tcPr>
                </a:tc>
                <a:tc>
                  <a:txBody>
                    <a:bodyPr/>
                    <a:lstStyle/>
                    <a:p>
                      <a:pPr algn="ctr" indent="0" marL="0">
                        <a:buNone/>
                      </a:pPr>
                      <a:r>
                        <a:rPr lang="en-US" sz="1000" dirty="0">
                          <a:solidFill>
                            <a:srgbClr val="222831"/>
                          </a:solidFill>
                          <a:latin typeface="Calibri" pitchFamily="34" charset="0"/>
                          <a:ea typeface="Calibri" pitchFamily="34" charset="-122"/>
                          <a:cs typeface="Calibri" pitchFamily="34" charset="-120"/>
                        </a:rPr>
                        <a:t>48</a:t>
                      </a:r>
                      <a:endParaRPr lang="en-US" sz="1000" dirty="0">
                        <a:latin typeface="Calibri" charset="0"/>
                        <a:ea typeface="Calibri" charset="0"/>
                        <a:cs typeface="Calibri" charset="0"/>
                      </a:endParaRPr>
                    </a:p>
                  </a:txBody>
                  <a:tcPr marL="76200" marR="76200" marT="25400" marB="25400" anchor="ctr">
                    <a:lnL w="0" cap="flat" cmpd="sng" algn="ctr">
                      <a:noFill/>
                    </a:lnL>
                    <a:lnR w="0" cap="flat" cmpd="sng" algn="ctr">
                      <a:noFill/>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tcPr>
                </a:tc>
                <a:tc>
                  <a:txBody>
                    <a:bodyPr/>
                    <a:lstStyle/>
                    <a:p>
                      <a:pPr algn="ctr" indent="0" marL="0">
                        <a:buNone/>
                      </a:pPr>
                      <a:r>
                        <a:rPr lang="en-US" sz="1000" dirty="0">
                          <a:solidFill>
                            <a:srgbClr val="222831"/>
                          </a:solidFill>
                          <a:latin typeface="Calibri" pitchFamily="34" charset="0"/>
                          <a:ea typeface="Calibri" pitchFamily="34" charset="-122"/>
                          <a:cs typeface="Calibri" pitchFamily="34" charset="-120"/>
                        </a:rPr>
                        <a:t>43.2</a:t>
                      </a:r>
                      <a:endParaRPr lang="en-US" sz="1000" dirty="0">
                        <a:latin typeface="Calibri" charset="0"/>
                        <a:ea typeface="Calibri" charset="0"/>
                        <a:cs typeface="Calibri" charset="0"/>
                      </a:endParaRPr>
                    </a:p>
                  </a:txBody>
                  <a:tcPr marL="76200" marR="76200" marT="25400" marB="25400" anchor="ctr">
                    <a:lnL w="0" cap="flat" cmpd="sng" algn="ctr">
                      <a:noFill/>
                    </a:lnL>
                    <a:lnR w="0" cap="flat" cmpd="sng" algn="ctr">
                      <a:noFill/>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tcPr>
                </a:tc>
                <a:tc>
                  <a:txBody>
                    <a:bodyPr/>
                    <a:lstStyle/>
                    <a:p>
                      <a:pPr algn="ctr" indent="0" marL="0">
                        <a:buNone/>
                      </a:pPr>
                      <a:r>
                        <a:rPr lang="en-US" sz="1000" dirty="0">
                          <a:solidFill>
                            <a:srgbClr val="2C6E49"/>
                          </a:solidFill>
                          <a:latin typeface="Calibri" pitchFamily="34" charset="0"/>
                          <a:ea typeface="Calibri" pitchFamily="34" charset="-122"/>
                          <a:cs typeface="Calibri" pitchFamily="34" charset="-120"/>
                        </a:rPr>
                        <a:t>10%</a:t>
                      </a:r>
                      <a:endParaRPr lang="en-US" sz="1000" dirty="0">
                        <a:latin typeface="Calibri" charset="0"/>
                        <a:ea typeface="Calibri" charset="0"/>
                        <a:cs typeface="Calibri" charset="0"/>
                      </a:endParaRPr>
                    </a:p>
                  </a:txBody>
                  <a:tcPr marL="76200" marR="76200" marT="25400" marB="25400" anchor="ctr">
                    <a:lnL w="0" cap="flat" cmpd="sng" algn="ctr">
                      <a:noFill/>
                    </a:lnL>
                    <a:lnR w="0" cap="flat" cmpd="sng" algn="ctr">
                      <a:noFill/>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tcPr>
                </a:tc>
              </a:tr>
              <a:tr h="292608">
                <a:tc>
                  <a:txBody>
                    <a:bodyPr/>
                    <a:lstStyle/>
                    <a:p>
                      <a:pPr algn="l" indent="0" marL="0">
                        <a:buNone/>
                      </a:pPr>
                      <a:r>
                        <a:rPr lang="en-US" sz="1000" dirty="0">
                          <a:solidFill>
                            <a:srgbClr val="222831"/>
                          </a:solidFill>
                          <a:latin typeface="Courier New" pitchFamily="34" charset="0"/>
                          <a:ea typeface="Courier New" pitchFamily="34" charset="-122"/>
                          <a:cs typeface="Courier New" pitchFamily="34" charset="-120"/>
                        </a:rPr>
                        <a:t>grounding</a:t>
                      </a:r>
                      <a:endParaRPr lang="en-US" sz="1000" dirty="0">
                        <a:latin typeface="Courier New" charset="0"/>
                        <a:ea typeface="Courier New" charset="0"/>
                        <a:cs typeface="Courier New" charset="0"/>
                      </a:endParaRPr>
                    </a:p>
                  </a:txBody>
                  <a:tcPr marL="76200" marR="76200" marT="25400" marB="25400" anchor="ctr">
                    <a:lnL w="0" cap="flat" cmpd="sng" algn="ctr">
                      <a:noFill/>
                    </a:lnL>
                    <a:lnR w="0" cap="flat" cmpd="sng" algn="ctr">
                      <a:noFill/>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tcPr>
                </a:tc>
                <a:tc>
                  <a:txBody>
                    <a:bodyPr/>
                    <a:lstStyle/>
                    <a:p>
                      <a:pPr algn="ctr" indent="0" marL="0">
                        <a:buNone/>
                      </a:pPr>
                      <a:r>
                        <a:rPr lang="en-US" sz="1000" dirty="0">
                          <a:solidFill>
                            <a:srgbClr val="6E7889"/>
                          </a:solidFill>
                          <a:latin typeface="Calibri" pitchFamily="34" charset="0"/>
                          <a:ea typeface="Calibri" pitchFamily="34" charset="-122"/>
                          <a:cs typeface="Calibri" pitchFamily="34" charset="-120"/>
                        </a:rPr>
                        <a:t>0.4791</a:t>
                      </a:r>
                      <a:endParaRPr lang="en-US" sz="1000" dirty="0">
                        <a:latin typeface="Calibri" charset="0"/>
                        <a:ea typeface="Calibri" charset="0"/>
                        <a:cs typeface="Calibri" charset="0"/>
                      </a:endParaRPr>
                    </a:p>
                  </a:txBody>
                  <a:tcPr marL="76200" marR="76200" marT="25400" marB="25400" anchor="ctr">
                    <a:lnL w="0" cap="flat" cmpd="sng" algn="ctr">
                      <a:noFill/>
                    </a:lnL>
                    <a:lnR w="0" cap="flat" cmpd="sng" algn="ctr">
                      <a:noFill/>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tcPr>
                </a:tc>
                <a:tc>
                  <a:txBody>
                    <a:bodyPr/>
                    <a:lstStyle/>
                    <a:p>
                      <a:pPr algn="ctr" indent="0" marL="0">
                        <a:buNone/>
                      </a:pPr>
                      <a:r>
                        <a:rPr lang="en-US" sz="1000" dirty="0">
                          <a:solidFill>
                            <a:srgbClr val="222831"/>
                          </a:solidFill>
                          <a:latin typeface="Calibri" pitchFamily="34" charset="0"/>
                          <a:ea typeface="Calibri" pitchFamily="34" charset="-122"/>
                          <a:cs typeface="Calibri" pitchFamily="34" charset="-120"/>
                        </a:rPr>
                        <a:t>0.7600</a:t>
                      </a:r>
                      <a:endParaRPr lang="en-US" sz="1000" dirty="0">
                        <a:latin typeface="Calibri" charset="0"/>
                        <a:ea typeface="Calibri" charset="0"/>
                        <a:cs typeface="Calibri" charset="0"/>
                      </a:endParaRPr>
                    </a:p>
                  </a:txBody>
                  <a:tcPr marL="76200" marR="76200" marT="25400" marB="25400" anchor="ctr">
                    <a:lnL w="0" cap="flat" cmpd="sng" algn="ctr">
                      <a:noFill/>
                    </a:lnL>
                    <a:lnR w="0" cap="flat" cmpd="sng" algn="ctr">
                      <a:noFill/>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tcPr>
                </a:tc>
                <a:tc>
                  <a:txBody>
                    <a:bodyPr/>
                    <a:lstStyle/>
                    <a:p>
                      <a:pPr algn="ctr" indent="0" marL="0">
                        <a:buNone/>
                      </a:pPr>
                      <a:r>
                        <a:rPr lang="en-US" sz="1000" b="1" dirty="0">
                          <a:solidFill>
                            <a:srgbClr val="222831"/>
                          </a:solidFill>
                          <a:latin typeface="Calibri" pitchFamily="34" charset="0"/>
                          <a:ea typeface="Calibri" pitchFamily="34" charset="-122"/>
                          <a:cs typeface="Calibri" pitchFamily="34" charset="-120"/>
                        </a:rPr>
                        <a:t>0.9047</a:t>
                      </a:r>
                      <a:endParaRPr lang="en-US" sz="1000" dirty="0">
                        <a:latin typeface="Calibri" charset="0"/>
                        <a:ea typeface="Calibri" charset="0"/>
                        <a:cs typeface="Calibri" charset="0"/>
                      </a:endParaRPr>
                    </a:p>
                  </a:txBody>
                  <a:tcPr marL="76200" marR="76200" marT="25400" marB="25400" anchor="ctr">
                    <a:lnL w="0" cap="flat" cmpd="sng" algn="ctr">
                      <a:noFill/>
                    </a:lnL>
                    <a:lnR w="0" cap="flat" cmpd="sng" algn="ctr">
                      <a:noFill/>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tcPr>
                </a:tc>
                <a:tc>
                  <a:txBody>
                    <a:bodyPr/>
                    <a:lstStyle/>
                    <a:p>
                      <a:pPr algn="ctr" indent="0" marL="0">
                        <a:buNone/>
                      </a:pPr>
                      <a:r>
                        <a:rPr lang="en-US" sz="1000" dirty="0">
                          <a:solidFill>
                            <a:srgbClr val="222831"/>
                          </a:solidFill>
                          <a:latin typeface="Calibri" pitchFamily="34" charset="0"/>
                          <a:ea typeface="Calibri" pitchFamily="34" charset="-122"/>
                          <a:cs typeface="Calibri" pitchFamily="34" charset="-120"/>
                        </a:rPr>
                        <a:t>40</a:t>
                      </a:r>
                      <a:endParaRPr lang="en-US" sz="1000" dirty="0">
                        <a:latin typeface="Calibri" charset="0"/>
                        <a:ea typeface="Calibri" charset="0"/>
                        <a:cs typeface="Calibri" charset="0"/>
                      </a:endParaRPr>
                    </a:p>
                  </a:txBody>
                  <a:tcPr marL="76200" marR="76200" marT="25400" marB="25400" anchor="ctr">
                    <a:lnL w="0" cap="flat" cmpd="sng" algn="ctr">
                      <a:noFill/>
                    </a:lnL>
                    <a:lnR w="0" cap="flat" cmpd="sng" algn="ctr">
                      <a:noFill/>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tcPr>
                </a:tc>
                <a:tc>
                  <a:txBody>
                    <a:bodyPr/>
                    <a:lstStyle/>
                    <a:p>
                      <a:pPr algn="ctr" indent="0" marL="0">
                        <a:buNone/>
                      </a:pPr>
                      <a:r>
                        <a:rPr lang="en-US" sz="1000" dirty="0">
                          <a:solidFill>
                            <a:srgbClr val="222831"/>
                          </a:solidFill>
                          <a:latin typeface="Calibri" pitchFamily="34" charset="0"/>
                          <a:ea typeface="Calibri" pitchFamily="34" charset="-122"/>
                          <a:cs typeface="Calibri" pitchFamily="34" charset="-120"/>
                        </a:rPr>
                        <a:t>36.2</a:t>
                      </a:r>
                      <a:endParaRPr lang="en-US" sz="1000" dirty="0">
                        <a:latin typeface="Calibri" charset="0"/>
                        <a:ea typeface="Calibri" charset="0"/>
                        <a:cs typeface="Calibri" charset="0"/>
                      </a:endParaRPr>
                    </a:p>
                  </a:txBody>
                  <a:tcPr marL="76200" marR="76200" marT="25400" marB="25400" anchor="ctr">
                    <a:lnL w="0" cap="flat" cmpd="sng" algn="ctr">
                      <a:noFill/>
                    </a:lnL>
                    <a:lnR w="0" cap="flat" cmpd="sng" algn="ctr">
                      <a:noFill/>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tcPr>
                </a:tc>
                <a:tc>
                  <a:txBody>
                    <a:bodyPr/>
                    <a:lstStyle/>
                    <a:p>
                      <a:pPr algn="ctr" indent="0" marL="0">
                        <a:buNone/>
                      </a:pPr>
                      <a:r>
                        <a:rPr lang="en-US" sz="1000" dirty="0">
                          <a:solidFill>
                            <a:srgbClr val="2C6E49"/>
                          </a:solidFill>
                          <a:latin typeface="Calibri" pitchFamily="34" charset="0"/>
                          <a:ea typeface="Calibri" pitchFamily="34" charset="-122"/>
                          <a:cs typeface="Calibri" pitchFamily="34" charset="-120"/>
                        </a:rPr>
                        <a:t>10%</a:t>
                      </a:r>
                      <a:endParaRPr lang="en-US" sz="1000" dirty="0">
                        <a:latin typeface="Calibri" charset="0"/>
                        <a:ea typeface="Calibri" charset="0"/>
                        <a:cs typeface="Calibri" charset="0"/>
                      </a:endParaRPr>
                    </a:p>
                  </a:txBody>
                  <a:tcPr marL="76200" marR="76200" marT="25400" marB="25400" anchor="ctr">
                    <a:lnL w="0" cap="flat" cmpd="sng" algn="ctr">
                      <a:noFill/>
                    </a:lnL>
                    <a:lnR w="0" cap="flat" cmpd="sng" algn="ctr">
                      <a:noFill/>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tcPr>
                </a:tc>
              </a:tr>
              <a:tr h="292608">
                <a:tc>
                  <a:txBody>
                    <a:bodyPr/>
                    <a:lstStyle/>
                    <a:p>
                      <a:pPr algn="l" indent="0" marL="0">
                        <a:buNone/>
                      </a:pPr>
                      <a:r>
                        <a:rPr lang="en-US" sz="1000" dirty="0">
                          <a:solidFill>
                            <a:srgbClr val="222831"/>
                          </a:solidFill>
                          <a:latin typeface="Courier New" pitchFamily="34" charset="0"/>
                          <a:ea typeface="Courier New" pitchFamily="34" charset="-122"/>
                          <a:cs typeface="Courier New" pitchFamily="34" charset="-120"/>
                        </a:rPr>
                        <a:t>reasoning</a:t>
                      </a:r>
                      <a:endParaRPr lang="en-US" sz="1000" dirty="0">
                        <a:latin typeface="Courier New" charset="0"/>
                        <a:ea typeface="Courier New" charset="0"/>
                        <a:cs typeface="Courier New" charset="0"/>
                      </a:endParaRPr>
                    </a:p>
                  </a:txBody>
                  <a:tcPr marL="76200" marR="76200" marT="25400" marB="25400" anchor="ctr">
                    <a:lnL w="0" cap="flat" cmpd="sng" algn="ctr">
                      <a:noFill/>
                    </a:lnL>
                    <a:lnR w="0" cap="flat" cmpd="sng" algn="ctr">
                      <a:noFill/>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tcPr>
                </a:tc>
                <a:tc>
                  <a:txBody>
                    <a:bodyPr/>
                    <a:lstStyle/>
                    <a:p>
                      <a:pPr algn="ctr" indent="0" marL="0">
                        <a:buNone/>
                      </a:pPr>
                      <a:r>
                        <a:rPr lang="en-US" sz="1000" dirty="0">
                          <a:solidFill>
                            <a:srgbClr val="6E7889"/>
                          </a:solidFill>
                          <a:latin typeface="Calibri" pitchFamily="34" charset="0"/>
                          <a:ea typeface="Calibri" pitchFamily="34" charset="-122"/>
                          <a:cs typeface="Calibri" pitchFamily="34" charset="-120"/>
                        </a:rPr>
                        <a:t>0.5589</a:t>
                      </a:r>
                      <a:endParaRPr lang="en-US" sz="1000" dirty="0">
                        <a:latin typeface="Calibri" charset="0"/>
                        <a:ea typeface="Calibri" charset="0"/>
                        <a:cs typeface="Calibri" charset="0"/>
                      </a:endParaRPr>
                    </a:p>
                  </a:txBody>
                  <a:tcPr marL="76200" marR="76200" marT="25400" marB="25400" anchor="ctr">
                    <a:lnL w="0" cap="flat" cmpd="sng" algn="ctr">
                      <a:noFill/>
                    </a:lnL>
                    <a:lnR w="0" cap="flat" cmpd="sng" algn="ctr">
                      <a:noFill/>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tcPr>
                </a:tc>
                <a:tc>
                  <a:txBody>
                    <a:bodyPr/>
                    <a:lstStyle/>
                    <a:p>
                      <a:pPr algn="ctr" indent="0" marL="0">
                        <a:buNone/>
                      </a:pPr>
                      <a:r>
                        <a:rPr lang="en-US" sz="1000" dirty="0">
                          <a:solidFill>
                            <a:srgbClr val="222831"/>
                          </a:solidFill>
                          <a:latin typeface="Calibri" pitchFamily="34" charset="0"/>
                          <a:ea typeface="Calibri" pitchFamily="34" charset="-122"/>
                          <a:cs typeface="Calibri" pitchFamily="34" charset="-120"/>
                        </a:rPr>
                        <a:t>0.7177</a:t>
                      </a:r>
                      <a:endParaRPr lang="en-US" sz="1000" dirty="0">
                        <a:latin typeface="Calibri" charset="0"/>
                        <a:ea typeface="Calibri" charset="0"/>
                        <a:cs typeface="Calibri" charset="0"/>
                      </a:endParaRPr>
                    </a:p>
                  </a:txBody>
                  <a:tcPr marL="76200" marR="76200" marT="25400" marB="25400" anchor="ctr">
                    <a:lnL w="0" cap="flat" cmpd="sng" algn="ctr">
                      <a:noFill/>
                    </a:lnL>
                    <a:lnR w="0" cap="flat" cmpd="sng" algn="ctr">
                      <a:noFill/>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tcPr>
                </a:tc>
                <a:tc>
                  <a:txBody>
                    <a:bodyPr/>
                    <a:lstStyle/>
                    <a:p>
                      <a:pPr algn="ctr" indent="0" marL="0">
                        <a:buNone/>
                      </a:pPr>
                      <a:r>
                        <a:rPr lang="en-US" sz="1000" b="1" dirty="0">
                          <a:solidFill>
                            <a:srgbClr val="222831"/>
                          </a:solidFill>
                          <a:latin typeface="Calibri" pitchFamily="34" charset="0"/>
                          <a:ea typeface="Calibri" pitchFamily="34" charset="-122"/>
                          <a:cs typeface="Calibri" pitchFamily="34" charset="-120"/>
                        </a:rPr>
                        <a:t>0.8841</a:t>
                      </a:r>
                      <a:endParaRPr lang="en-US" sz="1000" dirty="0">
                        <a:latin typeface="Calibri" charset="0"/>
                        <a:ea typeface="Calibri" charset="0"/>
                        <a:cs typeface="Calibri" charset="0"/>
                      </a:endParaRPr>
                    </a:p>
                  </a:txBody>
                  <a:tcPr marL="76200" marR="76200" marT="25400" marB="25400" anchor="ctr">
                    <a:lnL w="0" cap="flat" cmpd="sng" algn="ctr">
                      <a:noFill/>
                    </a:lnL>
                    <a:lnR w="0" cap="flat" cmpd="sng" algn="ctr">
                      <a:noFill/>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tcPr>
                </a:tc>
                <a:tc>
                  <a:txBody>
                    <a:bodyPr/>
                    <a:lstStyle/>
                    <a:p>
                      <a:pPr algn="ctr" indent="0" marL="0">
                        <a:buNone/>
                      </a:pPr>
                      <a:r>
                        <a:rPr lang="en-US" sz="1000" dirty="0">
                          <a:solidFill>
                            <a:srgbClr val="222831"/>
                          </a:solidFill>
                          <a:latin typeface="Calibri" pitchFamily="34" charset="0"/>
                          <a:ea typeface="Calibri" pitchFamily="34" charset="-122"/>
                          <a:cs typeface="Calibri" pitchFamily="34" charset="-120"/>
                        </a:rPr>
                        <a:t>44</a:t>
                      </a:r>
                      <a:endParaRPr lang="en-US" sz="1000" dirty="0">
                        <a:latin typeface="Calibri" charset="0"/>
                        <a:ea typeface="Calibri" charset="0"/>
                        <a:cs typeface="Calibri" charset="0"/>
                      </a:endParaRPr>
                    </a:p>
                  </a:txBody>
                  <a:tcPr marL="76200" marR="76200" marT="25400" marB="25400" anchor="ctr">
                    <a:lnL w="0" cap="flat" cmpd="sng" algn="ctr">
                      <a:noFill/>
                    </a:lnL>
                    <a:lnR w="0" cap="flat" cmpd="sng" algn="ctr">
                      <a:noFill/>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tcPr>
                </a:tc>
                <a:tc>
                  <a:txBody>
                    <a:bodyPr/>
                    <a:lstStyle/>
                    <a:p>
                      <a:pPr algn="ctr" indent="0" marL="0">
                        <a:buNone/>
                      </a:pPr>
                      <a:r>
                        <a:rPr lang="en-US" sz="1000" dirty="0">
                          <a:solidFill>
                            <a:srgbClr val="222831"/>
                          </a:solidFill>
                          <a:latin typeface="Calibri" pitchFamily="34" charset="0"/>
                          <a:ea typeface="Calibri" pitchFamily="34" charset="-122"/>
                          <a:cs typeface="Calibri" pitchFamily="34" charset="-120"/>
                        </a:rPr>
                        <a:t>38.9</a:t>
                      </a:r>
                      <a:endParaRPr lang="en-US" sz="1000" dirty="0">
                        <a:latin typeface="Calibri" charset="0"/>
                        <a:ea typeface="Calibri" charset="0"/>
                        <a:cs typeface="Calibri" charset="0"/>
                      </a:endParaRPr>
                    </a:p>
                  </a:txBody>
                  <a:tcPr marL="76200" marR="76200" marT="25400" marB="25400" anchor="ctr">
                    <a:lnL w="0" cap="flat" cmpd="sng" algn="ctr">
                      <a:noFill/>
                    </a:lnL>
                    <a:lnR w="0" cap="flat" cmpd="sng" algn="ctr">
                      <a:noFill/>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tcPr>
                </a:tc>
                <a:tc>
                  <a:txBody>
                    <a:bodyPr/>
                    <a:lstStyle/>
                    <a:p>
                      <a:pPr algn="ctr" indent="0" marL="0">
                        <a:buNone/>
                      </a:pPr>
                      <a:r>
                        <a:rPr lang="en-US" sz="1000" dirty="0">
                          <a:solidFill>
                            <a:srgbClr val="2C6E49"/>
                          </a:solidFill>
                          <a:latin typeface="Calibri" pitchFamily="34" charset="0"/>
                          <a:ea typeface="Calibri" pitchFamily="34" charset="-122"/>
                          <a:cs typeface="Calibri" pitchFamily="34" charset="-120"/>
                        </a:rPr>
                        <a:t>12%</a:t>
                      </a:r>
                      <a:endParaRPr lang="en-US" sz="1000" dirty="0">
                        <a:latin typeface="Calibri" charset="0"/>
                        <a:ea typeface="Calibri" charset="0"/>
                        <a:cs typeface="Calibri" charset="0"/>
                      </a:endParaRPr>
                    </a:p>
                  </a:txBody>
                  <a:tcPr marL="76200" marR="76200" marT="25400" marB="25400" anchor="ctr">
                    <a:lnL w="0" cap="flat" cmpd="sng" algn="ctr">
                      <a:noFill/>
                    </a:lnL>
                    <a:lnR w="0" cap="flat" cmpd="sng" algn="ctr">
                      <a:noFill/>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tcPr>
                </a:tc>
              </a:tr>
              <a:tr h="292608">
                <a:tc>
                  <a:txBody>
                    <a:bodyPr/>
                    <a:lstStyle/>
                    <a:p>
                      <a:pPr algn="l" indent="0" marL="0">
                        <a:buNone/>
                      </a:pPr>
                      <a:r>
                        <a:rPr lang="en-US" sz="1000" dirty="0">
                          <a:solidFill>
                            <a:srgbClr val="222831"/>
                          </a:solidFill>
                          <a:latin typeface="Courier New" pitchFamily="34" charset="0"/>
                          <a:ea typeface="Courier New" pitchFamily="34" charset="-122"/>
                          <a:cs typeface="Courier New" pitchFamily="34" charset="-120"/>
                        </a:rPr>
                        <a:t>refusal</a:t>
                      </a:r>
                      <a:endParaRPr lang="en-US" sz="1000" dirty="0">
                        <a:latin typeface="Courier New" charset="0"/>
                        <a:ea typeface="Courier New" charset="0"/>
                        <a:cs typeface="Courier New" charset="0"/>
                      </a:endParaRPr>
                    </a:p>
                  </a:txBody>
                  <a:tcPr marL="76200" marR="76200" marT="25400" marB="25400" anchor="ctr">
                    <a:lnL w="0" cap="flat" cmpd="sng" algn="ctr">
                      <a:noFill/>
                    </a:lnL>
                    <a:lnR w="0" cap="flat" cmpd="sng" algn="ctr">
                      <a:noFill/>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tcPr>
                </a:tc>
                <a:tc>
                  <a:txBody>
                    <a:bodyPr/>
                    <a:lstStyle/>
                    <a:p>
                      <a:pPr algn="ctr" indent="0" marL="0">
                        <a:buNone/>
                      </a:pPr>
                      <a:r>
                        <a:rPr lang="en-US" sz="1000" dirty="0">
                          <a:solidFill>
                            <a:srgbClr val="6E7889"/>
                          </a:solidFill>
                          <a:latin typeface="Calibri" pitchFamily="34" charset="0"/>
                          <a:ea typeface="Calibri" pitchFamily="34" charset="-122"/>
                          <a:cs typeface="Calibri" pitchFamily="34" charset="-120"/>
                        </a:rPr>
                        <a:t>0.3548</a:t>
                      </a:r>
                      <a:endParaRPr lang="en-US" sz="1000" dirty="0">
                        <a:latin typeface="Calibri" charset="0"/>
                        <a:ea typeface="Calibri" charset="0"/>
                        <a:cs typeface="Calibri" charset="0"/>
                      </a:endParaRPr>
                    </a:p>
                  </a:txBody>
                  <a:tcPr marL="76200" marR="76200" marT="25400" marB="25400" anchor="ctr">
                    <a:lnL w="0" cap="flat" cmpd="sng" algn="ctr">
                      <a:noFill/>
                    </a:lnL>
                    <a:lnR w="0" cap="flat" cmpd="sng" algn="ctr">
                      <a:noFill/>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tcPr>
                </a:tc>
                <a:tc>
                  <a:txBody>
                    <a:bodyPr/>
                    <a:lstStyle/>
                    <a:p>
                      <a:pPr algn="ctr" indent="0" marL="0">
                        <a:buNone/>
                      </a:pPr>
                      <a:r>
                        <a:rPr lang="en-US" sz="1000" dirty="0">
                          <a:solidFill>
                            <a:srgbClr val="222831"/>
                          </a:solidFill>
                          <a:latin typeface="Calibri" pitchFamily="34" charset="0"/>
                          <a:ea typeface="Calibri" pitchFamily="34" charset="-122"/>
                          <a:cs typeface="Calibri" pitchFamily="34" charset="-120"/>
                        </a:rPr>
                        <a:t>0.3686</a:t>
                      </a:r>
                      <a:endParaRPr lang="en-US" sz="1000" dirty="0">
                        <a:latin typeface="Calibri" charset="0"/>
                        <a:ea typeface="Calibri" charset="0"/>
                        <a:cs typeface="Calibri" charset="0"/>
                      </a:endParaRPr>
                    </a:p>
                  </a:txBody>
                  <a:tcPr marL="76200" marR="76200" marT="25400" marB="25400" anchor="ctr">
                    <a:lnL w="0" cap="flat" cmpd="sng" algn="ctr">
                      <a:noFill/>
                    </a:lnL>
                    <a:lnR w="0" cap="flat" cmpd="sng" algn="ctr">
                      <a:noFill/>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tcPr>
                </a:tc>
                <a:tc>
                  <a:txBody>
                    <a:bodyPr/>
                    <a:lstStyle/>
                    <a:p>
                      <a:pPr algn="ctr" indent="0" marL="0">
                        <a:buNone/>
                      </a:pPr>
                      <a:r>
                        <a:rPr lang="en-US" sz="1000" b="1" dirty="0">
                          <a:solidFill>
                            <a:srgbClr val="9B2226"/>
                          </a:solidFill>
                          <a:latin typeface="Calibri" pitchFamily="34" charset="0"/>
                          <a:ea typeface="Calibri" pitchFamily="34" charset="-122"/>
                          <a:cs typeface="Calibri" pitchFamily="34" charset="-120"/>
                        </a:rPr>
                        <a:t>0.6365</a:t>
                      </a:r>
                      <a:endParaRPr lang="en-US" sz="1000" dirty="0">
                        <a:latin typeface="Calibri" charset="0"/>
                        <a:ea typeface="Calibri" charset="0"/>
                        <a:cs typeface="Calibri" charset="0"/>
                      </a:endParaRPr>
                    </a:p>
                  </a:txBody>
                  <a:tcPr marL="76200" marR="76200" marT="25400" marB="25400" anchor="ctr">
                    <a:lnL w="0" cap="flat" cmpd="sng" algn="ctr">
                      <a:noFill/>
                    </a:lnL>
                    <a:lnR w="0" cap="flat" cmpd="sng" algn="ctr">
                      <a:noFill/>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tcPr>
                </a:tc>
                <a:tc>
                  <a:txBody>
                    <a:bodyPr/>
                    <a:lstStyle/>
                    <a:p>
                      <a:pPr algn="ctr" indent="0" marL="0">
                        <a:buNone/>
                      </a:pPr>
                      <a:r>
                        <a:rPr lang="en-US" sz="1000" dirty="0">
                          <a:solidFill>
                            <a:srgbClr val="222831"/>
                          </a:solidFill>
                          <a:latin typeface="Calibri" pitchFamily="34" charset="0"/>
                          <a:ea typeface="Calibri" pitchFamily="34" charset="-122"/>
                          <a:cs typeface="Calibri" pitchFamily="34" charset="-120"/>
                        </a:rPr>
                        <a:t>36</a:t>
                      </a:r>
                      <a:endParaRPr lang="en-US" sz="1000" dirty="0">
                        <a:latin typeface="Calibri" charset="0"/>
                        <a:ea typeface="Calibri" charset="0"/>
                        <a:cs typeface="Calibri" charset="0"/>
                      </a:endParaRPr>
                    </a:p>
                  </a:txBody>
                  <a:tcPr marL="76200" marR="76200" marT="25400" marB="25400" anchor="ctr">
                    <a:lnL w="0" cap="flat" cmpd="sng" algn="ctr">
                      <a:noFill/>
                    </a:lnL>
                    <a:lnR w="0" cap="flat" cmpd="sng" algn="ctr">
                      <a:noFill/>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tcPr>
                </a:tc>
                <a:tc>
                  <a:txBody>
                    <a:bodyPr/>
                    <a:lstStyle/>
                    <a:p>
                      <a:pPr algn="ctr" indent="0" marL="0">
                        <a:buNone/>
                      </a:pPr>
                      <a:r>
                        <a:rPr lang="en-US" sz="1000" dirty="0">
                          <a:solidFill>
                            <a:srgbClr val="222831"/>
                          </a:solidFill>
                          <a:latin typeface="Calibri" pitchFamily="34" charset="0"/>
                          <a:ea typeface="Calibri" pitchFamily="34" charset="-122"/>
                          <a:cs typeface="Calibri" pitchFamily="34" charset="-120"/>
                        </a:rPr>
                        <a:t>22.9</a:t>
                      </a:r>
                      <a:endParaRPr lang="en-US" sz="1000" dirty="0">
                        <a:latin typeface="Calibri" charset="0"/>
                        <a:ea typeface="Calibri" charset="0"/>
                        <a:cs typeface="Calibri" charset="0"/>
                      </a:endParaRPr>
                    </a:p>
                  </a:txBody>
                  <a:tcPr marL="76200" marR="76200" marT="25400" marB="25400" anchor="ctr">
                    <a:lnL w="0" cap="flat" cmpd="sng" algn="ctr">
                      <a:noFill/>
                    </a:lnL>
                    <a:lnR w="0" cap="flat" cmpd="sng" algn="ctr">
                      <a:noFill/>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tcPr>
                </a:tc>
                <a:tc>
                  <a:txBody>
                    <a:bodyPr/>
                    <a:lstStyle/>
                    <a:p>
                      <a:pPr algn="ctr" indent="0" marL="0">
                        <a:buNone/>
                      </a:pPr>
                      <a:r>
                        <a:rPr lang="en-US" sz="1000" b="1" dirty="0">
                          <a:solidFill>
                            <a:srgbClr val="9B2226"/>
                          </a:solidFill>
                          <a:latin typeface="Calibri" pitchFamily="34" charset="0"/>
                          <a:ea typeface="Calibri" pitchFamily="34" charset="-122"/>
                          <a:cs typeface="Calibri" pitchFamily="34" charset="-120"/>
                        </a:rPr>
                        <a:t>36%</a:t>
                      </a:r>
                      <a:endParaRPr lang="en-US" sz="1000" dirty="0">
                        <a:latin typeface="Calibri" charset="0"/>
                        <a:ea typeface="Calibri" charset="0"/>
                        <a:cs typeface="Calibri" charset="0"/>
                      </a:endParaRPr>
                    </a:p>
                  </a:txBody>
                  <a:tcPr marL="76200" marR="76200" marT="25400" marB="25400" anchor="ctr">
                    <a:lnL w="0" cap="flat" cmpd="sng" algn="ctr">
                      <a:noFill/>
                    </a:lnL>
                    <a:lnR w="0" cap="flat" cmpd="sng" algn="ctr">
                      <a:noFill/>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tcPr>
                </a:tc>
              </a:tr>
            </a:tbl>
          </a:graphicData>
        </a:graphic>
      </p:graphicFrame>
      <p:sp>
        <p:nvSpPr>
          <p:cNvPr id="6" name="Text 3"/>
          <p:cNvSpPr/>
          <p:nvPr/>
        </p:nvSpPr>
        <p:spPr>
          <a:xfrm>
            <a:off x="548640" y="3566160"/>
            <a:ext cx="11094415" cy="274320"/>
          </a:xfrm>
          <a:prstGeom prst="rect">
            <a:avLst/>
          </a:prstGeom>
          <a:noFill/>
          <a:ln/>
        </p:spPr>
        <p:txBody>
          <a:bodyPr wrap="square" lIns="0" tIns="0" rIns="0" bIns="0" rtlCol="0" anchor="t"/>
          <a:lstStyle/>
          <a:p>
            <a:pPr indent="0" marL="0">
              <a:lnSpc>
                <a:spcPts val="1500"/>
              </a:lnSpc>
              <a:buNone/>
            </a:pPr>
            <a:r>
              <a:rPr lang="en-US" sz="1100" dirty="0">
                <a:solidFill>
                  <a:srgbClr val="6E7889"/>
                </a:solidFill>
                <a:latin typeface="Calibri" pitchFamily="34" charset="0"/>
                <a:ea typeface="Calibri" pitchFamily="34" charset="-122"/>
                <a:cs typeface="Calibri" pitchFamily="34" charset="-120"/>
              </a:rPr>
              <a:t>Averaging three annotators buys most of the tax back. Only refusal pays a heavy one — a value position does not average out across annotators the way independent noise does.</a:t>
            </a:r>
            <a:endParaRPr lang="en-US" sz="1100" dirty="0"/>
          </a:p>
        </p:txBody>
      </p:sp>
      <p:sp>
        <p:nvSpPr>
          <p:cNvPr id="7" name="Shape 4"/>
          <p:cNvSpPr/>
          <p:nvPr/>
        </p:nvSpPr>
        <p:spPr>
          <a:xfrm>
            <a:off x="548640" y="3968496"/>
            <a:ext cx="11094415" cy="1975104"/>
          </a:xfrm>
          <a:prstGeom prst="roundRect">
            <a:avLst>
              <a:gd name="adj" fmla="val 2778"/>
            </a:avLst>
          </a:prstGeom>
          <a:solidFill>
            <a:srgbClr val="FBF3F3"/>
          </a:solidFill>
          <a:ln w="9525">
            <a:solidFill>
              <a:srgbClr val="DCE1E8"/>
            </a:solidFill>
            <a:prstDash val="solid"/>
          </a:ln>
        </p:spPr>
      </p:sp>
      <p:sp>
        <p:nvSpPr>
          <p:cNvPr id="8" name="Text 5"/>
          <p:cNvSpPr/>
          <p:nvPr/>
        </p:nvSpPr>
        <p:spPr>
          <a:xfrm>
            <a:off x="841248" y="4187952"/>
            <a:ext cx="10509199" cy="219456"/>
          </a:xfrm>
          <a:prstGeom prst="rect">
            <a:avLst/>
          </a:prstGeom>
          <a:noFill/>
          <a:ln/>
        </p:spPr>
        <p:txBody>
          <a:bodyPr wrap="square" lIns="0" tIns="0" rIns="0" bIns="0" rtlCol="0" anchor="ctr"/>
          <a:lstStyle/>
          <a:p>
            <a:pPr indent="0" marL="0">
              <a:buNone/>
            </a:pPr>
            <a:r>
              <a:rPr lang="en-US" sz="1050" b="1" spc="60" kern="0" dirty="0">
                <a:solidFill>
                  <a:srgbClr val="9B2226"/>
                </a:solidFill>
                <a:latin typeface="Calibri" pitchFamily="34" charset="0"/>
                <a:ea typeface="Calibri" pitchFamily="34" charset="-122"/>
                <a:cs typeface="Calibri" pitchFamily="34" charset="-120"/>
              </a:rPr>
              <a:t>THE BUG: TWO INDEPENDENT ERRORS, BOTH PUSHING THE SAME WAY</a:t>
            </a:r>
            <a:endParaRPr lang="en-US" sz="1050" dirty="0"/>
          </a:p>
        </p:txBody>
      </p:sp>
      <p:sp>
        <p:nvSpPr>
          <p:cNvPr id="9" name="Text 6"/>
          <p:cNvSpPr/>
          <p:nvPr/>
        </p:nvSpPr>
        <p:spPr>
          <a:xfrm>
            <a:off x="841248" y="4517136"/>
            <a:ext cx="4681728" cy="1316736"/>
          </a:xfrm>
          <a:prstGeom prst="rect">
            <a:avLst/>
          </a:prstGeom>
          <a:noFill/>
          <a:ln/>
        </p:spPr>
        <p:txBody>
          <a:bodyPr wrap="square" lIns="0" tIns="0" rIns="0" bIns="0" rtlCol="0" anchor="t"/>
          <a:lstStyle/>
          <a:p>
            <a:pPr indent="0" marL="0">
              <a:lnSpc>
                <a:spcPts val="1500"/>
              </a:lnSpc>
              <a:spcAft>
                <a:spcPts val="700"/>
              </a:spcAft>
              <a:buNone/>
            </a:pPr>
            <a:r>
              <a:rPr lang="en-US" sz="1050" dirty="0">
                <a:solidFill>
                  <a:srgbClr val="222831"/>
                </a:solidFill>
                <a:latin typeface="Calibri" pitchFamily="34" charset="0"/>
                <a:ea typeface="Calibri" pitchFamily="34" charset="-122"/>
                <a:cs typeface="Calibri" pitchFamily="34" charset="-120"/>
              </a:rPr>
              <a:t>Wrong reliability. The power calculation was fed the mean of the per-dimension single-rater αs (0.5841). That is not the reliability of anything the comparison touches.</a:t>
            </a:r>
            <a:endParaRPr lang="en-US" sz="1050" dirty="0"/>
          </a:p>
          <a:p>
            <a:pPr indent="0" marL="0">
              <a:lnSpc>
                <a:spcPts val="1500"/>
              </a:lnSpc>
              <a:spcAft>
                <a:spcPts val="700"/>
              </a:spcAft>
              <a:buNone/>
            </a:pPr>
            <a:r>
              <a:rPr lang="en-US" sz="1050" dirty="0">
                <a:solidFill>
                  <a:srgbClr val="222831"/>
                </a:solidFill>
                <a:latin typeface="Calibri" pitchFamily="34" charset="0"/>
                <a:ea typeface="Calibri" pitchFamily="34" charset="-122"/>
                <a:cs typeface="Calibri" pitchFamily="34" charset="-120"/>
              </a:rPr>
              <a:t>Double count. n_eff = n × ρ is for true-score units; the SD supplied was the observed SD, which already carries the measurement error. Shrinking n on top of it charges for that error twice.</a:t>
            </a:r>
            <a:endParaRPr lang="en-US" sz="1050" dirty="0"/>
          </a:p>
        </p:txBody>
      </p:sp>
      <p:sp>
        <p:nvSpPr>
          <p:cNvPr id="10" name="Text 7"/>
          <p:cNvSpPr/>
          <p:nvPr/>
        </p:nvSpPr>
        <p:spPr>
          <a:xfrm>
            <a:off x="5870448" y="4480560"/>
            <a:ext cx="2743200" cy="402336"/>
          </a:xfrm>
          <a:prstGeom prst="rect">
            <a:avLst/>
          </a:prstGeom>
          <a:noFill/>
          <a:ln/>
        </p:spPr>
        <p:txBody>
          <a:bodyPr wrap="square" lIns="0" tIns="0" rIns="0" bIns="0" rtlCol="0" anchor="ctr"/>
          <a:lstStyle/>
          <a:p>
            <a:pPr indent="0" marL="0">
              <a:buNone/>
            </a:pPr>
            <a:r>
              <a:rPr lang="en-US" sz="2000" b="1" dirty="0">
                <a:solidFill>
                  <a:srgbClr val="9B2226"/>
                </a:solidFill>
                <a:latin typeface="Cambria" pitchFamily="34" charset="0"/>
                <a:ea typeface="Cambria" pitchFamily="34" charset="-122"/>
                <a:cs typeface="Cambria" pitchFamily="34" charset="-120"/>
              </a:rPr>
              <a:t>0.1569  →  0.1199</a:t>
            </a:r>
            <a:endParaRPr lang="en-US" sz="2000" dirty="0"/>
          </a:p>
        </p:txBody>
      </p:sp>
      <p:sp>
        <p:nvSpPr>
          <p:cNvPr id="11" name="Text 8"/>
          <p:cNvSpPr/>
          <p:nvPr/>
        </p:nvSpPr>
        <p:spPr>
          <a:xfrm>
            <a:off x="5870448" y="4919472"/>
            <a:ext cx="5769864" cy="896112"/>
          </a:xfrm>
          <a:prstGeom prst="rect">
            <a:avLst/>
          </a:prstGeom>
          <a:noFill/>
          <a:ln/>
        </p:spPr>
        <p:txBody>
          <a:bodyPr wrap="square" lIns="0" tIns="0" rIns="0" bIns="0" rtlCol="0" anchor="t"/>
          <a:lstStyle/>
          <a:p>
            <a:pPr indent="0" marL="0">
              <a:lnSpc>
                <a:spcPts val="1500"/>
              </a:lnSpc>
              <a:buNone/>
            </a:pPr>
            <a:r>
              <a:rPr lang="en-US" sz="1050" dirty="0">
                <a:solidFill>
                  <a:srgbClr val="222831"/>
                </a:solidFill>
                <a:latin typeface="Calibri" pitchFamily="34" charset="0"/>
                <a:ea typeface="Calibri" pitchFamily="34" charset="-122"/>
                <a:cs typeface="Calibri" pitchFamily="34" charset="-120"/>
              </a:rPr>
              <a:t>The agentic v2-vs-baseline ranking (Δ 0.1243, p = 0.0049, CI excluding zero, Bonferroni-significant) was BLOCKED on the inflated MDE. It now clears. A gate blocking a true positive is worse than no gate: an over-firing gate gets ignored, which is recoverable, while a wrongly withheld finding leaves no trace at all.</a:t>
            </a:r>
            <a:endParaRPr lang="en-US" sz="1050" dirty="0"/>
          </a:p>
        </p:txBody>
      </p:sp>
      <p:sp>
        <p:nvSpPr>
          <p:cNvPr id="12" name="Text 9"/>
          <p:cNvSpPr/>
          <p:nvPr/>
        </p:nvSpPr>
        <p:spPr>
          <a:xfrm>
            <a:off x="548640" y="6336792"/>
            <a:ext cx="9966960" cy="219456"/>
          </a:xfrm>
          <a:prstGeom prst="rect">
            <a:avLst/>
          </a:prstGeom>
          <a:noFill/>
          <a:ln/>
        </p:spPr>
        <p:txBody>
          <a:bodyPr wrap="square" lIns="0" tIns="0" rIns="0" bIns="0" rtlCol="0" anchor="ctr"/>
          <a:lstStyle/>
          <a:p>
            <a:pPr algn="l" indent="0" marL="0">
              <a:buNone/>
            </a:pPr>
            <a:r>
              <a:rPr lang="en-US" sz="800" dirty="0">
                <a:solidFill>
                  <a:srgbClr val="6E7889"/>
                </a:solidFill>
                <a:latin typeface="Calibri" pitchFamily="34" charset="0"/>
                <a:ea typeface="Calibri" pitchFamily="34" charset="-122"/>
                <a:cs typeface="Calibri" pitchFamily="34" charset="-120"/>
              </a:rPr>
              <a:t>Current figures: results/portfolio.json  md5 299bd4f19e03caa2cd7e33681340c294   ·   the superseded 0.1569 is recorded in docs/engineering-log.md, entry 2026-07-16, and is not reproducible from the current results</a:t>
            </a:r>
            <a:endParaRPr lang="en-US" sz="800" dirty="0"/>
          </a:p>
        </p:txBody>
      </p:sp>
      <p:sp>
        <p:nvSpPr>
          <p:cNvPr id="13" name="Text 10"/>
          <p:cNvSpPr/>
          <p:nvPr/>
        </p:nvSpPr>
        <p:spPr>
          <a:xfrm>
            <a:off x="10927080" y="6336792"/>
            <a:ext cx="713232" cy="219456"/>
          </a:xfrm>
          <a:prstGeom prst="rect">
            <a:avLst/>
          </a:prstGeom>
          <a:noFill/>
          <a:ln/>
        </p:spPr>
        <p:txBody>
          <a:bodyPr wrap="square" lIns="0" tIns="0" rIns="0" bIns="0" rtlCol="0" anchor="ctr"/>
          <a:lstStyle/>
          <a:p>
            <a:pPr algn="r" indent="0" marL="0">
              <a:buNone/>
            </a:pPr>
            <a:r>
              <a:rPr lang="en-US" sz="800" dirty="0">
                <a:solidFill>
                  <a:srgbClr val="6E7889"/>
                </a:solidFill>
                <a:latin typeface="Calibri" pitchFamily="34" charset="0"/>
                <a:ea typeface="Calibri" pitchFamily="34" charset="-122"/>
                <a:cs typeface="Calibri" pitchFamily="34" charset="-120"/>
              </a:rPr>
              <a:t>10</a:t>
            </a:r>
            <a:endParaRPr lang="en-US" sz="8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nvSpPr>
        <p:spPr>
          <a:xfrm>
            <a:off x="548640" y="292608"/>
            <a:ext cx="11094415" cy="201168"/>
          </a:xfrm>
          <a:prstGeom prst="rect">
            <a:avLst/>
          </a:prstGeom>
          <a:noFill/>
          <a:ln/>
        </p:spPr>
        <p:txBody>
          <a:bodyPr wrap="square" lIns="0" tIns="0" rIns="0" bIns="0" rtlCol="0" anchor="ctr"/>
          <a:lstStyle/>
          <a:p>
            <a:pPr indent="0" marL="0">
              <a:buNone/>
            </a:pPr>
            <a:r>
              <a:rPr lang="en-US" sz="950" b="1" spc="160" kern="0" dirty="0">
                <a:solidFill>
                  <a:srgbClr val="6E7889"/>
                </a:solidFill>
                <a:latin typeface="Calibri" pitchFamily="34" charset="0"/>
                <a:ea typeface="Calibri" pitchFamily="34" charset="-122"/>
                <a:cs typeface="Calibri" pitchFamily="34" charset="-120"/>
              </a:rPr>
              <a:t>11  ·  DETECTION SENSITIVITY AND BLIND SPOTS</a:t>
            </a:r>
            <a:endParaRPr lang="en-US" sz="950" dirty="0"/>
          </a:p>
        </p:txBody>
      </p:sp>
      <p:sp>
        <p:nvSpPr>
          <p:cNvPr id="3" name="Text 1"/>
          <p:cNvSpPr/>
          <p:nvPr/>
        </p:nvSpPr>
        <p:spPr>
          <a:xfrm>
            <a:off x="548640" y="530352"/>
            <a:ext cx="11094415" cy="786384"/>
          </a:xfrm>
          <a:prstGeom prst="rect">
            <a:avLst/>
          </a:prstGeom>
          <a:noFill/>
          <a:ln/>
        </p:spPr>
        <p:txBody>
          <a:bodyPr wrap="square" lIns="0" tIns="0" rIns="0" bIns="0" rtlCol="0" anchor="t"/>
          <a:lstStyle/>
          <a:p>
            <a:pPr indent="0" marL="0">
              <a:lnSpc>
                <a:spcPts val="3200"/>
              </a:lnSpc>
              <a:buNone/>
            </a:pPr>
            <a:r>
              <a:rPr lang="en-US" sz="2600" b="1" dirty="0">
                <a:solidFill>
                  <a:srgbClr val="1E3A5F"/>
                </a:solidFill>
                <a:latin typeface="Cambria" pitchFamily="34" charset="0"/>
                <a:ea typeface="Cambria" pitchFamily="34" charset="-122"/>
                <a:cs typeface="Cambria" pitchFamily="34" charset="-120"/>
              </a:rPr>
              <a:t>A blind spot is worse than a noisy measurement: grounding scores two planted failures as acceptable</a:t>
            </a:r>
            <a:endParaRPr lang="en-US" sz="2600" dirty="0"/>
          </a:p>
        </p:txBody>
      </p:sp>
      <p:sp>
        <p:nvSpPr>
          <p:cNvPr id="4" name="Text 2"/>
          <p:cNvSpPr/>
          <p:nvPr/>
        </p:nvSpPr>
        <p:spPr>
          <a:xfrm>
            <a:off x="548640" y="1371600"/>
            <a:ext cx="11094415" cy="402336"/>
          </a:xfrm>
          <a:prstGeom prst="rect">
            <a:avLst/>
          </a:prstGeom>
          <a:noFill/>
          <a:ln/>
        </p:spPr>
        <p:txBody>
          <a:bodyPr wrap="square" lIns="0" tIns="0" rIns="0" bIns="0" rtlCol="0" anchor="t"/>
          <a:lstStyle/>
          <a:p>
            <a:pPr indent="0" marL="0">
              <a:lnSpc>
                <a:spcPts val="1600"/>
              </a:lnSpc>
              <a:buNone/>
            </a:pPr>
            <a:r>
              <a:rPr lang="en-US" sz="1200" dirty="0">
                <a:solidFill>
                  <a:srgbClr val="6E7889"/>
                </a:solidFill>
                <a:latin typeface="Calibri" pitchFamily="34" charset="0"/>
                <a:ea typeface="Calibri" pitchFamily="34" charset="-122"/>
                <a:cs typeface="Calibri" pitchFamily="34" charset="-120"/>
              </a:rPr>
              <a:t>The corpus carries planted failure labels, so the rubric can be asked whether it registers the failures it was written to detect — per-code Cliff's delta against clean responses.</a:t>
            </a:r>
            <a:endParaRPr lang="en-US" sz="1200" dirty="0"/>
          </a:p>
        </p:txBody>
      </p:sp>
      <p:graphicFrame>
        <p:nvGraphicFramePr>
          <p:cNvPr id="12" name="Table 0"/>
          <p:cNvGraphicFramePr>
            <a:graphicFrameLocks noGrp="1"/>
          </p:cNvGraphicFramePr>
          <p:nvPr>
            <p:extLst>
              <p:ext uri="{D42A27DB-BD31-4B8C-83A1-F6EECF244321}">
                <p14:modId xmlns:p14="http://schemas.microsoft.com/office/powerpoint/2010/main" val="1579011935"/>
              </p:ext>
            </p:extLst>
          </p:nvPr>
        </p:nvGraphicFramePr>
        <p:xfrm>
          <a:off x="548640" y="2066544"/>
          <a:ext cx="9144000" cy="914400"/>
        </p:xfrm>
        <a:graphic>
          <a:graphicData uri="http://schemas.openxmlformats.org/drawingml/2006/table">
            <a:tbl>
              <a:tblPr/>
              <a:tblGrid>
                <a:gridCol w="1463040"/>
                <a:gridCol w="1737360"/>
                <a:gridCol w="1417320"/>
                <a:gridCol w="1417320"/>
                <a:gridCol w="1554480"/>
                <a:gridCol w="3504895"/>
              </a:tblGrid>
              <a:tr h="274320">
                <a:tc>
                  <a:txBody>
                    <a:bodyPr/>
                    <a:lstStyle/>
                    <a:p>
                      <a:pPr algn="l" indent="0" marL="0">
                        <a:buNone/>
                      </a:pPr>
                      <a:r>
                        <a:rPr lang="en-US" sz="950" b="1" dirty="0">
                          <a:solidFill>
                            <a:srgbClr val="FFFFFF"/>
                          </a:solidFill>
                          <a:latin typeface="Calibri" pitchFamily="34" charset="0"/>
                          <a:ea typeface="Calibri" pitchFamily="34" charset="-122"/>
                          <a:cs typeface="Calibri" pitchFamily="34" charset="-120"/>
                        </a:rPr>
                        <a:t>Track</a:t>
                      </a:r>
                      <a:endParaRPr lang="en-US" sz="950" dirty="0">
                        <a:latin typeface="Calibri" charset="0"/>
                        <a:ea typeface="Calibri" charset="0"/>
                        <a:cs typeface="Calibri" charset="0"/>
                      </a:endParaRPr>
                    </a:p>
                  </a:txBody>
                  <a:tcPr marL="76200" marR="76200" marT="25400" marB="25400" anchor="ctr">
                    <a:lnL w="0" cap="flat" cmpd="sng" algn="ctr">
                      <a:noFill/>
                    </a:lnL>
                    <a:lnR w="0" cap="flat" cmpd="sng" algn="ctr">
                      <a:noFill/>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1E3A5F"/>
                    </a:solidFill>
                  </a:tcPr>
                </a:tc>
                <a:tc>
                  <a:txBody>
                    <a:bodyPr/>
                    <a:lstStyle/>
                    <a:p>
                      <a:pPr algn="ctr" indent="0" marL="0">
                        <a:buNone/>
                      </a:pPr>
                      <a:r>
                        <a:rPr lang="en-US" sz="950" b="1" dirty="0">
                          <a:solidFill>
                            <a:srgbClr val="FFFFFF"/>
                          </a:solidFill>
                          <a:latin typeface="Calibri" pitchFamily="34" charset="0"/>
                          <a:ea typeface="Calibri" pitchFamily="34" charset="-122"/>
                          <a:cs typeface="Calibri" pitchFamily="34" charset="-120"/>
                        </a:rPr>
                        <a:t>Failure codes</a:t>
                      </a:r>
                      <a:endParaRPr lang="en-US" sz="950" dirty="0">
                        <a:latin typeface="Calibri" charset="0"/>
                        <a:ea typeface="Calibri" charset="0"/>
                        <a:cs typeface="Calibri" charset="0"/>
                      </a:endParaRPr>
                    </a:p>
                  </a:txBody>
                  <a:tcPr marL="76200" marR="76200" marT="25400" marB="25400" anchor="ctr">
                    <a:lnL w="0" cap="flat" cmpd="sng" algn="ctr">
                      <a:noFill/>
                    </a:lnL>
                    <a:lnR w="0" cap="flat" cmpd="sng" algn="ctr">
                      <a:noFill/>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1E3A5F"/>
                    </a:solidFill>
                  </a:tcPr>
                </a:tc>
                <a:tc>
                  <a:txBody>
                    <a:bodyPr/>
                    <a:lstStyle/>
                    <a:p>
                      <a:pPr algn="ctr" indent="0" marL="0">
                        <a:buNone/>
                      </a:pPr>
                      <a:r>
                        <a:rPr lang="en-US" sz="950" b="1" dirty="0">
                          <a:solidFill>
                            <a:srgbClr val="FFFFFF"/>
                          </a:solidFill>
                          <a:latin typeface="Calibri" pitchFamily="34" charset="0"/>
                          <a:ea typeface="Calibri" pitchFamily="34" charset="-122"/>
                          <a:cs typeface="Calibri" pitchFamily="34" charset="-120"/>
                        </a:rPr>
                        <a:t>Estimable</a:t>
                      </a:r>
                      <a:endParaRPr lang="en-US" sz="950" dirty="0">
                        <a:latin typeface="Calibri" charset="0"/>
                        <a:ea typeface="Calibri" charset="0"/>
                        <a:cs typeface="Calibri" charset="0"/>
                      </a:endParaRPr>
                    </a:p>
                  </a:txBody>
                  <a:tcPr marL="76200" marR="76200" marT="25400" marB="25400" anchor="ctr">
                    <a:lnL w="0" cap="flat" cmpd="sng" algn="ctr">
                      <a:noFill/>
                    </a:lnL>
                    <a:lnR w="0" cap="flat" cmpd="sng" algn="ctr">
                      <a:noFill/>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1E3A5F"/>
                    </a:solidFill>
                  </a:tcPr>
                </a:tc>
                <a:tc>
                  <a:txBody>
                    <a:bodyPr/>
                    <a:lstStyle/>
                    <a:p>
                      <a:pPr algn="ctr" indent="0" marL="0">
                        <a:buNone/>
                      </a:pPr>
                      <a:r>
                        <a:rPr lang="en-US" sz="950" b="1" dirty="0">
                          <a:solidFill>
                            <a:srgbClr val="FFFFFF"/>
                          </a:solidFill>
                          <a:latin typeface="Calibri" pitchFamily="34" charset="0"/>
                          <a:ea typeface="Calibri" pitchFamily="34" charset="-122"/>
                          <a:cs typeface="Calibri" pitchFamily="34" charset="-120"/>
                        </a:rPr>
                        <a:t>Detected</a:t>
                      </a:r>
                      <a:endParaRPr lang="en-US" sz="950" dirty="0">
                        <a:latin typeface="Calibri" charset="0"/>
                        <a:ea typeface="Calibri" charset="0"/>
                        <a:cs typeface="Calibri" charset="0"/>
                      </a:endParaRPr>
                    </a:p>
                  </a:txBody>
                  <a:tcPr marL="76200" marR="76200" marT="25400" marB="25400" anchor="ctr">
                    <a:lnL w="0" cap="flat" cmpd="sng" algn="ctr">
                      <a:noFill/>
                    </a:lnL>
                    <a:lnR w="0" cap="flat" cmpd="sng" algn="ctr">
                      <a:noFill/>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1E3A5F"/>
                    </a:solidFill>
                  </a:tcPr>
                </a:tc>
                <a:tc>
                  <a:txBody>
                    <a:bodyPr/>
                    <a:lstStyle/>
                    <a:p>
                      <a:pPr algn="ctr" indent="0" marL="0">
                        <a:buNone/>
                      </a:pPr>
                      <a:r>
                        <a:rPr lang="en-US" sz="950" b="1" dirty="0">
                          <a:solidFill>
                            <a:srgbClr val="FFFFFF"/>
                          </a:solidFill>
                          <a:latin typeface="Calibri" pitchFamily="34" charset="0"/>
                          <a:ea typeface="Calibri" pitchFamily="34" charset="-122"/>
                          <a:cs typeface="Calibri" pitchFamily="34" charset="-120"/>
                        </a:rPr>
                        <a:t>Sensitivity</a:t>
                      </a:r>
                      <a:endParaRPr lang="en-US" sz="950" dirty="0">
                        <a:latin typeface="Calibri" charset="0"/>
                        <a:ea typeface="Calibri" charset="0"/>
                        <a:cs typeface="Calibri" charset="0"/>
                      </a:endParaRPr>
                    </a:p>
                  </a:txBody>
                  <a:tcPr marL="76200" marR="76200" marT="25400" marB="25400" anchor="ctr">
                    <a:lnL w="0" cap="flat" cmpd="sng" algn="ctr">
                      <a:noFill/>
                    </a:lnL>
                    <a:lnR w="0" cap="flat" cmpd="sng" algn="ctr">
                      <a:noFill/>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1E3A5F"/>
                    </a:solidFill>
                  </a:tcPr>
                </a:tc>
                <a:tc>
                  <a:txBody>
                    <a:bodyPr/>
                    <a:lstStyle/>
                    <a:p>
                      <a:pPr algn="ctr" indent="0" marL="0">
                        <a:buNone/>
                      </a:pPr>
                      <a:r>
                        <a:rPr lang="en-US" sz="950" b="1" dirty="0">
                          <a:solidFill>
                            <a:srgbClr val="FFFFFF"/>
                          </a:solidFill>
                          <a:latin typeface="Calibri" pitchFamily="34" charset="0"/>
                          <a:ea typeface="Calibri" pitchFamily="34" charset="-122"/>
                          <a:cs typeface="Calibri" pitchFamily="34" charset="-120"/>
                        </a:rPr>
                        <a:t>Blind spots</a:t>
                      </a:r>
                      <a:endParaRPr lang="en-US" sz="950" dirty="0">
                        <a:latin typeface="Calibri" charset="0"/>
                        <a:ea typeface="Calibri" charset="0"/>
                        <a:cs typeface="Calibri" charset="0"/>
                      </a:endParaRPr>
                    </a:p>
                  </a:txBody>
                  <a:tcPr marL="76200" marR="76200" marT="25400" marB="25400" anchor="ctr">
                    <a:lnL w="0" cap="flat" cmpd="sng" algn="ctr">
                      <a:noFill/>
                    </a:lnL>
                    <a:lnR w="0" cap="flat" cmpd="sng" algn="ctr">
                      <a:noFill/>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1E3A5F"/>
                    </a:solidFill>
                  </a:tcPr>
                </a:tc>
              </a:tr>
              <a:tr h="274320">
                <a:tc>
                  <a:txBody>
                    <a:bodyPr/>
                    <a:lstStyle/>
                    <a:p>
                      <a:pPr algn="l" indent="0" marL="0">
                        <a:buNone/>
                      </a:pPr>
                      <a:r>
                        <a:rPr lang="en-US" sz="1000" dirty="0">
                          <a:solidFill>
                            <a:srgbClr val="222831"/>
                          </a:solidFill>
                          <a:latin typeface="Courier New" pitchFamily="34" charset="0"/>
                          <a:ea typeface="Courier New" pitchFamily="34" charset="-122"/>
                          <a:cs typeface="Courier New" pitchFamily="34" charset="-120"/>
                        </a:rPr>
                        <a:t>agentic</a:t>
                      </a:r>
                      <a:endParaRPr lang="en-US" sz="1000" dirty="0">
                        <a:latin typeface="Courier New" charset="0"/>
                        <a:ea typeface="Courier New" charset="0"/>
                        <a:cs typeface="Courier New" charset="0"/>
                      </a:endParaRPr>
                    </a:p>
                  </a:txBody>
                  <a:tcPr marL="76200" marR="76200" marT="25400" marB="25400" anchor="ctr">
                    <a:lnL w="0" cap="flat" cmpd="sng" algn="ctr">
                      <a:noFill/>
                    </a:lnL>
                    <a:lnR w="0" cap="flat" cmpd="sng" algn="ctr">
                      <a:noFill/>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tcPr>
                </a:tc>
                <a:tc>
                  <a:txBody>
                    <a:bodyPr/>
                    <a:lstStyle/>
                    <a:p>
                      <a:pPr algn="ctr" indent="0" marL="0">
                        <a:buNone/>
                      </a:pPr>
                      <a:r>
                        <a:rPr lang="en-US" sz="1000" dirty="0">
                          <a:solidFill>
                            <a:srgbClr val="222831"/>
                          </a:solidFill>
                          <a:latin typeface="Calibri" pitchFamily="34" charset="0"/>
                          <a:ea typeface="Calibri" pitchFamily="34" charset="-122"/>
                          <a:cs typeface="Calibri" pitchFamily="34" charset="-120"/>
                        </a:rPr>
                        <a:t>13</a:t>
                      </a:r>
                      <a:endParaRPr lang="en-US" sz="1000" dirty="0">
                        <a:latin typeface="Calibri" charset="0"/>
                        <a:ea typeface="Calibri" charset="0"/>
                        <a:cs typeface="Calibri" charset="0"/>
                      </a:endParaRPr>
                    </a:p>
                  </a:txBody>
                  <a:tcPr marL="76200" marR="76200" marT="25400" marB="25400" anchor="ctr">
                    <a:lnL w="0" cap="flat" cmpd="sng" algn="ctr">
                      <a:noFill/>
                    </a:lnL>
                    <a:lnR w="0" cap="flat" cmpd="sng" algn="ctr">
                      <a:noFill/>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tcPr>
                </a:tc>
                <a:tc>
                  <a:txBody>
                    <a:bodyPr/>
                    <a:lstStyle/>
                    <a:p>
                      <a:pPr algn="ctr" indent="0" marL="0">
                        <a:buNone/>
                      </a:pPr>
                      <a:r>
                        <a:rPr lang="en-US" sz="1000" dirty="0">
                          <a:solidFill>
                            <a:srgbClr val="222831"/>
                          </a:solidFill>
                          <a:latin typeface="Calibri" pitchFamily="34" charset="0"/>
                          <a:ea typeface="Calibri" pitchFamily="34" charset="-122"/>
                          <a:cs typeface="Calibri" pitchFamily="34" charset="-120"/>
                        </a:rPr>
                        <a:t>4</a:t>
                      </a:r>
                      <a:endParaRPr lang="en-US" sz="1000" dirty="0">
                        <a:latin typeface="Calibri" charset="0"/>
                        <a:ea typeface="Calibri" charset="0"/>
                        <a:cs typeface="Calibri" charset="0"/>
                      </a:endParaRPr>
                    </a:p>
                  </a:txBody>
                  <a:tcPr marL="76200" marR="76200" marT="25400" marB="25400" anchor="ctr">
                    <a:lnL w="0" cap="flat" cmpd="sng" algn="ctr">
                      <a:noFill/>
                    </a:lnL>
                    <a:lnR w="0" cap="flat" cmpd="sng" algn="ctr">
                      <a:noFill/>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tcPr>
                </a:tc>
                <a:tc>
                  <a:txBody>
                    <a:bodyPr/>
                    <a:lstStyle/>
                    <a:p>
                      <a:pPr algn="ctr" indent="0" marL="0">
                        <a:buNone/>
                      </a:pPr>
                      <a:r>
                        <a:rPr lang="en-US" sz="1000" dirty="0">
                          <a:solidFill>
                            <a:srgbClr val="222831"/>
                          </a:solidFill>
                          <a:latin typeface="Calibri" pitchFamily="34" charset="0"/>
                          <a:ea typeface="Calibri" pitchFamily="34" charset="-122"/>
                          <a:cs typeface="Calibri" pitchFamily="34" charset="-120"/>
                        </a:rPr>
                        <a:t>4</a:t>
                      </a:r>
                      <a:endParaRPr lang="en-US" sz="1000" dirty="0">
                        <a:latin typeface="Calibri" charset="0"/>
                        <a:ea typeface="Calibri" charset="0"/>
                        <a:cs typeface="Calibri" charset="0"/>
                      </a:endParaRPr>
                    </a:p>
                  </a:txBody>
                  <a:tcPr marL="76200" marR="76200" marT="25400" marB="25400" anchor="ctr">
                    <a:lnL w="0" cap="flat" cmpd="sng" algn="ctr">
                      <a:noFill/>
                    </a:lnL>
                    <a:lnR w="0" cap="flat" cmpd="sng" algn="ctr">
                      <a:noFill/>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tcPr>
                </a:tc>
                <a:tc>
                  <a:txBody>
                    <a:bodyPr/>
                    <a:lstStyle/>
                    <a:p>
                      <a:pPr algn="ctr" indent="0" marL="0">
                        <a:buNone/>
                      </a:pPr>
                      <a:r>
                        <a:rPr lang="en-US" sz="1000" dirty="0">
                          <a:solidFill>
                            <a:srgbClr val="2C6E49"/>
                          </a:solidFill>
                          <a:latin typeface="Calibri" pitchFamily="34" charset="0"/>
                          <a:ea typeface="Calibri" pitchFamily="34" charset="-122"/>
                          <a:cs typeface="Calibri" pitchFamily="34" charset="-120"/>
                        </a:rPr>
                        <a:t>100%</a:t>
                      </a:r>
                      <a:endParaRPr lang="en-US" sz="1000" dirty="0">
                        <a:latin typeface="Calibri" charset="0"/>
                        <a:ea typeface="Calibri" charset="0"/>
                        <a:cs typeface="Calibri" charset="0"/>
                      </a:endParaRPr>
                    </a:p>
                  </a:txBody>
                  <a:tcPr marL="76200" marR="76200" marT="25400" marB="25400" anchor="ctr">
                    <a:lnL w="0" cap="flat" cmpd="sng" algn="ctr">
                      <a:noFill/>
                    </a:lnL>
                    <a:lnR w="0" cap="flat" cmpd="sng" algn="ctr">
                      <a:noFill/>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tcPr>
                </a:tc>
                <a:tc>
                  <a:txBody>
                    <a:bodyPr/>
                    <a:lstStyle/>
                    <a:p>
                      <a:pPr algn="ctr" indent="0" marL="0">
                        <a:buNone/>
                      </a:pPr>
                      <a:r>
                        <a:rPr lang="en-US" sz="1000" dirty="0">
                          <a:solidFill>
                            <a:srgbClr val="6E7889"/>
                          </a:solidFill>
                          <a:latin typeface="Calibri" pitchFamily="34" charset="0"/>
                          <a:ea typeface="Calibri" pitchFamily="34" charset="-122"/>
                          <a:cs typeface="Calibri" pitchFamily="34" charset="-120"/>
                        </a:rPr>
                        <a:t>—</a:t>
                      </a:r>
                      <a:endParaRPr lang="en-US" sz="1000" dirty="0">
                        <a:latin typeface="Calibri" charset="0"/>
                        <a:ea typeface="Calibri" charset="0"/>
                        <a:cs typeface="Calibri" charset="0"/>
                      </a:endParaRPr>
                    </a:p>
                  </a:txBody>
                  <a:tcPr marL="76200" marR="76200" marT="25400" marB="25400" anchor="ctr">
                    <a:lnL w="0" cap="flat" cmpd="sng" algn="ctr">
                      <a:noFill/>
                    </a:lnL>
                    <a:lnR w="0" cap="flat" cmpd="sng" algn="ctr">
                      <a:noFill/>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tcPr>
                </a:tc>
              </a:tr>
              <a:tr h="274320">
                <a:tc>
                  <a:txBody>
                    <a:bodyPr/>
                    <a:lstStyle/>
                    <a:p>
                      <a:pPr algn="l" indent="0" marL="0">
                        <a:buNone/>
                      </a:pPr>
                      <a:r>
                        <a:rPr lang="en-US" sz="1000" dirty="0">
                          <a:solidFill>
                            <a:srgbClr val="222831"/>
                          </a:solidFill>
                          <a:latin typeface="Courier New" pitchFamily="34" charset="0"/>
                          <a:ea typeface="Courier New" pitchFamily="34" charset="-122"/>
                          <a:cs typeface="Courier New" pitchFamily="34" charset="-120"/>
                        </a:rPr>
                        <a:t>reasoning</a:t>
                      </a:r>
                      <a:endParaRPr lang="en-US" sz="1000" dirty="0">
                        <a:latin typeface="Courier New" charset="0"/>
                        <a:ea typeface="Courier New" charset="0"/>
                        <a:cs typeface="Courier New" charset="0"/>
                      </a:endParaRPr>
                    </a:p>
                  </a:txBody>
                  <a:tcPr marL="76200" marR="76200" marT="25400" marB="25400" anchor="ctr">
                    <a:lnL w="0" cap="flat" cmpd="sng" algn="ctr">
                      <a:noFill/>
                    </a:lnL>
                    <a:lnR w="0" cap="flat" cmpd="sng" algn="ctr">
                      <a:noFill/>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tcPr>
                </a:tc>
                <a:tc>
                  <a:txBody>
                    <a:bodyPr/>
                    <a:lstStyle/>
                    <a:p>
                      <a:pPr algn="ctr" indent="0" marL="0">
                        <a:buNone/>
                      </a:pPr>
                      <a:r>
                        <a:rPr lang="en-US" sz="1000" dirty="0">
                          <a:solidFill>
                            <a:srgbClr val="222831"/>
                          </a:solidFill>
                          <a:latin typeface="Calibri" pitchFamily="34" charset="0"/>
                          <a:ea typeface="Calibri" pitchFamily="34" charset="-122"/>
                          <a:cs typeface="Calibri" pitchFamily="34" charset="-120"/>
                        </a:rPr>
                        <a:t>13</a:t>
                      </a:r>
                      <a:endParaRPr lang="en-US" sz="1000" dirty="0">
                        <a:latin typeface="Calibri" charset="0"/>
                        <a:ea typeface="Calibri" charset="0"/>
                        <a:cs typeface="Calibri" charset="0"/>
                      </a:endParaRPr>
                    </a:p>
                  </a:txBody>
                  <a:tcPr marL="76200" marR="76200" marT="25400" marB="25400" anchor="ctr">
                    <a:lnL w="0" cap="flat" cmpd="sng" algn="ctr">
                      <a:noFill/>
                    </a:lnL>
                    <a:lnR w="0" cap="flat" cmpd="sng" algn="ctr">
                      <a:noFill/>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tcPr>
                </a:tc>
                <a:tc>
                  <a:txBody>
                    <a:bodyPr/>
                    <a:lstStyle/>
                    <a:p>
                      <a:pPr algn="ctr" indent="0" marL="0">
                        <a:buNone/>
                      </a:pPr>
                      <a:r>
                        <a:rPr lang="en-US" sz="1000" dirty="0">
                          <a:solidFill>
                            <a:srgbClr val="222831"/>
                          </a:solidFill>
                          <a:latin typeface="Calibri" pitchFamily="34" charset="0"/>
                          <a:ea typeface="Calibri" pitchFamily="34" charset="-122"/>
                          <a:cs typeface="Calibri" pitchFamily="34" charset="-120"/>
                        </a:rPr>
                        <a:t>4</a:t>
                      </a:r>
                      <a:endParaRPr lang="en-US" sz="1000" dirty="0">
                        <a:latin typeface="Calibri" charset="0"/>
                        <a:ea typeface="Calibri" charset="0"/>
                        <a:cs typeface="Calibri" charset="0"/>
                      </a:endParaRPr>
                    </a:p>
                  </a:txBody>
                  <a:tcPr marL="76200" marR="76200" marT="25400" marB="25400" anchor="ctr">
                    <a:lnL w="0" cap="flat" cmpd="sng" algn="ctr">
                      <a:noFill/>
                    </a:lnL>
                    <a:lnR w="0" cap="flat" cmpd="sng" algn="ctr">
                      <a:noFill/>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tcPr>
                </a:tc>
                <a:tc>
                  <a:txBody>
                    <a:bodyPr/>
                    <a:lstStyle/>
                    <a:p>
                      <a:pPr algn="ctr" indent="0" marL="0">
                        <a:buNone/>
                      </a:pPr>
                      <a:r>
                        <a:rPr lang="en-US" sz="1000" dirty="0">
                          <a:solidFill>
                            <a:srgbClr val="222831"/>
                          </a:solidFill>
                          <a:latin typeface="Calibri" pitchFamily="34" charset="0"/>
                          <a:ea typeface="Calibri" pitchFamily="34" charset="-122"/>
                          <a:cs typeface="Calibri" pitchFamily="34" charset="-120"/>
                        </a:rPr>
                        <a:t>4</a:t>
                      </a:r>
                      <a:endParaRPr lang="en-US" sz="1000" dirty="0">
                        <a:latin typeface="Calibri" charset="0"/>
                        <a:ea typeface="Calibri" charset="0"/>
                        <a:cs typeface="Calibri" charset="0"/>
                      </a:endParaRPr>
                    </a:p>
                  </a:txBody>
                  <a:tcPr marL="76200" marR="76200" marT="25400" marB="25400" anchor="ctr">
                    <a:lnL w="0" cap="flat" cmpd="sng" algn="ctr">
                      <a:noFill/>
                    </a:lnL>
                    <a:lnR w="0" cap="flat" cmpd="sng" algn="ctr">
                      <a:noFill/>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tcPr>
                </a:tc>
                <a:tc>
                  <a:txBody>
                    <a:bodyPr/>
                    <a:lstStyle/>
                    <a:p>
                      <a:pPr algn="ctr" indent="0" marL="0">
                        <a:buNone/>
                      </a:pPr>
                      <a:r>
                        <a:rPr lang="en-US" sz="1000" dirty="0">
                          <a:solidFill>
                            <a:srgbClr val="2C6E49"/>
                          </a:solidFill>
                          <a:latin typeface="Calibri" pitchFamily="34" charset="0"/>
                          <a:ea typeface="Calibri" pitchFamily="34" charset="-122"/>
                          <a:cs typeface="Calibri" pitchFamily="34" charset="-120"/>
                        </a:rPr>
                        <a:t>100%</a:t>
                      </a:r>
                      <a:endParaRPr lang="en-US" sz="1000" dirty="0">
                        <a:latin typeface="Calibri" charset="0"/>
                        <a:ea typeface="Calibri" charset="0"/>
                        <a:cs typeface="Calibri" charset="0"/>
                      </a:endParaRPr>
                    </a:p>
                  </a:txBody>
                  <a:tcPr marL="76200" marR="76200" marT="25400" marB="25400" anchor="ctr">
                    <a:lnL w="0" cap="flat" cmpd="sng" algn="ctr">
                      <a:noFill/>
                    </a:lnL>
                    <a:lnR w="0" cap="flat" cmpd="sng" algn="ctr">
                      <a:noFill/>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tcPr>
                </a:tc>
                <a:tc>
                  <a:txBody>
                    <a:bodyPr/>
                    <a:lstStyle/>
                    <a:p>
                      <a:pPr algn="ctr" indent="0" marL="0">
                        <a:buNone/>
                      </a:pPr>
                      <a:r>
                        <a:rPr lang="en-US" sz="1000" dirty="0">
                          <a:solidFill>
                            <a:srgbClr val="6E7889"/>
                          </a:solidFill>
                          <a:latin typeface="Calibri" pitchFamily="34" charset="0"/>
                          <a:ea typeface="Calibri" pitchFamily="34" charset="-122"/>
                          <a:cs typeface="Calibri" pitchFamily="34" charset="-120"/>
                        </a:rPr>
                        <a:t>—</a:t>
                      </a:r>
                      <a:endParaRPr lang="en-US" sz="1000" dirty="0">
                        <a:latin typeface="Calibri" charset="0"/>
                        <a:ea typeface="Calibri" charset="0"/>
                        <a:cs typeface="Calibri" charset="0"/>
                      </a:endParaRPr>
                    </a:p>
                  </a:txBody>
                  <a:tcPr marL="76200" marR="76200" marT="25400" marB="25400" anchor="ctr">
                    <a:lnL w="0" cap="flat" cmpd="sng" algn="ctr">
                      <a:noFill/>
                    </a:lnL>
                    <a:lnR w="0" cap="flat" cmpd="sng" algn="ctr">
                      <a:noFill/>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tcPr>
                </a:tc>
              </a:tr>
              <a:tr h="274320">
                <a:tc>
                  <a:txBody>
                    <a:bodyPr/>
                    <a:lstStyle/>
                    <a:p>
                      <a:pPr algn="l" indent="0" marL="0">
                        <a:buNone/>
                      </a:pPr>
                      <a:r>
                        <a:rPr lang="en-US" sz="1000" dirty="0">
                          <a:solidFill>
                            <a:srgbClr val="222831"/>
                          </a:solidFill>
                          <a:latin typeface="Courier New" pitchFamily="34" charset="0"/>
                          <a:ea typeface="Courier New" pitchFamily="34" charset="-122"/>
                          <a:cs typeface="Courier New" pitchFamily="34" charset="-120"/>
                        </a:rPr>
                        <a:t>grounding</a:t>
                      </a:r>
                      <a:endParaRPr lang="en-US" sz="1000" dirty="0">
                        <a:latin typeface="Courier New" charset="0"/>
                        <a:ea typeface="Courier New" charset="0"/>
                        <a:cs typeface="Courier New" charset="0"/>
                      </a:endParaRPr>
                    </a:p>
                  </a:txBody>
                  <a:tcPr marL="76200" marR="76200" marT="25400" marB="25400" anchor="ctr">
                    <a:lnL w="0" cap="flat" cmpd="sng" algn="ctr">
                      <a:noFill/>
                    </a:lnL>
                    <a:lnR w="0" cap="flat" cmpd="sng" algn="ctr">
                      <a:noFill/>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tcPr>
                </a:tc>
                <a:tc>
                  <a:txBody>
                    <a:bodyPr/>
                    <a:lstStyle/>
                    <a:p>
                      <a:pPr algn="ctr" indent="0" marL="0">
                        <a:buNone/>
                      </a:pPr>
                      <a:r>
                        <a:rPr lang="en-US" sz="1000" dirty="0">
                          <a:solidFill>
                            <a:srgbClr val="222831"/>
                          </a:solidFill>
                          <a:latin typeface="Calibri" pitchFamily="34" charset="0"/>
                          <a:ea typeface="Calibri" pitchFamily="34" charset="-122"/>
                          <a:cs typeface="Calibri" pitchFamily="34" charset="-120"/>
                        </a:rPr>
                        <a:t>12</a:t>
                      </a:r>
                      <a:endParaRPr lang="en-US" sz="1000" dirty="0">
                        <a:latin typeface="Calibri" charset="0"/>
                        <a:ea typeface="Calibri" charset="0"/>
                        <a:cs typeface="Calibri" charset="0"/>
                      </a:endParaRPr>
                    </a:p>
                  </a:txBody>
                  <a:tcPr marL="76200" marR="76200" marT="25400" marB="25400" anchor="ctr">
                    <a:lnL w="0" cap="flat" cmpd="sng" algn="ctr">
                      <a:noFill/>
                    </a:lnL>
                    <a:lnR w="0" cap="flat" cmpd="sng" algn="ctr">
                      <a:noFill/>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tcPr>
                </a:tc>
                <a:tc>
                  <a:txBody>
                    <a:bodyPr/>
                    <a:lstStyle/>
                    <a:p>
                      <a:pPr algn="ctr" indent="0" marL="0">
                        <a:buNone/>
                      </a:pPr>
                      <a:r>
                        <a:rPr lang="en-US" sz="1000" dirty="0">
                          <a:solidFill>
                            <a:srgbClr val="222831"/>
                          </a:solidFill>
                          <a:latin typeface="Calibri" pitchFamily="34" charset="0"/>
                          <a:ea typeface="Calibri" pitchFamily="34" charset="-122"/>
                          <a:cs typeface="Calibri" pitchFamily="34" charset="-120"/>
                        </a:rPr>
                        <a:t>7</a:t>
                      </a:r>
                      <a:endParaRPr lang="en-US" sz="1000" dirty="0">
                        <a:latin typeface="Calibri" charset="0"/>
                        <a:ea typeface="Calibri" charset="0"/>
                        <a:cs typeface="Calibri" charset="0"/>
                      </a:endParaRPr>
                    </a:p>
                  </a:txBody>
                  <a:tcPr marL="76200" marR="76200" marT="25400" marB="25400" anchor="ctr">
                    <a:lnL w="0" cap="flat" cmpd="sng" algn="ctr">
                      <a:noFill/>
                    </a:lnL>
                    <a:lnR w="0" cap="flat" cmpd="sng" algn="ctr">
                      <a:noFill/>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tcPr>
                </a:tc>
                <a:tc>
                  <a:txBody>
                    <a:bodyPr/>
                    <a:lstStyle/>
                    <a:p>
                      <a:pPr algn="ctr" indent="0" marL="0">
                        <a:buNone/>
                      </a:pPr>
                      <a:r>
                        <a:rPr lang="en-US" sz="1000" dirty="0">
                          <a:solidFill>
                            <a:srgbClr val="222831"/>
                          </a:solidFill>
                          <a:latin typeface="Calibri" pitchFamily="34" charset="0"/>
                          <a:ea typeface="Calibri" pitchFamily="34" charset="-122"/>
                          <a:cs typeface="Calibri" pitchFamily="34" charset="-120"/>
                        </a:rPr>
                        <a:t>5</a:t>
                      </a:r>
                      <a:endParaRPr lang="en-US" sz="1000" dirty="0">
                        <a:latin typeface="Calibri" charset="0"/>
                        <a:ea typeface="Calibri" charset="0"/>
                        <a:cs typeface="Calibri" charset="0"/>
                      </a:endParaRPr>
                    </a:p>
                  </a:txBody>
                  <a:tcPr marL="76200" marR="76200" marT="25400" marB="25400" anchor="ctr">
                    <a:lnL w="0" cap="flat" cmpd="sng" algn="ctr">
                      <a:noFill/>
                    </a:lnL>
                    <a:lnR w="0" cap="flat" cmpd="sng" algn="ctr">
                      <a:noFill/>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tcPr>
                </a:tc>
                <a:tc>
                  <a:txBody>
                    <a:bodyPr/>
                    <a:lstStyle/>
                    <a:p>
                      <a:pPr algn="ctr" indent="0" marL="0">
                        <a:buNone/>
                      </a:pPr>
                      <a:r>
                        <a:rPr lang="en-US" sz="1000" b="1" dirty="0">
                          <a:solidFill>
                            <a:srgbClr val="9B2226"/>
                          </a:solidFill>
                          <a:latin typeface="Calibri" pitchFamily="34" charset="0"/>
                          <a:ea typeface="Calibri" pitchFamily="34" charset="-122"/>
                          <a:cs typeface="Calibri" pitchFamily="34" charset="-120"/>
                        </a:rPr>
                        <a:t>71.4%</a:t>
                      </a:r>
                      <a:endParaRPr lang="en-US" sz="1000" dirty="0">
                        <a:latin typeface="Calibri" charset="0"/>
                        <a:ea typeface="Calibri" charset="0"/>
                        <a:cs typeface="Calibri" charset="0"/>
                      </a:endParaRPr>
                    </a:p>
                  </a:txBody>
                  <a:tcPr marL="76200" marR="76200" marT="25400" marB="25400" anchor="ctr">
                    <a:lnL w="0" cap="flat" cmpd="sng" algn="ctr">
                      <a:noFill/>
                    </a:lnL>
                    <a:lnR w="0" cap="flat" cmpd="sng" algn="ctr">
                      <a:noFill/>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tcPr>
                </a:tc>
                <a:tc>
                  <a:txBody>
                    <a:bodyPr/>
                    <a:lstStyle/>
                    <a:p>
                      <a:pPr algn="ctr" indent="0" marL="0">
                        <a:buNone/>
                      </a:pPr>
                      <a:r>
                        <a:rPr lang="en-US" sz="1000" b="1" dirty="0">
                          <a:solidFill>
                            <a:srgbClr val="9B2226"/>
                          </a:solidFill>
                          <a:latin typeface="Calibri" pitchFamily="34" charset="0"/>
                          <a:ea typeface="Calibri" pitchFamily="34" charset="-122"/>
                          <a:cs typeface="Calibri" pitchFamily="34" charset="-120"/>
                        </a:rPr>
                        <a:t>GF-02, GF-12</a:t>
                      </a:r>
                      <a:endParaRPr lang="en-US" sz="1000" dirty="0">
                        <a:latin typeface="Calibri" charset="0"/>
                        <a:ea typeface="Calibri" charset="0"/>
                        <a:cs typeface="Calibri" charset="0"/>
                      </a:endParaRPr>
                    </a:p>
                  </a:txBody>
                  <a:tcPr marL="76200" marR="76200" marT="25400" marB="25400" anchor="ctr">
                    <a:lnL w="0" cap="flat" cmpd="sng" algn="ctr">
                      <a:noFill/>
                    </a:lnL>
                    <a:lnR w="0" cap="flat" cmpd="sng" algn="ctr">
                      <a:noFill/>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tcPr>
                </a:tc>
              </a:tr>
              <a:tr h="274320">
                <a:tc>
                  <a:txBody>
                    <a:bodyPr/>
                    <a:lstStyle/>
                    <a:p>
                      <a:pPr algn="l" indent="0" marL="0">
                        <a:buNone/>
                      </a:pPr>
                      <a:r>
                        <a:rPr lang="en-US" sz="1000" dirty="0">
                          <a:solidFill>
                            <a:srgbClr val="222831"/>
                          </a:solidFill>
                          <a:latin typeface="Courier New" pitchFamily="34" charset="0"/>
                          <a:ea typeface="Courier New" pitchFamily="34" charset="-122"/>
                          <a:cs typeface="Courier New" pitchFamily="34" charset="-120"/>
                        </a:rPr>
                        <a:t>refusal</a:t>
                      </a:r>
                      <a:endParaRPr lang="en-US" sz="1000" dirty="0">
                        <a:latin typeface="Courier New" charset="0"/>
                        <a:ea typeface="Courier New" charset="0"/>
                        <a:cs typeface="Courier New" charset="0"/>
                      </a:endParaRPr>
                    </a:p>
                  </a:txBody>
                  <a:tcPr marL="76200" marR="76200" marT="25400" marB="25400" anchor="ctr">
                    <a:lnL w="0" cap="flat" cmpd="sng" algn="ctr">
                      <a:noFill/>
                    </a:lnL>
                    <a:lnR w="0" cap="flat" cmpd="sng" algn="ctr">
                      <a:noFill/>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tcPr>
                </a:tc>
                <a:tc>
                  <a:txBody>
                    <a:bodyPr/>
                    <a:lstStyle/>
                    <a:p>
                      <a:pPr algn="ctr" indent="0" marL="0">
                        <a:buNone/>
                      </a:pPr>
                      <a:r>
                        <a:rPr lang="en-US" sz="1000" dirty="0">
                          <a:solidFill>
                            <a:srgbClr val="222831"/>
                          </a:solidFill>
                          <a:latin typeface="Calibri" pitchFamily="34" charset="0"/>
                          <a:ea typeface="Calibri" pitchFamily="34" charset="-122"/>
                          <a:cs typeface="Calibri" pitchFamily="34" charset="-120"/>
                        </a:rPr>
                        <a:t>12</a:t>
                      </a:r>
                      <a:endParaRPr lang="en-US" sz="1000" dirty="0">
                        <a:latin typeface="Calibri" charset="0"/>
                        <a:ea typeface="Calibri" charset="0"/>
                        <a:cs typeface="Calibri" charset="0"/>
                      </a:endParaRPr>
                    </a:p>
                  </a:txBody>
                  <a:tcPr marL="76200" marR="76200" marT="25400" marB="25400" anchor="ctr">
                    <a:lnL w="0" cap="flat" cmpd="sng" algn="ctr">
                      <a:noFill/>
                    </a:lnL>
                    <a:lnR w="0" cap="flat" cmpd="sng" algn="ctr">
                      <a:noFill/>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tcPr>
                </a:tc>
                <a:tc>
                  <a:txBody>
                    <a:bodyPr/>
                    <a:lstStyle/>
                    <a:p>
                      <a:pPr algn="ctr" indent="0" marL="0">
                        <a:buNone/>
                      </a:pPr>
                      <a:r>
                        <a:rPr lang="en-US" sz="1000" dirty="0">
                          <a:solidFill>
                            <a:srgbClr val="222831"/>
                          </a:solidFill>
                          <a:latin typeface="Calibri" pitchFamily="34" charset="0"/>
                          <a:ea typeface="Calibri" pitchFamily="34" charset="-122"/>
                          <a:cs typeface="Calibri" pitchFamily="34" charset="-120"/>
                        </a:rPr>
                        <a:t>5</a:t>
                      </a:r>
                      <a:endParaRPr lang="en-US" sz="1000" dirty="0">
                        <a:latin typeface="Calibri" charset="0"/>
                        <a:ea typeface="Calibri" charset="0"/>
                        <a:cs typeface="Calibri" charset="0"/>
                      </a:endParaRPr>
                    </a:p>
                  </a:txBody>
                  <a:tcPr marL="76200" marR="76200" marT="25400" marB="25400" anchor="ctr">
                    <a:lnL w="0" cap="flat" cmpd="sng" algn="ctr">
                      <a:noFill/>
                    </a:lnL>
                    <a:lnR w="0" cap="flat" cmpd="sng" algn="ctr">
                      <a:noFill/>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tcPr>
                </a:tc>
                <a:tc>
                  <a:txBody>
                    <a:bodyPr/>
                    <a:lstStyle/>
                    <a:p>
                      <a:pPr algn="ctr" indent="0" marL="0">
                        <a:buNone/>
                      </a:pPr>
                      <a:r>
                        <a:rPr lang="en-US" sz="1000" dirty="0">
                          <a:solidFill>
                            <a:srgbClr val="222831"/>
                          </a:solidFill>
                          <a:latin typeface="Calibri" pitchFamily="34" charset="0"/>
                          <a:ea typeface="Calibri" pitchFamily="34" charset="-122"/>
                          <a:cs typeface="Calibri" pitchFamily="34" charset="-120"/>
                        </a:rPr>
                        <a:t>5</a:t>
                      </a:r>
                      <a:endParaRPr lang="en-US" sz="1000" dirty="0">
                        <a:latin typeface="Calibri" charset="0"/>
                        <a:ea typeface="Calibri" charset="0"/>
                        <a:cs typeface="Calibri" charset="0"/>
                      </a:endParaRPr>
                    </a:p>
                  </a:txBody>
                  <a:tcPr marL="76200" marR="76200" marT="25400" marB="25400" anchor="ctr">
                    <a:lnL w="0" cap="flat" cmpd="sng" algn="ctr">
                      <a:noFill/>
                    </a:lnL>
                    <a:lnR w="0" cap="flat" cmpd="sng" algn="ctr">
                      <a:noFill/>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tcPr>
                </a:tc>
                <a:tc>
                  <a:txBody>
                    <a:bodyPr/>
                    <a:lstStyle/>
                    <a:p>
                      <a:pPr algn="ctr" indent="0" marL="0">
                        <a:buNone/>
                      </a:pPr>
                      <a:r>
                        <a:rPr lang="en-US" sz="1000" dirty="0">
                          <a:solidFill>
                            <a:srgbClr val="2C6E49"/>
                          </a:solidFill>
                          <a:latin typeface="Calibri" pitchFamily="34" charset="0"/>
                          <a:ea typeface="Calibri" pitchFamily="34" charset="-122"/>
                          <a:cs typeface="Calibri" pitchFamily="34" charset="-120"/>
                        </a:rPr>
                        <a:t>100%</a:t>
                      </a:r>
                      <a:endParaRPr lang="en-US" sz="1000" dirty="0">
                        <a:latin typeface="Calibri" charset="0"/>
                        <a:ea typeface="Calibri" charset="0"/>
                        <a:cs typeface="Calibri" charset="0"/>
                      </a:endParaRPr>
                    </a:p>
                  </a:txBody>
                  <a:tcPr marL="76200" marR="76200" marT="25400" marB="25400" anchor="ctr">
                    <a:lnL w="0" cap="flat" cmpd="sng" algn="ctr">
                      <a:noFill/>
                    </a:lnL>
                    <a:lnR w="0" cap="flat" cmpd="sng" algn="ctr">
                      <a:noFill/>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tcPr>
                </a:tc>
                <a:tc>
                  <a:txBody>
                    <a:bodyPr/>
                    <a:lstStyle/>
                    <a:p>
                      <a:pPr algn="ctr" indent="0" marL="0">
                        <a:buNone/>
                      </a:pPr>
                      <a:r>
                        <a:rPr lang="en-US" sz="1000" dirty="0">
                          <a:solidFill>
                            <a:srgbClr val="6E7889"/>
                          </a:solidFill>
                          <a:latin typeface="Calibri" pitchFamily="34" charset="0"/>
                          <a:ea typeface="Calibri" pitchFamily="34" charset="-122"/>
                          <a:cs typeface="Calibri" pitchFamily="34" charset="-120"/>
                        </a:rPr>
                        <a:t>—</a:t>
                      </a:r>
                      <a:endParaRPr lang="en-US" sz="1000" dirty="0">
                        <a:latin typeface="Calibri" charset="0"/>
                        <a:ea typeface="Calibri" charset="0"/>
                        <a:cs typeface="Calibri" charset="0"/>
                      </a:endParaRPr>
                    </a:p>
                  </a:txBody>
                  <a:tcPr marL="76200" marR="76200" marT="25400" marB="25400" anchor="ctr">
                    <a:lnL w="0" cap="flat" cmpd="sng" algn="ctr">
                      <a:noFill/>
                    </a:lnL>
                    <a:lnR w="0" cap="flat" cmpd="sng" algn="ctr">
                      <a:noFill/>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tcPr>
                </a:tc>
              </a:tr>
            </a:tbl>
          </a:graphicData>
        </a:graphic>
      </p:graphicFrame>
      <p:sp>
        <p:nvSpPr>
          <p:cNvPr id="6" name="Shape 3"/>
          <p:cNvSpPr/>
          <p:nvPr/>
        </p:nvSpPr>
        <p:spPr>
          <a:xfrm>
            <a:off x="548640" y="3767328"/>
            <a:ext cx="2651760" cy="2176272"/>
          </a:xfrm>
          <a:prstGeom prst="roundRect">
            <a:avLst>
              <a:gd name="adj" fmla="val 2521"/>
            </a:avLst>
          </a:prstGeom>
          <a:solidFill>
            <a:srgbClr val="FBF3F3"/>
          </a:solidFill>
          <a:ln w="9525">
            <a:solidFill>
              <a:srgbClr val="DCE1E8"/>
            </a:solidFill>
            <a:prstDash val="solid"/>
          </a:ln>
        </p:spPr>
      </p:sp>
      <p:sp>
        <p:nvSpPr>
          <p:cNvPr id="7" name="Text 4"/>
          <p:cNvSpPr/>
          <p:nvPr/>
        </p:nvSpPr>
        <p:spPr>
          <a:xfrm>
            <a:off x="768096" y="3950208"/>
            <a:ext cx="2212848" cy="256032"/>
          </a:xfrm>
          <a:prstGeom prst="rect">
            <a:avLst/>
          </a:prstGeom>
          <a:noFill/>
          <a:ln/>
        </p:spPr>
        <p:txBody>
          <a:bodyPr wrap="square" lIns="0" tIns="0" rIns="0" bIns="0" rtlCol="0" anchor="ctr"/>
          <a:lstStyle/>
          <a:p>
            <a:pPr indent="0" marL="0">
              <a:buNone/>
            </a:pPr>
            <a:r>
              <a:rPr lang="en-US" sz="1200" b="1" dirty="0">
                <a:solidFill>
                  <a:srgbClr val="9B2226"/>
                </a:solidFill>
                <a:latin typeface="Courier New" pitchFamily="34" charset="0"/>
                <a:ea typeface="Courier New" pitchFamily="34" charset="-122"/>
                <a:cs typeface="Courier New" pitchFamily="34" charset="-120"/>
              </a:rPr>
              <a:t>GF-12</a:t>
            </a:r>
            <a:endParaRPr lang="en-US" sz="1200" dirty="0"/>
          </a:p>
        </p:txBody>
      </p:sp>
      <p:sp>
        <p:nvSpPr>
          <p:cNvPr id="8" name="Text 5"/>
          <p:cNvSpPr/>
          <p:nvPr/>
        </p:nvSpPr>
        <p:spPr>
          <a:xfrm>
            <a:off x="768096" y="4206240"/>
            <a:ext cx="2212848" cy="256032"/>
          </a:xfrm>
          <a:prstGeom prst="rect">
            <a:avLst/>
          </a:prstGeom>
          <a:noFill/>
          <a:ln/>
        </p:spPr>
        <p:txBody>
          <a:bodyPr wrap="square" lIns="0" tIns="0" rIns="0" bIns="0" rtlCol="0" anchor="ctr"/>
          <a:lstStyle/>
          <a:p>
            <a:pPr indent="0" marL="0">
              <a:buNone/>
            </a:pPr>
            <a:r>
              <a:rPr lang="en-US" sz="850" dirty="0">
                <a:solidFill>
                  <a:srgbClr val="6E7889"/>
                </a:solidFill>
                <a:latin typeface="Courier New" pitchFamily="34" charset="0"/>
                <a:ea typeface="Courier New" pitchFamily="34" charset="-122"/>
                <a:cs typeface="Courier New" pitchFamily="34" charset="-120"/>
              </a:rPr>
              <a:t>quantity_distortion</a:t>
            </a:r>
            <a:endParaRPr lang="en-US" sz="850" dirty="0"/>
          </a:p>
        </p:txBody>
      </p:sp>
      <p:sp>
        <p:nvSpPr>
          <p:cNvPr id="9" name="Text 6"/>
          <p:cNvSpPr/>
          <p:nvPr/>
        </p:nvSpPr>
        <p:spPr>
          <a:xfrm>
            <a:off x="768096" y="4517136"/>
            <a:ext cx="2212848" cy="1298448"/>
          </a:xfrm>
          <a:prstGeom prst="rect">
            <a:avLst/>
          </a:prstGeom>
          <a:noFill/>
          <a:ln/>
        </p:spPr>
        <p:txBody>
          <a:bodyPr wrap="square" lIns="0" tIns="0" rIns="0" bIns="0" rtlCol="0" anchor="t"/>
          <a:lstStyle/>
          <a:p>
            <a:pPr indent="0" marL="0">
              <a:lnSpc>
                <a:spcPts val="1500"/>
              </a:lnSpc>
              <a:buNone/>
            </a:pPr>
            <a:r>
              <a:rPr lang="en-US" sz="1000" dirty="0">
                <a:solidFill>
                  <a:srgbClr val="222831"/>
                </a:solidFill>
                <a:latin typeface="Calibri" pitchFamily="34" charset="0"/>
                <a:ea typeface="Calibri" pitchFamily="34" charset="-122"/>
                <a:cs typeface="Calibri" pitchFamily="34" charset="-120"/>
              </a:rPr>
              <a:t>A numeric value, unit or magnitude from a passage is altered in the answer. 5 planted instances; the rubric's own target dimensions move by at most 0.008 — negligible.</a:t>
            </a:r>
            <a:endParaRPr lang="en-US" sz="1000" dirty="0"/>
          </a:p>
        </p:txBody>
      </p:sp>
      <p:sp>
        <p:nvSpPr>
          <p:cNvPr id="10" name="Shape 7"/>
          <p:cNvSpPr/>
          <p:nvPr/>
        </p:nvSpPr>
        <p:spPr>
          <a:xfrm>
            <a:off x="3383280" y="3767328"/>
            <a:ext cx="2651760" cy="2176272"/>
          </a:xfrm>
          <a:prstGeom prst="roundRect">
            <a:avLst>
              <a:gd name="adj" fmla="val 2521"/>
            </a:avLst>
          </a:prstGeom>
          <a:solidFill>
            <a:srgbClr val="FBF3F3"/>
          </a:solidFill>
          <a:ln w="9525">
            <a:solidFill>
              <a:srgbClr val="DCE1E8"/>
            </a:solidFill>
            <a:prstDash val="solid"/>
          </a:ln>
        </p:spPr>
      </p:sp>
      <p:sp>
        <p:nvSpPr>
          <p:cNvPr id="11" name="Text 8"/>
          <p:cNvSpPr/>
          <p:nvPr/>
        </p:nvSpPr>
        <p:spPr>
          <a:xfrm>
            <a:off x="3602736" y="3950208"/>
            <a:ext cx="2212848" cy="256032"/>
          </a:xfrm>
          <a:prstGeom prst="rect">
            <a:avLst/>
          </a:prstGeom>
          <a:noFill/>
          <a:ln/>
        </p:spPr>
        <p:txBody>
          <a:bodyPr wrap="square" lIns="0" tIns="0" rIns="0" bIns="0" rtlCol="0" anchor="ctr"/>
          <a:lstStyle/>
          <a:p>
            <a:pPr indent="0" marL="0">
              <a:buNone/>
            </a:pPr>
            <a:r>
              <a:rPr lang="en-US" sz="1200" b="1" dirty="0">
                <a:solidFill>
                  <a:srgbClr val="9B2226"/>
                </a:solidFill>
                <a:latin typeface="Courier New" pitchFamily="34" charset="0"/>
                <a:ea typeface="Courier New" pitchFamily="34" charset="-122"/>
                <a:cs typeface="Courier New" pitchFamily="34" charset="-120"/>
              </a:rPr>
              <a:t>GF-02</a:t>
            </a:r>
            <a:endParaRPr lang="en-US" sz="1200" dirty="0"/>
          </a:p>
        </p:txBody>
      </p:sp>
      <p:sp>
        <p:nvSpPr>
          <p:cNvPr id="12" name="Text 9"/>
          <p:cNvSpPr/>
          <p:nvPr/>
        </p:nvSpPr>
        <p:spPr>
          <a:xfrm>
            <a:off x="3602736" y="4206240"/>
            <a:ext cx="2212848" cy="256032"/>
          </a:xfrm>
          <a:prstGeom prst="rect">
            <a:avLst/>
          </a:prstGeom>
          <a:noFill/>
          <a:ln/>
        </p:spPr>
        <p:txBody>
          <a:bodyPr wrap="square" lIns="0" tIns="0" rIns="0" bIns="0" rtlCol="0" anchor="ctr"/>
          <a:lstStyle/>
          <a:p>
            <a:pPr indent="0" marL="0">
              <a:buNone/>
            </a:pPr>
            <a:r>
              <a:rPr lang="en-US" sz="850" dirty="0">
                <a:solidFill>
                  <a:srgbClr val="6E7889"/>
                </a:solidFill>
                <a:latin typeface="Courier New" pitchFamily="34" charset="0"/>
                <a:ea typeface="Courier New" pitchFamily="34" charset="-122"/>
                <a:cs typeface="Courier New" pitchFamily="34" charset="-120"/>
              </a:rPr>
              <a:t>citation_points_to_wrong_span</a:t>
            </a:r>
            <a:endParaRPr lang="en-US" sz="850" dirty="0"/>
          </a:p>
        </p:txBody>
      </p:sp>
      <p:sp>
        <p:nvSpPr>
          <p:cNvPr id="13" name="Text 10"/>
          <p:cNvSpPr/>
          <p:nvPr/>
        </p:nvSpPr>
        <p:spPr>
          <a:xfrm>
            <a:off x="3602736" y="4517136"/>
            <a:ext cx="2212848" cy="1298448"/>
          </a:xfrm>
          <a:prstGeom prst="rect">
            <a:avLst/>
          </a:prstGeom>
          <a:noFill/>
          <a:ln/>
        </p:spPr>
        <p:txBody>
          <a:bodyPr wrap="square" lIns="0" tIns="0" rIns="0" bIns="0" rtlCol="0" anchor="t"/>
          <a:lstStyle/>
          <a:p>
            <a:pPr indent="0" marL="0">
              <a:lnSpc>
                <a:spcPts val="1500"/>
              </a:lnSpc>
              <a:buNone/>
            </a:pPr>
            <a:r>
              <a:rPr lang="en-US" sz="1000" dirty="0">
                <a:solidFill>
                  <a:srgbClr val="222831"/>
                </a:solidFill>
                <a:latin typeface="Calibri" pitchFamily="34" charset="0"/>
                <a:ea typeface="Calibri" pitchFamily="34" charset="-122"/>
                <a:cs typeface="Calibri" pitchFamily="34" charset="-120"/>
              </a:rPr>
              <a:t>The claim is defensible but the cited passage does not contain it. 5 planted instances; best movement 0.285 on citation_validity — small, and below the bar for registering.</a:t>
            </a:r>
            <a:endParaRPr lang="en-US" sz="1000" dirty="0"/>
          </a:p>
        </p:txBody>
      </p:sp>
      <p:sp>
        <p:nvSpPr>
          <p:cNvPr id="14" name="Shape 11"/>
          <p:cNvSpPr/>
          <p:nvPr/>
        </p:nvSpPr>
        <p:spPr>
          <a:xfrm>
            <a:off x="6217920" y="3767328"/>
            <a:ext cx="5425135" cy="2176272"/>
          </a:xfrm>
          <a:prstGeom prst="roundRect">
            <a:avLst>
              <a:gd name="adj" fmla="val 2521"/>
            </a:avLst>
          </a:prstGeom>
          <a:solidFill>
            <a:srgbClr val="F3F5F8"/>
          </a:solidFill>
          <a:ln w="9525">
            <a:solidFill>
              <a:srgbClr val="DCE1E8"/>
            </a:solidFill>
            <a:prstDash val="solid"/>
          </a:ln>
        </p:spPr>
      </p:sp>
      <p:sp>
        <p:nvSpPr>
          <p:cNvPr id="15" name="Text 12"/>
          <p:cNvSpPr/>
          <p:nvPr/>
        </p:nvSpPr>
        <p:spPr>
          <a:xfrm>
            <a:off x="6455664" y="3950208"/>
            <a:ext cx="4946904" cy="219456"/>
          </a:xfrm>
          <a:prstGeom prst="rect">
            <a:avLst/>
          </a:prstGeom>
          <a:noFill/>
          <a:ln/>
        </p:spPr>
        <p:txBody>
          <a:bodyPr wrap="square" lIns="0" tIns="0" rIns="0" bIns="0" rtlCol="0" anchor="ctr"/>
          <a:lstStyle/>
          <a:p>
            <a:pPr indent="0" marL="0">
              <a:buNone/>
            </a:pPr>
            <a:r>
              <a:rPr lang="en-US" sz="1050" b="1" spc="60" kern="0" dirty="0">
                <a:solidFill>
                  <a:srgbClr val="1E3A5F"/>
                </a:solidFill>
                <a:latin typeface="Calibri" pitchFamily="34" charset="0"/>
                <a:ea typeface="Calibri" pitchFamily="34" charset="-122"/>
                <a:cs typeface="Calibri" pitchFamily="34" charset="-120"/>
              </a:rPr>
              <a:t>WHY THIS RANKS ABOVE A NOISY NUMBER</a:t>
            </a:r>
            <a:endParaRPr lang="en-US" sz="1050" dirty="0"/>
          </a:p>
        </p:txBody>
      </p:sp>
      <p:sp>
        <p:nvSpPr>
          <p:cNvPr id="16" name="Text 13"/>
          <p:cNvSpPr/>
          <p:nvPr/>
        </p:nvSpPr>
        <p:spPr>
          <a:xfrm>
            <a:off x="6455664" y="4261104"/>
            <a:ext cx="4946904" cy="1517904"/>
          </a:xfrm>
          <a:prstGeom prst="rect">
            <a:avLst/>
          </a:prstGeom>
          <a:noFill/>
          <a:ln/>
        </p:spPr>
        <p:txBody>
          <a:bodyPr wrap="square" lIns="0" tIns="0" rIns="0" bIns="0" rtlCol="0" anchor="t"/>
          <a:lstStyle/>
          <a:p>
            <a:pPr indent="0" marL="0">
              <a:lnSpc>
                <a:spcPts val="1500"/>
              </a:lnSpc>
              <a:spcAft>
                <a:spcPts val="800"/>
              </a:spcAft>
              <a:buNone/>
            </a:pPr>
            <a:r>
              <a:rPr lang="en-US" sz="1050" dirty="0">
                <a:solidFill>
                  <a:srgbClr val="222831"/>
                </a:solidFill>
                <a:latin typeface="Calibri" pitchFamily="34" charset="0"/>
                <a:ea typeface="Calibri" pitchFamily="34" charset="-122"/>
                <a:cs typeface="Calibri" pitchFamily="34" charset="-120"/>
              </a:rPr>
              <a:t>A noisy measurement announces itself in the interval. A blind spot produces confident false assurance: the instrument says “acceptable” about a response we planted a failure in.</a:t>
            </a:r>
            <a:endParaRPr lang="en-US" sz="1050" dirty="0"/>
          </a:p>
          <a:p>
            <a:pPr indent="0" marL="0">
              <a:lnSpc>
                <a:spcPts val="1500"/>
              </a:lnSpc>
              <a:spcAft>
                <a:spcPts val="800"/>
              </a:spcAft>
              <a:buNone/>
            </a:pPr>
            <a:r>
              <a:rPr lang="en-US" sz="1050" dirty="0">
                <a:solidFill>
                  <a:srgbClr val="222831"/>
                </a:solidFill>
                <a:latin typeface="Calibri" pitchFamily="34" charset="0"/>
                <a:ea typeface="Calibri" pitchFamily="34" charset="-122"/>
                <a:cs typeface="Calibri" pitchFamily="34" charset="-120"/>
              </a:rPr>
              <a:t>Underpowered is not undetected. Codes with fewer than 4 planted instances are reported as not estimable — conflating the two blames the rubric for a sampling gap. On grounding that is 5 of the 12 codes.</a:t>
            </a:r>
            <a:endParaRPr lang="en-US" sz="1050" dirty="0"/>
          </a:p>
        </p:txBody>
      </p:sp>
      <p:sp>
        <p:nvSpPr>
          <p:cNvPr id="17" name="Text 14"/>
          <p:cNvSpPr/>
          <p:nvPr/>
        </p:nvSpPr>
        <p:spPr>
          <a:xfrm>
            <a:off x="548640" y="6336792"/>
            <a:ext cx="9966960" cy="219456"/>
          </a:xfrm>
          <a:prstGeom prst="rect">
            <a:avLst/>
          </a:prstGeom>
          <a:noFill/>
          <a:ln/>
        </p:spPr>
        <p:txBody>
          <a:bodyPr wrap="square" lIns="0" tIns="0" rIns="0" bIns="0" rtlCol="0" anchor="ctr"/>
          <a:lstStyle/>
          <a:p>
            <a:pPr algn="l" indent="0" marL="0">
              <a:buNone/>
            </a:pPr>
            <a:r>
              <a:rPr lang="en-US" sz="800" dirty="0">
                <a:solidFill>
                  <a:srgbClr val="6E7889"/>
                </a:solidFill>
                <a:latin typeface="Calibri" pitchFamily="34" charset="0"/>
                <a:ea typeface="Calibri" pitchFamily="34" charset="-122"/>
                <a:cs typeface="Calibri" pitchFamily="34" charset="-120"/>
              </a:rPr>
              <a:t>results/portfolio.json  md5 299bd4f19e03caa2cd7e33681340c294  ·  tracks.*.sensitivity  ·  naming the blind spots is only possible because ground truth is planted</a:t>
            </a:r>
            <a:endParaRPr lang="en-US" sz="800" dirty="0"/>
          </a:p>
        </p:txBody>
      </p:sp>
      <p:sp>
        <p:nvSpPr>
          <p:cNvPr id="18" name="Text 15"/>
          <p:cNvSpPr/>
          <p:nvPr/>
        </p:nvSpPr>
        <p:spPr>
          <a:xfrm>
            <a:off x="10927080" y="6336792"/>
            <a:ext cx="713232" cy="219456"/>
          </a:xfrm>
          <a:prstGeom prst="rect">
            <a:avLst/>
          </a:prstGeom>
          <a:noFill/>
          <a:ln/>
        </p:spPr>
        <p:txBody>
          <a:bodyPr wrap="square" lIns="0" tIns="0" rIns="0" bIns="0" rtlCol="0" anchor="ctr"/>
          <a:lstStyle/>
          <a:p>
            <a:pPr algn="r" indent="0" marL="0">
              <a:buNone/>
            </a:pPr>
            <a:r>
              <a:rPr lang="en-US" sz="800" dirty="0">
                <a:solidFill>
                  <a:srgbClr val="6E7889"/>
                </a:solidFill>
                <a:latin typeface="Calibri" pitchFamily="34" charset="0"/>
                <a:ea typeface="Calibri" pitchFamily="34" charset="-122"/>
                <a:cs typeface="Calibri" pitchFamily="34" charset="-120"/>
              </a:rPr>
              <a:t>11</a:t>
            </a:r>
            <a:endParaRPr lang="en-US" sz="8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nvSpPr>
        <p:spPr>
          <a:xfrm>
            <a:off x="548640" y="292608"/>
            <a:ext cx="11094415" cy="201168"/>
          </a:xfrm>
          <a:prstGeom prst="rect">
            <a:avLst/>
          </a:prstGeom>
          <a:noFill/>
          <a:ln/>
        </p:spPr>
        <p:txBody>
          <a:bodyPr wrap="square" lIns="0" tIns="0" rIns="0" bIns="0" rtlCol="0" anchor="ctr"/>
          <a:lstStyle/>
          <a:p>
            <a:pPr indent="0" marL="0">
              <a:buNone/>
            </a:pPr>
            <a:r>
              <a:rPr lang="en-US" sz="950" b="1" spc="160" kern="0" dirty="0">
                <a:solidFill>
                  <a:srgbClr val="6E7889"/>
                </a:solidFill>
                <a:latin typeface="Calibri" pitchFamily="34" charset="0"/>
                <a:ea typeface="Calibri" pitchFamily="34" charset="-122"/>
                <a:cs typeface="Calibri" pitchFamily="34" charset="-120"/>
              </a:rPr>
              <a:t>12  ·  RED-TEAMING THE EVAL ITSELF</a:t>
            </a:r>
            <a:endParaRPr lang="en-US" sz="950" dirty="0"/>
          </a:p>
        </p:txBody>
      </p:sp>
      <p:sp>
        <p:nvSpPr>
          <p:cNvPr id="3" name="Text 1"/>
          <p:cNvSpPr/>
          <p:nvPr/>
        </p:nvSpPr>
        <p:spPr>
          <a:xfrm>
            <a:off x="548640" y="530352"/>
            <a:ext cx="11094415" cy="786384"/>
          </a:xfrm>
          <a:prstGeom prst="rect">
            <a:avLst/>
          </a:prstGeom>
          <a:noFill/>
          <a:ln/>
        </p:spPr>
        <p:txBody>
          <a:bodyPr wrap="square" lIns="0" tIns="0" rIns="0" bIns="0" rtlCol="0" anchor="t"/>
          <a:lstStyle/>
          <a:p>
            <a:pPr indent="0" marL="0">
              <a:lnSpc>
                <a:spcPts val="3200"/>
              </a:lnSpc>
              <a:buNone/>
            </a:pPr>
            <a:r>
              <a:rPr lang="en-US" sz="2600" b="1" dirty="0">
                <a:solidFill>
                  <a:srgbClr val="1E3A5F"/>
                </a:solidFill>
                <a:latin typeface="Cambria" pitchFamily="34" charset="0"/>
                <a:ea typeface="Cambria" pitchFamily="34" charset="-122"/>
                <a:cs typeface="Cambria" pitchFamily="34" charset="-120"/>
              </a:rPr>
              <a:t>The instrument gets audited too: twenty probe runs, one real failure</a:t>
            </a:r>
            <a:endParaRPr lang="en-US" sz="2600" dirty="0"/>
          </a:p>
        </p:txBody>
      </p:sp>
      <p:sp>
        <p:nvSpPr>
          <p:cNvPr id="4" name="Text 2"/>
          <p:cNvSpPr/>
          <p:nvPr/>
        </p:nvSpPr>
        <p:spPr>
          <a:xfrm>
            <a:off x="548640" y="1371600"/>
            <a:ext cx="11094415" cy="402336"/>
          </a:xfrm>
          <a:prstGeom prst="rect">
            <a:avLst/>
          </a:prstGeom>
          <a:noFill/>
          <a:ln/>
        </p:spPr>
        <p:txBody>
          <a:bodyPr wrap="square" lIns="0" tIns="0" rIns="0" bIns="0" rtlCol="0" anchor="t"/>
          <a:lstStyle/>
          <a:p>
            <a:pPr indent="0" marL="0">
              <a:lnSpc>
                <a:spcPts val="1600"/>
              </a:lnSpc>
              <a:buNone/>
            </a:pPr>
            <a:r>
              <a:rPr lang="en-US" sz="1200" dirty="0">
                <a:solidFill>
                  <a:srgbClr val="6E7889"/>
                </a:solidFill>
                <a:latin typeface="Calibri" pitchFamily="34" charset="0"/>
                <a:ea typeface="Calibri" pitchFamily="34" charset="-122"/>
                <a:cs typeface="Calibri" pitchFamily="34" charset="-120"/>
              </a:rPr>
              <a:t>Each probe asks whether the rubric can be satisfied without doing the work it claims to measure. A probe that cannot fail for the right reason cannot pass for the right reason either.</a:t>
            </a:r>
            <a:endParaRPr lang="en-US" sz="1200" dirty="0"/>
          </a:p>
        </p:txBody>
      </p:sp>
      <p:graphicFrame>
        <p:nvGraphicFramePr>
          <p:cNvPr id="13" name="Table 0"/>
          <p:cNvGraphicFramePr>
            <a:graphicFrameLocks noGrp="1"/>
          </p:cNvGraphicFramePr>
          <p:nvPr>
            <p:extLst>
              <p:ext uri="{D42A27DB-BD31-4B8C-83A1-F6EECF244321}">
                <p14:modId xmlns:p14="http://schemas.microsoft.com/office/powerpoint/2010/main" val="1579011935"/>
              </p:ext>
            </p:extLst>
          </p:nvPr>
        </p:nvGraphicFramePr>
        <p:xfrm>
          <a:off x="548640" y="2066544"/>
          <a:ext cx="9144000" cy="914400"/>
        </p:xfrm>
        <a:graphic>
          <a:graphicData uri="http://schemas.openxmlformats.org/drawingml/2006/table">
            <a:tbl>
              <a:tblPr/>
              <a:tblGrid>
                <a:gridCol w="1920240"/>
                <a:gridCol w="3566160"/>
                <a:gridCol w="2743200"/>
                <a:gridCol w="1463040"/>
                <a:gridCol w="1401775"/>
              </a:tblGrid>
              <a:tr h="310896">
                <a:tc>
                  <a:txBody>
                    <a:bodyPr/>
                    <a:lstStyle/>
                    <a:p>
                      <a:pPr algn="l" indent="0" marL="0">
                        <a:buNone/>
                      </a:pPr>
                      <a:r>
                        <a:rPr lang="en-US" sz="950" b="1" dirty="0">
                          <a:solidFill>
                            <a:srgbClr val="FFFFFF"/>
                          </a:solidFill>
                          <a:latin typeface="Calibri" pitchFamily="34" charset="0"/>
                          <a:ea typeface="Calibri" pitchFamily="34" charset="-122"/>
                          <a:cs typeface="Calibri" pitchFamily="34" charset="-120"/>
                        </a:rPr>
                        <a:t>Probe</a:t>
                      </a:r>
                      <a:endParaRPr lang="en-US" sz="950" dirty="0">
                        <a:latin typeface="Calibri" charset="0"/>
                        <a:ea typeface="Calibri" charset="0"/>
                        <a:cs typeface="Calibri" charset="0"/>
                      </a:endParaRPr>
                    </a:p>
                  </a:txBody>
                  <a:tcPr marL="76200" marR="76200" marT="25400" marB="25400" anchor="ctr">
                    <a:lnL w="0" cap="flat" cmpd="sng" algn="ctr">
                      <a:noFill/>
                    </a:lnL>
                    <a:lnR w="0" cap="flat" cmpd="sng" algn="ctr">
                      <a:noFill/>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1E3A5F"/>
                    </a:solidFill>
                  </a:tcPr>
                </a:tc>
                <a:tc>
                  <a:txBody>
                    <a:bodyPr/>
                    <a:lstStyle/>
                    <a:p>
                      <a:pPr algn="ctr" indent="0" marL="0">
                        <a:buNone/>
                      </a:pPr>
                      <a:r>
                        <a:rPr lang="en-US" sz="950" b="1" dirty="0">
                          <a:solidFill>
                            <a:srgbClr val="FFFFFF"/>
                          </a:solidFill>
                          <a:latin typeface="Calibri" pitchFamily="34" charset="0"/>
                          <a:ea typeface="Calibri" pitchFamily="34" charset="-122"/>
                          <a:cs typeface="Calibri" pitchFamily="34" charset="-120"/>
                        </a:rPr>
                        <a:t>What it catches</a:t>
                      </a:r>
                      <a:endParaRPr lang="en-US" sz="950" dirty="0">
                        <a:latin typeface="Calibri" charset="0"/>
                        <a:ea typeface="Calibri" charset="0"/>
                        <a:cs typeface="Calibri" charset="0"/>
                      </a:endParaRPr>
                    </a:p>
                  </a:txBody>
                  <a:tcPr marL="76200" marR="76200" marT="25400" marB="25400" anchor="ctr">
                    <a:lnL w="0" cap="flat" cmpd="sng" algn="ctr">
                      <a:noFill/>
                    </a:lnL>
                    <a:lnR w="0" cap="flat" cmpd="sng" algn="ctr">
                      <a:noFill/>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1E3A5F"/>
                    </a:solidFill>
                  </a:tcPr>
                </a:tc>
                <a:tc>
                  <a:txBody>
                    <a:bodyPr/>
                    <a:lstStyle/>
                    <a:p>
                      <a:pPr algn="ctr" indent="0" marL="0">
                        <a:buNone/>
                      </a:pPr>
                      <a:r>
                        <a:rPr lang="en-US" sz="950" b="1" dirty="0">
                          <a:solidFill>
                            <a:srgbClr val="FFFFFF"/>
                          </a:solidFill>
                          <a:latin typeface="Calibri" pitchFamily="34" charset="0"/>
                          <a:ea typeface="Calibri" pitchFamily="34" charset="-122"/>
                          <a:cs typeface="Calibri" pitchFamily="34" charset="-120"/>
                        </a:rPr>
                        <a:t>Worst observed</a:t>
                      </a:r>
                      <a:endParaRPr lang="en-US" sz="950" dirty="0">
                        <a:latin typeface="Calibri" charset="0"/>
                        <a:ea typeface="Calibri" charset="0"/>
                        <a:cs typeface="Calibri" charset="0"/>
                      </a:endParaRPr>
                    </a:p>
                  </a:txBody>
                  <a:tcPr marL="76200" marR="76200" marT="25400" marB="25400" anchor="ctr">
                    <a:lnL w="0" cap="flat" cmpd="sng" algn="ctr">
                      <a:noFill/>
                    </a:lnL>
                    <a:lnR w="0" cap="flat" cmpd="sng" algn="ctr">
                      <a:noFill/>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1E3A5F"/>
                    </a:solidFill>
                  </a:tcPr>
                </a:tc>
                <a:tc>
                  <a:txBody>
                    <a:bodyPr/>
                    <a:lstStyle/>
                    <a:p>
                      <a:pPr algn="ctr" indent="0" marL="0">
                        <a:buNone/>
                      </a:pPr>
                      <a:r>
                        <a:rPr lang="en-US" sz="950" b="1" dirty="0">
                          <a:solidFill>
                            <a:srgbClr val="FFFFFF"/>
                          </a:solidFill>
                          <a:latin typeface="Calibri" pitchFamily="34" charset="0"/>
                          <a:ea typeface="Calibri" pitchFamily="34" charset="-122"/>
                          <a:cs typeface="Calibri" pitchFamily="34" charset="-120"/>
                        </a:rPr>
                        <a:t>Tolerance</a:t>
                      </a:r>
                      <a:endParaRPr lang="en-US" sz="950" dirty="0">
                        <a:latin typeface="Calibri" charset="0"/>
                        <a:ea typeface="Calibri" charset="0"/>
                        <a:cs typeface="Calibri" charset="0"/>
                      </a:endParaRPr>
                    </a:p>
                  </a:txBody>
                  <a:tcPr marL="76200" marR="76200" marT="25400" marB="25400" anchor="ctr">
                    <a:lnL w="0" cap="flat" cmpd="sng" algn="ctr">
                      <a:noFill/>
                    </a:lnL>
                    <a:lnR w="0" cap="flat" cmpd="sng" algn="ctr">
                      <a:noFill/>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1E3A5F"/>
                    </a:solidFill>
                  </a:tcPr>
                </a:tc>
                <a:tc>
                  <a:txBody>
                    <a:bodyPr/>
                    <a:lstStyle/>
                    <a:p>
                      <a:pPr algn="ctr" indent="0" marL="0">
                        <a:buNone/>
                      </a:pPr>
                      <a:r>
                        <a:rPr lang="en-US" sz="950" b="1" dirty="0">
                          <a:solidFill>
                            <a:srgbClr val="FFFFFF"/>
                          </a:solidFill>
                          <a:latin typeface="Calibri" pitchFamily="34" charset="0"/>
                          <a:ea typeface="Calibri" pitchFamily="34" charset="-122"/>
                          <a:cs typeface="Calibri" pitchFamily="34" charset="-120"/>
                        </a:rPr>
                        <a:t>Result</a:t>
                      </a:r>
                      <a:endParaRPr lang="en-US" sz="950" dirty="0">
                        <a:latin typeface="Calibri" charset="0"/>
                        <a:ea typeface="Calibri" charset="0"/>
                        <a:cs typeface="Calibri" charset="0"/>
                      </a:endParaRPr>
                    </a:p>
                  </a:txBody>
                  <a:tcPr marL="76200" marR="76200" marT="25400" marB="25400" anchor="ctr">
                    <a:lnL w="0" cap="flat" cmpd="sng" algn="ctr">
                      <a:noFill/>
                    </a:lnL>
                    <a:lnR w="0" cap="flat" cmpd="sng" algn="ctr">
                      <a:noFill/>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1E3A5F"/>
                    </a:solidFill>
                  </a:tcPr>
                </a:tc>
              </a:tr>
              <a:tr h="310896">
                <a:tc>
                  <a:txBody>
                    <a:bodyPr/>
                    <a:lstStyle/>
                    <a:p>
                      <a:pPr algn="l" indent="0" marL="0">
                        <a:buNone/>
                      </a:pPr>
                      <a:r>
                        <a:rPr lang="en-US" sz="950" dirty="0">
                          <a:solidFill>
                            <a:srgbClr val="222831"/>
                          </a:solidFill>
                          <a:latin typeface="Courier New" pitchFamily="34" charset="0"/>
                          <a:ea typeface="Courier New" pitchFamily="34" charset="-122"/>
                          <a:cs typeface="Courier New" pitchFamily="34" charset="-120"/>
                        </a:rPr>
                        <a:t>length_bias</a:t>
                      </a:r>
                      <a:endParaRPr lang="en-US" sz="950" dirty="0">
                        <a:latin typeface="Courier New" charset="0"/>
                        <a:ea typeface="Courier New" charset="0"/>
                        <a:cs typeface="Courier New" charset="0"/>
                      </a:endParaRPr>
                    </a:p>
                  </a:txBody>
                  <a:tcPr marL="76200" marR="76200" marT="25400" marB="25400" anchor="ctr">
                    <a:lnL w="0" cap="flat" cmpd="sng" algn="ctr">
                      <a:noFill/>
                    </a:lnL>
                    <a:lnR w="0" cap="flat" cmpd="sng" algn="ctr">
                      <a:noFill/>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tcPr>
                </a:tc>
                <a:tc>
                  <a:txBody>
                    <a:bodyPr/>
                    <a:lstStyle/>
                    <a:p>
                      <a:pPr algn="l" indent="0" marL="0">
                        <a:buNone/>
                      </a:pPr>
                      <a:r>
                        <a:rPr lang="en-US" sz="950" dirty="0">
                          <a:solidFill>
                            <a:srgbClr val="222831"/>
                          </a:solidFill>
                          <a:latin typeface="Calibri" pitchFamily="34" charset="0"/>
                          <a:ea typeface="Calibri" pitchFamily="34" charset="-122"/>
                          <a:cs typeface="Calibri" pitchFamily="34" charset="-120"/>
                        </a:rPr>
                        <a:t>score tracking length once quality is held constant</a:t>
                      </a:r>
                      <a:endParaRPr lang="en-US" sz="950" dirty="0">
                        <a:latin typeface="Calibri" charset="0"/>
                        <a:ea typeface="Calibri" charset="0"/>
                        <a:cs typeface="Calibri" charset="0"/>
                      </a:endParaRPr>
                    </a:p>
                  </a:txBody>
                  <a:tcPr marL="76200" marR="76200" marT="25400" marB="25400" anchor="ctr">
                    <a:lnL w="0" cap="flat" cmpd="sng" algn="ctr">
                      <a:noFill/>
                    </a:lnL>
                    <a:lnR w="0" cap="flat" cmpd="sng" algn="ctr">
                      <a:noFill/>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tcPr>
                </a:tc>
                <a:tc>
                  <a:txBody>
                    <a:bodyPr/>
                    <a:lstStyle/>
                    <a:p>
                      <a:pPr algn="ctr" indent="0" marL="0">
                        <a:buNone/>
                      </a:pPr>
                      <a:r>
                        <a:rPr lang="en-US" sz="950" dirty="0">
                          <a:solidFill>
                            <a:srgbClr val="222831"/>
                          </a:solidFill>
                          <a:latin typeface="Calibri" pitchFamily="34" charset="0"/>
                          <a:ea typeface="Calibri" pitchFamily="34" charset="-122"/>
                          <a:cs typeface="Calibri" pitchFamily="34" charset="-120"/>
                        </a:rPr>
                        <a:t>ρ = −0.2476  (reasoning)</a:t>
                      </a:r>
                      <a:endParaRPr lang="en-US" sz="950" dirty="0">
                        <a:latin typeface="Calibri" charset="0"/>
                        <a:ea typeface="Calibri" charset="0"/>
                        <a:cs typeface="Calibri" charset="0"/>
                      </a:endParaRPr>
                    </a:p>
                  </a:txBody>
                  <a:tcPr marL="76200" marR="76200" marT="25400" marB="25400" anchor="ctr">
                    <a:lnL w="0" cap="flat" cmpd="sng" algn="ctr">
                      <a:noFill/>
                    </a:lnL>
                    <a:lnR w="0" cap="flat" cmpd="sng" algn="ctr">
                      <a:noFill/>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tcPr>
                </a:tc>
                <a:tc>
                  <a:txBody>
                    <a:bodyPr/>
                    <a:lstStyle/>
                    <a:p>
                      <a:pPr algn="ctr" indent="0" marL="0">
                        <a:buNone/>
                      </a:pPr>
                      <a:r>
                        <a:rPr lang="en-US" sz="950" dirty="0">
                          <a:solidFill>
                            <a:srgbClr val="222831"/>
                          </a:solidFill>
                          <a:latin typeface="Calibri" pitchFamily="34" charset="0"/>
                          <a:ea typeface="Calibri" pitchFamily="34" charset="-122"/>
                          <a:cs typeface="Calibri" pitchFamily="34" charset="-120"/>
                        </a:rPr>
                        <a:t>0.30</a:t>
                      </a:r>
                      <a:endParaRPr lang="en-US" sz="950" dirty="0">
                        <a:latin typeface="Calibri" charset="0"/>
                        <a:ea typeface="Calibri" charset="0"/>
                        <a:cs typeface="Calibri" charset="0"/>
                      </a:endParaRPr>
                    </a:p>
                  </a:txBody>
                  <a:tcPr marL="76200" marR="76200" marT="25400" marB="25400" anchor="ctr">
                    <a:lnL w="0" cap="flat" cmpd="sng" algn="ctr">
                      <a:noFill/>
                    </a:lnL>
                    <a:lnR w="0" cap="flat" cmpd="sng" algn="ctr">
                      <a:noFill/>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tcPr>
                </a:tc>
                <a:tc>
                  <a:txBody>
                    <a:bodyPr/>
                    <a:lstStyle/>
                    <a:p>
                      <a:pPr algn="ctr" indent="0" marL="0">
                        <a:buNone/>
                      </a:pPr>
                      <a:r>
                        <a:rPr lang="en-US" sz="950" b="1" dirty="0">
                          <a:solidFill>
                            <a:srgbClr val="2C6E49"/>
                          </a:solidFill>
                          <a:latin typeface="Calibri" pitchFamily="34" charset="0"/>
                          <a:ea typeface="Calibri" pitchFamily="34" charset="-122"/>
                          <a:cs typeface="Calibri" pitchFamily="34" charset="-120"/>
                        </a:rPr>
                        <a:t>PASS</a:t>
                      </a:r>
                      <a:endParaRPr lang="en-US" sz="950" dirty="0">
                        <a:latin typeface="Calibri" charset="0"/>
                        <a:ea typeface="Calibri" charset="0"/>
                        <a:cs typeface="Calibri" charset="0"/>
                      </a:endParaRPr>
                    </a:p>
                  </a:txBody>
                  <a:tcPr marL="76200" marR="76200" marT="25400" marB="25400" anchor="ctr">
                    <a:lnL w="0" cap="flat" cmpd="sng" algn="ctr">
                      <a:noFill/>
                    </a:lnL>
                    <a:lnR w="0" cap="flat" cmpd="sng" algn="ctr">
                      <a:noFill/>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tcPr>
                </a:tc>
              </a:tr>
              <a:tr h="310896">
                <a:tc>
                  <a:txBody>
                    <a:bodyPr/>
                    <a:lstStyle/>
                    <a:p>
                      <a:pPr algn="l" indent="0" marL="0">
                        <a:buNone/>
                      </a:pPr>
                      <a:r>
                        <a:rPr lang="en-US" sz="950" dirty="0">
                          <a:solidFill>
                            <a:srgbClr val="222831"/>
                          </a:solidFill>
                          <a:latin typeface="Courier New" pitchFamily="34" charset="0"/>
                          <a:ea typeface="Courier New" pitchFamily="34" charset="-122"/>
                          <a:cs typeface="Courier New" pitchFamily="34" charset="-120"/>
                        </a:rPr>
                        <a:t>lazy_baseline</a:t>
                      </a:r>
                      <a:endParaRPr lang="en-US" sz="950" dirty="0">
                        <a:latin typeface="Courier New" charset="0"/>
                        <a:ea typeface="Courier New" charset="0"/>
                        <a:cs typeface="Courier New" charset="0"/>
                      </a:endParaRPr>
                    </a:p>
                  </a:txBody>
                  <a:tcPr marL="76200" marR="76200" marT="25400" marB="25400" anchor="ctr">
                    <a:lnL w="0" cap="flat" cmpd="sng" algn="ctr">
                      <a:noFill/>
                    </a:lnL>
                    <a:lnR w="0" cap="flat" cmpd="sng" algn="ctr">
                      <a:noFill/>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tcPr>
                </a:tc>
                <a:tc>
                  <a:txBody>
                    <a:bodyPr/>
                    <a:lstStyle/>
                    <a:p>
                      <a:pPr algn="l" indent="0" marL="0">
                        <a:buNone/>
                      </a:pPr>
                      <a:r>
                        <a:rPr lang="en-US" sz="950" dirty="0">
                          <a:solidFill>
                            <a:srgbClr val="222831"/>
                          </a:solidFill>
                          <a:latin typeface="Calibri" pitchFamily="34" charset="0"/>
                          <a:ea typeface="Calibri" pitchFamily="34" charset="-122"/>
                          <a:cs typeface="Calibri" pitchFamily="34" charset="-120"/>
                        </a:rPr>
                        <a:t>a constant answer matching annotators without reading</a:t>
                      </a:r>
                      <a:endParaRPr lang="en-US" sz="950" dirty="0">
                        <a:latin typeface="Calibri" charset="0"/>
                        <a:ea typeface="Calibri" charset="0"/>
                        <a:cs typeface="Calibri" charset="0"/>
                      </a:endParaRPr>
                    </a:p>
                  </a:txBody>
                  <a:tcPr marL="76200" marR="76200" marT="25400" marB="25400" anchor="ctr">
                    <a:lnL w="0" cap="flat" cmpd="sng" algn="ctr">
                      <a:noFill/>
                    </a:lnL>
                    <a:lnR w="0" cap="flat" cmpd="sng" algn="ctr">
                      <a:noFill/>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tcPr>
                </a:tc>
                <a:tc>
                  <a:txBody>
                    <a:bodyPr/>
                    <a:lstStyle/>
                    <a:p>
                      <a:pPr algn="ctr" indent="0" marL="0">
                        <a:buNone/>
                      </a:pPr>
                      <a:r>
                        <a:rPr lang="en-US" sz="950" dirty="0">
                          <a:solidFill>
                            <a:srgbClr val="222831"/>
                          </a:solidFill>
                          <a:latin typeface="Calibri" pitchFamily="34" charset="0"/>
                          <a:ea typeface="Calibri" pitchFamily="34" charset="-122"/>
                          <a:cs typeface="Calibri" pitchFamily="34" charset="-120"/>
                        </a:rPr>
                        <a:t>0.5556 modal match  (reasoning)</a:t>
                      </a:r>
                      <a:endParaRPr lang="en-US" sz="950" dirty="0">
                        <a:latin typeface="Calibri" charset="0"/>
                        <a:ea typeface="Calibri" charset="0"/>
                        <a:cs typeface="Calibri" charset="0"/>
                      </a:endParaRPr>
                    </a:p>
                  </a:txBody>
                  <a:tcPr marL="76200" marR="76200" marT="25400" marB="25400" anchor="ctr">
                    <a:lnL w="0" cap="flat" cmpd="sng" algn="ctr">
                      <a:noFill/>
                    </a:lnL>
                    <a:lnR w="0" cap="flat" cmpd="sng" algn="ctr">
                      <a:noFill/>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tcPr>
                </a:tc>
                <a:tc>
                  <a:txBody>
                    <a:bodyPr/>
                    <a:lstStyle/>
                    <a:p>
                      <a:pPr algn="ctr" indent="0" marL="0">
                        <a:buNone/>
                      </a:pPr>
                      <a:r>
                        <a:rPr lang="en-US" sz="950" dirty="0">
                          <a:solidFill>
                            <a:srgbClr val="222831"/>
                          </a:solidFill>
                          <a:latin typeface="Calibri" pitchFamily="34" charset="0"/>
                          <a:ea typeface="Calibri" pitchFamily="34" charset="-122"/>
                          <a:cs typeface="Calibri" pitchFamily="34" charset="-120"/>
                        </a:rPr>
                        <a:t>0.75</a:t>
                      </a:r>
                      <a:endParaRPr lang="en-US" sz="950" dirty="0">
                        <a:latin typeface="Calibri" charset="0"/>
                        <a:ea typeface="Calibri" charset="0"/>
                        <a:cs typeface="Calibri" charset="0"/>
                      </a:endParaRPr>
                    </a:p>
                  </a:txBody>
                  <a:tcPr marL="76200" marR="76200" marT="25400" marB="25400" anchor="ctr">
                    <a:lnL w="0" cap="flat" cmpd="sng" algn="ctr">
                      <a:noFill/>
                    </a:lnL>
                    <a:lnR w="0" cap="flat" cmpd="sng" algn="ctr">
                      <a:noFill/>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tcPr>
                </a:tc>
                <a:tc>
                  <a:txBody>
                    <a:bodyPr/>
                    <a:lstStyle/>
                    <a:p>
                      <a:pPr algn="ctr" indent="0" marL="0">
                        <a:buNone/>
                      </a:pPr>
                      <a:r>
                        <a:rPr lang="en-US" sz="950" b="1" dirty="0">
                          <a:solidFill>
                            <a:srgbClr val="2C6E49"/>
                          </a:solidFill>
                          <a:latin typeface="Calibri" pitchFamily="34" charset="0"/>
                          <a:ea typeface="Calibri" pitchFamily="34" charset="-122"/>
                          <a:cs typeface="Calibri" pitchFamily="34" charset="-120"/>
                        </a:rPr>
                        <a:t>PASS</a:t>
                      </a:r>
                      <a:endParaRPr lang="en-US" sz="950" dirty="0">
                        <a:latin typeface="Calibri" charset="0"/>
                        <a:ea typeface="Calibri" charset="0"/>
                        <a:cs typeface="Calibri" charset="0"/>
                      </a:endParaRPr>
                    </a:p>
                  </a:txBody>
                  <a:tcPr marL="76200" marR="76200" marT="25400" marB="25400" anchor="ctr">
                    <a:lnL w="0" cap="flat" cmpd="sng" algn="ctr">
                      <a:noFill/>
                    </a:lnL>
                    <a:lnR w="0" cap="flat" cmpd="sng" algn="ctr">
                      <a:noFill/>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tcPr>
                </a:tc>
              </a:tr>
              <a:tr h="310896">
                <a:tc>
                  <a:txBody>
                    <a:bodyPr/>
                    <a:lstStyle/>
                    <a:p>
                      <a:pPr algn="l" indent="0" marL="0">
                        <a:buNone/>
                      </a:pPr>
                      <a:r>
                        <a:rPr lang="en-US" sz="950" dirty="0">
                          <a:solidFill>
                            <a:srgbClr val="222831"/>
                          </a:solidFill>
                          <a:latin typeface="Courier New" pitchFamily="34" charset="0"/>
                          <a:ea typeface="Courier New" pitchFamily="34" charset="-122"/>
                          <a:cs typeface="Courier New" pitchFamily="34" charset="-120"/>
                        </a:rPr>
                        <a:t>rubric_shortcut</a:t>
                      </a:r>
                      <a:endParaRPr lang="en-US" sz="950" dirty="0">
                        <a:latin typeface="Courier New" charset="0"/>
                        <a:ea typeface="Courier New" charset="0"/>
                        <a:cs typeface="Courier New" charset="0"/>
                      </a:endParaRPr>
                    </a:p>
                  </a:txBody>
                  <a:tcPr marL="76200" marR="76200" marT="25400" marB="25400" anchor="ctr">
                    <a:lnL w="0" cap="flat" cmpd="sng" algn="ctr">
                      <a:noFill/>
                    </a:lnL>
                    <a:lnR w="0" cap="flat" cmpd="sng" algn="ctr">
                      <a:noFill/>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tcPr>
                </a:tc>
                <a:tc>
                  <a:txBody>
                    <a:bodyPr/>
                    <a:lstStyle/>
                    <a:p>
                      <a:pPr algn="l" indent="0" marL="0">
                        <a:buNone/>
                      </a:pPr>
                      <a:r>
                        <a:rPr lang="en-US" sz="950" dirty="0">
                          <a:solidFill>
                            <a:srgbClr val="222831"/>
                          </a:solidFill>
                          <a:latin typeface="Calibri" pitchFamily="34" charset="0"/>
                          <a:ea typeface="Calibri" pitchFamily="34" charset="-122"/>
                          <a:cs typeface="Calibri" pitchFamily="34" charset="-120"/>
                        </a:rPr>
                        <a:t>one dimension reconstructing the whole composite</a:t>
                      </a:r>
                      <a:endParaRPr lang="en-US" sz="950" dirty="0">
                        <a:latin typeface="Calibri" charset="0"/>
                        <a:ea typeface="Calibri" charset="0"/>
                        <a:cs typeface="Calibri" charset="0"/>
                      </a:endParaRPr>
                    </a:p>
                  </a:txBody>
                  <a:tcPr marL="76200" marR="76200" marT="25400" marB="25400" anchor="ctr">
                    <a:lnL w="0" cap="flat" cmpd="sng" algn="ctr">
                      <a:noFill/>
                    </a:lnL>
                    <a:lnR w="0" cap="flat" cmpd="sng" algn="ctr">
                      <a:noFill/>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tcPr>
                </a:tc>
                <a:tc>
                  <a:txBody>
                    <a:bodyPr/>
                    <a:lstStyle/>
                    <a:p>
                      <a:pPr algn="ctr" indent="0" marL="0">
                        <a:buNone/>
                      </a:pPr>
                      <a:r>
                        <a:rPr lang="en-US" sz="950" dirty="0">
                          <a:solidFill>
                            <a:srgbClr val="222831"/>
                          </a:solidFill>
                          <a:latin typeface="Calibri" pitchFamily="34" charset="0"/>
                          <a:ea typeface="Calibri" pitchFamily="34" charset="-122"/>
                          <a:cs typeface="Calibri" pitchFamily="34" charset="-120"/>
                        </a:rPr>
                        <a:t>r = 0.8498  grounding·citation_validity</a:t>
                      </a:r>
                      <a:endParaRPr lang="en-US" sz="950" dirty="0">
                        <a:latin typeface="Calibri" charset="0"/>
                        <a:ea typeface="Calibri" charset="0"/>
                        <a:cs typeface="Calibri" charset="0"/>
                      </a:endParaRPr>
                    </a:p>
                  </a:txBody>
                  <a:tcPr marL="76200" marR="76200" marT="25400" marB="25400" anchor="ctr">
                    <a:lnL w="0" cap="flat" cmpd="sng" algn="ctr">
                      <a:noFill/>
                    </a:lnL>
                    <a:lnR w="0" cap="flat" cmpd="sng" algn="ctr">
                      <a:noFill/>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tcPr>
                </a:tc>
                <a:tc>
                  <a:txBody>
                    <a:bodyPr/>
                    <a:lstStyle/>
                    <a:p>
                      <a:pPr algn="ctr" indent="0" marL="0">
                        <a:buNone/>
                      </a:pPr>
                      <a:r>
                        <a:rPr lang="en-US" sz="950" dirty="0">
                          <a:solidFill>
                            <a:srgbClr val="222831"/>
                          </a:solidFill>
                          <a:latin typeface="Calibri" pitchFamily="34" charset="0"/>
                          <a:ea typeface="Calibri" pitchFamily="34" charset="-122"/>
                          <a:cs typeface="Calibri" pitchFamily="34" charset="-120"/>
                        </a:rPr>
                        <a:t>0.93</a:t>
                      </a:r>
                      <a:endParaRPr lang="en-US" sz="950" dirty="0">
                        <a:latin typeface="Calibri" charset="0"/>
                        <a:ea typeface="Calibri" charset="0"/>
                        <a:cs typeface="Calibri" charset="0"/>
                      </a:endParaRPr>
                    </a:p>
                  </a:txBody>
                  <a:tcPr marL="76200" marR="76200" marT="25400" marB="25400" anchor="ctr">
                    <a:lnL w="0" cap="flat" cmpd="sng" algn="ctr">
                      <a:noFill/>
                    </a:lnL>
                    <a:lnR w="0" cap="flat" cmpd="sng" algn="ctr">
                      <a:noFill/>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tcPr>
                </a:tc>
                <a:tc>
                  <a:txBody>
                    <a:bodyPr/>
                    <a:lstStyle/>
                    <a:p>
                      <a:pPr algn="ctr" indent="0" marL="0">
                        <a:buNone/>
                      </a:pPr>
                      <a:r>
                        <a:rPr lang="en-US" sz="950" b="1" dirty="0">
                          <a:solidFill>
                            <a:srgbClr val="2C6E49"/>
                          </a:solidFill>
                          <a:latin typeface="Calibri" pitchFamily="34" charset="0"/>
                          <a:ea typeface="Calibri" pitchFamily="34" charset="-122"/>
                          <a:cs typeface="Calibri" pitchFamily="34" charset="-120"/>
                        </a:rPr>
                        <a:t>PASS</a:t>
                      </a:r>
                      <a:endParaRPr lang="en-US" sz="950" dirty="0">
                        <a:latin typeface="Calibri" charset="0"/>
                        <a:ea typeface="Calibri" charset="0"/>
                        <a:cs typeface="Calibri" charset="0"/>
                      </a:endParaRPr>
                    </a:p>
                  </a:txBody>
                  <a:tcPr marL="76200" marR="76200" marT="25400" marB="25400" anchor="ctr">
                    <a:lnL w="0" cap="flat" cmpd="sng" algn="ctr">
                      <a:noFill/>
                    </a:lnL>
                    <a:lnR w="0" cap="flat" cmpd="sng" algn="ctr">
                      <a:noFill/>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tcPr>
                </a:tc>
              </a:tr>
              <a:tr h="310896">
                <a:tc>
                  <a:txBody>
                    <a:bodyPr/>
                    <a:lstStyle/>
                    <a:p>
                      <a:pPr algn="l" indent="0" marL="0">
                        <a:buNone/>
                      </a:pPr>
                      <a:r>
                        <a:rPr lang="en-US" sz="950" dirty="0">
                          <a:solidFill>
                            <a:srgbClr val="222831"/>
                          </a:solidFill>
                          <a:latin typeface="Courier New" pitchFamily="34" charset="0"/>
                          <a:ea typeface="Courier New" pitchFamily="34" charset="-122"/>
                          <a:cs typeface="Courier New" pitchFamily="34" charset="-120"/>
                        </a:rPr>
                        <a:t>position_bias_fragility</a:t>
                      </a:r>
                      <a:endParaRPr lang="en-US" sz="950" dirty="0">
                        <a:latin typeface="Courier New" charset="0"/>
                        <a:ea typeface="Courier New" charset="0"/>
                        <a:cs typeface="Courier New" charset="0"/>
                      </a:endParaRPr>
                    </a:p>
                  </a:txBody>
                  <a:tcPr marL="76200" marR="76200" marT="25400" marB="25400" anchor="ctr">
                    <a:lnL w="0" cap="flat" cmpd="sng" algn="ctr">
                      <a:noFill/>
                    </a:lnL>
                    <a:lnR w="0" cap="flat" cmpd="sng" algn="ctr">
                      <a:noFill/>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tcPr>
                </a:tc>
                <a:tc>
                  <a:txBody>
                    <a:bodyPr/>
                    <a:lstStyle/>
                    <a:p>
                      <a:pPr algn="l" indent="0" marL="0">
                        <a:buNone/>
                      </a:pPr>
                      <a:r>
                        <a:rPr lang="en-US" sz="950" dirty="0">
                          <a:solidFill>
                            <a:srgbClr val="222831"/>
                          </a:solidFill>
                          <a:latin typeface="Calibri" pitchFamily="34" charset="0"/>
                          <a:ea typeface="Calibri" pitchFamily="34" charset="-122"/>
                          <a:cs typeface="Calibri" pitchFamily="34" charset="-120"/>
                        </a:rPr>
                        <a:t>an order artefact large enough to reorder the systems</a:t>
                      </a:r>
                      <a:endParaRPr lang="en-US" sz="950" dirty="0">
                        <a:latin typeface="Calibri" charset="0"/>
                        <a:ea typeface="Calibri" charset="0"/>
                        <a:cs typeface="Calibri" charset="0"/>
                      </a:endParaRPr>
                    </a:p>
                  </a:txBody>
                  <a:tcPr marL="76200" marR="76200" marT="25400" marB="25400" anchor="ctr">
                    <a:lnL w="0" cap="flat" cmpd="sng" algn="ctr">
                      <a:noFill/>
                    </a:lnL>
                    <a:lnR w="0" cap="flat" cmpd="sng" algn="ctr">
                      <a:noFill/>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tcPr>
                </a:tc>
                <a:tc>
                  <a:txBody>
                    <a:bodyPr/>
                    <a:lstStyle/>
                    <a:p>
                      <a:pPr algn="ctr" indent="0" marL="0">
                        <a:buNone/>
                      </a:pPr>
                      <a:r>
                        <a:rPr lang="en-US" sz="950" dirty="0">
                          <a:solidFill>
                            <a:srgbClr val="222831"/>
                          </a:solidFill>
                          <a:latin typeface="Calibri" pitchFamily="34" charset="0"/>
                          <a:ea typeface="Calibri" pitchFamily="34" charset="-122"/>
                          <a:cs typeface="Calibri" pitchFamily="34" charset="-120"/>
                        </a:rPr>
                        <a:t>0.1508 critical vs 0.1573 real  (agentic)</a:t>
                      </a:r>
                      <a:endParaRPr lang="en-US" sz="950" dirty="0">
                        <a:latin typeface="Calibri" charset="0"/>
                        <a:ea typeface="Calibri" charset="0"/>
                        <a:cs typeface="Calibri" charset="0"/>
                      </a:endParaRPr>
                    </a:p>
                  </a:txBody>
                  <a:tcPr marL="76200" marR="76200" marT="25400" marB="25400" anchor="ctr">
                    <a:lnL w="0" cap="flat" cmpd="sng" algn="ctr">
                      <a:noFill/>
                    </a:lnL>
                    <a:lnR w="0" cap="flat" cmpd="sng" algn="ctr">
                      <a:noFill/>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tcPr>
                </a:tc>
                <a:tc>
                  <a:txBody>
                    <a:bodyPr/>
                    <a:lstStyle/>
                    <a:p>
                      <a:pPr algn="ctr" indent="0" marL="0">
                        <a:buNone/>
                      </a:pPr>
                      <a:r>
                        <a:rPr lang="en-US" sz="950" dirty="0">
                          <a:solidFill>
                            <a:srgbClr val="222831"/>
                          </a:solidFill>
                          <a:latin typeface="Calibri" pitchFamily="34" charset="0"/>
                          <a:ea typeface="Calibri" pitchFamily="34" charset="-122"/>
                          <a:cs typeface="Calibri" pitchFamily="34" charset="-120"/>
                        </a:rPr>
                        <a:t>must exceed the real effect</a:t>
                      </a:r>
                      <a:endParaRPr lang="en-US" sz="950" dirty="0">
                        <a:latin typeface="Calibri" charset="0"/>
                        <a:ea typeface="Calibri" charset="0"/>
                        <a:cs typeface="Calibri" charset="0"/>
                      </a:endParaRPr>
                    </a:p>
                  </a:txBody>
                  <a:tcPr marL="76200" marR="76200" marT="25400" marB="25400" anchor="ctr">
                    <a:lnL w="0" cap="flat" cmpd="sng" algn="ctr">
                      <a:noFill/>
                    </a:lnL>
                    <a:lnR w="0" cap="flat" cmpd="sng" algn="ctr">
                      <a:noFill/>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tcPr>
                </a:tc>
                <a:tc>
                  <a:txBody>
                    <a:bodyPr/>
                    <a:lstStyle/>
                    <a:p>
                      <a:pPr algn="ctr" indent="0" marL="0">
                        <a:buNone/>
                      </a:pPr>
                      <a:r>
                        <a:rPr lang="en-US" sz="950" b="1" dirty="0">
                          <a:solidFill>
                            <a:srgbClr val="9B2226"/>
                          </a:solidFill>
                          <a:latin typeface="Calibri" pitchFamily="34" charset="0"/>
                          <a:ea typeface="Calibri" pitchFamily="34" charset="-122"/>
                          <a:cs typeface="Calibri" pitchFamily="34" charset="-120"/>
                        </a:rPr>
                        <a:t>FAIL</a:t>
                      </a:r>
                      <a:endParaRPr lang="en-US" sz="950" dirty="0">
                        <a:latin typeface="Calibri" charset="0"/>
                        <a:ea typeface="Calibri" charset="0"/>
                        <a:cs typeface="Calibri" charset="0"/>
                      </a:endParaRPr>
                    </a:p>
                  </a:txBody>
                  <a:tcPr marL="76200" marR="76200" marT="25400" marB="25400" anchor="ctr">
                    <a:lnL w="0" cap="flat" cmpd="sng" algn="ctr">
                      <a:noFill/>
                    </a:lnL>
                    <a:lnR w="0" cap="flat" cmpd="sng" algn="ctr">
                      <a:noFill/>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tcPr>
                </a:tc>
              </a:tr>
              <a:tr h="310896">
                <a:tc>
                  <a:txBody>
                    <a:bodyPr/>
                    <a:lstStyle/>
                    <a:p>
                      <a:pPr algn="l" indent="0" marL="0">
                        <a:buNone/>
                      </a:pPr>
                      <a:r>
                        <a:rPr lang="en-US" sz="950" dirty="0">
                          <a:solidFill>
                            <a:srgbClr val="222831"/>
                          </a:solidFill>
                          <a:latin typeface="Courier New" pitchFamily="34" charset="0"/>
                          <a:ea typeface="Courier New" pitchFamily="34" charset="-122"/>
                          <a:cs typeface="Courier New" pitchFamily="34" charset="-120"/>
                        </a:rPr>
                        <a:t>annotator_leave_one_out</a:t>
                      </a:r>
                      <a:endParaRPr lang="en-US" sz="950" dirty="0">
                        <a:latin typeface="Courier New" charset="0"/>
                        <a:ea typeface="Courier New" charset="0"/>
                        <a:cs typeface="Courier New" charset="0"/>
                      </a:endParaRPr>
                    </a:p>
                  </a:txBody>
                  <a:tcPr marL="76200" marR="76200" marT="25400" marB="25400" anchor="ctr">
                    <a:lnL w="0" cap="flat" cmpd="sng" algn="ctr">
                      <a:noFill/>
                    </a:lnL>
                    <a:lnR w="0" cap="flat" cmpd="sng" algn="ctr">
                      <a:noFill/>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tcPr>
                </a:tc>
                <a:tc>
                  <a:txBody>
                    <a:bodyPr/>
                    <a:lstStyle/>
                    <a:p>
                      <a:pPr algn="l" indent="0" marL="0">
                        <a:buNone/>
                      </a:pPr>
                      <a:r>
                        <a:rPr lang="en-US" sz="950" dirty="0">
                          <a:solidFill>
                            <a:srgbClr val="222831"/>
                          </a:solidFill>
                          <a:latin typeface="Calibri" pitchFamily="34" charset="0"/>
                          <a:ea typeface="Calibri" pitchFamily="34" charset="-122"/>
                          <a:cs typeface="Calibri" pitchFamily="34" charset="-120"/>
                        </a:rPr>
                        <a:t>one annotator moving the published mean</a:t>
                      </a:r>
                      <a:endParaRPr lang="en-US" sz="950" dirty="0">
                        <a:latin typeface="Calibri" charset="0"/>
                        <a:ea typeface="Calibri" charset="0"/>
                        <a:cs typeface="Calibri" charset="0"/>
                      </a:endParaRPr>
                    </a:p>
                  </a:txBody>
                  <a:tcPr marL="76200" marR="76200" marT="25400" marB="25400" anchor="ctr">
                    <a:lnL w="0" cap="flat" cmpd="sng" algn="ctr">
                      <a:noFill/>
                    </a:lnL>
                    <a:lnR w="0" cap="flat" cmpd="sng" algn="ctr">
                      <a:noFill/>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tcPr>
                </a:tc>
                <a:tc>
                  <a:txBody>
                    <a:bodyPr/>
                    <a:lstStyle/>
                    <a:p>
                      <a:pPr algn="ctr" indent="0" marL="0">
                        <a:buNone/>
                      </a:pPr>
                      <a:r>
                        <a:rPr lang="en-US" sz="950" dirty="0">
                          <a:solidFill>
                            <a:srgbClr val="222831"/>
                          </a:solidFill>
                          <a:latin typeface="Calibri" pitchFamily="34" charset="0"/>
                          <a:ea typeface="Calibri" pitchFamily="34" charset="-122"/>
                          <a:cs typeface="Calibri" pitchFamily="34" charset="-120"/>
                        </a:rPr>
                        <a:t>0.0532 shift  (refusal)</a:t>
                      </a:r>
                      <a:endParaRPr lang="en-US" sz="950" dirty="0">
                        <a:latin typeface="Calibri" charset="0"/>
                        <a:ea typeface="Calibri" charset="0"/>
                        <a:cs typeface="Calibri" charset="0"/>
                      </a:endParaRPr>
                    </a:p>
                  </a:txBody>
                  <a:tcPr marL="76200" marR="76200" marT="25400" marB="25400" anchor="ctr">
                    <a:lnL w="0" cap="flat" cmpd="sng" algn="ctr">
                      <a:noFill/>
                    </a:lnL>
                    <a:lnR w="0" cap="flat" cmpd="sng" algn="ctr">
                      <a:noFill/>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tcPr>
                </a:tc>
                <a:tc>
                  <a:txBody>
                    <a:bodyPr/>
                    <a:lstStyle/>
                    <a:p>
                      <a:pPr algn="ctr" indent="0" marL="0">
                        <a:buNone/>
                      </a:pPr>
                      <a:r>
                        <a:rPr lang="en-US" sz="950" dirty="0">
                          <a:solidFill>
                            <a:srgbClr val="222831"/>
                          </a:solidFill>
                          <a:latin typeface="Calibri" pitchFamily="34" charset="0"/>
                          <a:ea typeface="Calibri" pitchFamily="34" charset="-122"/>
                          <a:cs typeface="Calibri" pitchFamily="34" charset="-120"/>
                        </a:rPr>
                        <a:t>CI half-width 0.0832</a:t>
                      </a:r>
                      <a:endParaRPr lang="en-US" sz="950" dirty="0">
                        <a:latin typeface="Calibri" charset="0"/>
                        <a:ea typeface="Calibri" charset="0"/>
                        <a:cs typeface="Calibri" charset="0"/>
                      </a:endParaRPr>
                    </a:p>
                  </a:txBody>
                  <a:tcPr marL="76200" marR="76200" marT="25400" marB="25400" anchor="ctr">
                    <a:lnL w="0" cap="flat" cmpd="sng" algn="ctr">
                      <a:noFill/>
                    </a:lnL>
                    <a:lnR w="0" cap="flat" cmpd="sng" algn="ctr">
                      <a:noFill/>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tcPr>
                </a:tc>
                <a:tc>
                  <a:txBody>
                    <a:bodyPr/>
                    <a:lstStyle/>
                    <a:p>
                      <a:pPr algn="ctr" indent="0" marL="0">
                        <a:buNone/>
                      </a:pPr>
                      <a:r>
                        <a:rPr lang="en-US" sz="950" b="1" dirty="0">
                          <a:solidFill>
                            <a:srgbClr val="2C6E49"/>
                          </a:solidFill>
                          <a:latin typeface="Calibri" pitchFamily="34" charset="0"/>
                          <a:ea typeface="Calibri" pitchFamily="34" charset="-122"/>
                          <a:cs typeface="Calibri" pitchFamily="34" charset="-120"/>
                        </a:rPr>
                        <a:t>PASS</a:t>
                      </a:r>
                      <a:endParaRPr lang="en-US" sz="950" dirty="0">
                        <a:latin typeface="Calibri" charset="0"/>
                        <a:ea typeface="Calibri" charset="0"/>
                        <a:cs typeface="Calibri" charset="0"/>
                      </a:endParaRPr>
                    </a:p>
                  </a:txBody>
                  <a:tcPr marL="76200" marR="76200" marT="25400" marB="25400" anchor="ctr">
                    <a:lnL w="0" cap="flat" cmpd="sng" algn="ctr">
                      <a:noFill/>
                    </a:lnL>
                    <a:lnR w="0" cap="flat" cmpd="sng" algn="ctr">
                      <a:noFill/>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tcPr>
                </a:tc>
              </a:tr>
            </a:tbl>
          </a:graphicData>
        </a:graphic>
      </p:graphicFrame>
      <p:sp>
        <p:nvSpPr>
          <p:cNvPr id="6" name="Shape 3"/>
          <p:cNvSpPr/>
          <p:nvPr/>
        </p:nvSpPr>
        <p:spPr>
          <a:xfrm>
            <a:off x="548640" y="4206240"/>
            <a:ext cx="5394960" cy="1737360"/>
          </a:xfrm>
          <a:prstGeom prst="roundRect">
            <a:avLst>
              <a:gd name="adj" fmla="val 3158"/>
            </a:avLst>
          </a:prstGeom>
          <a:solidFill>
            <a:srgbClr val="F3F5F8"/>
          </a:solidFill>
          <a:ln w="9525">
            <a:solidFill>
              <a:srgbClr val="DCE1E8"/>
            </a:solidFill>
            <a:prstDash val="solid"/>
          </a:ln>
        </p:spPr>
      </p:sp>
      <p:sp>
        <p:nvSpPr>
          <p:cNvPr id="7" name="Text 4"/>
          <p:cNvSpPr/>
          <p:nvPr/>
        </p:nvSpPr>
        <p:spPr>
          <a:xfrm>
            <a:off x="822960" y="4407408"/>
            <a:ext cx="4846320" cy="219456"/>
          </a:xfrm>
          <a:prstGeom prst="rect">
            <a:avLst/>
          </a:prstGeom>
          <a:noFill/>
          <a:ln/>
        </p:spPr>
        <p:txBody>
          <a:bodyPr wrap="square" lIns="0" tIns="0" rIns="0" bIns="0" rtlCol="0" anchor="ctr"/>
          <a:lstStyle/>
          <a:p>
            <a:pPr indent="0" marL="0">
              <a:buNone/>
            </a:pPr>
            <a:r>
              <a:rPr lang="en-US" sz="1050" b="1" spc="60" kern="0" dirty="0">
                <a:solidFill>
                  <a:srgbClr val="1E3A5F"/>
                </a:solidFill>
                <a:latin typeface="Calibri" pitchFamily="34" charset="0"/>
                <a:ea typeface="Calibri" pitchFamily="34" charset="-122"/>
                <a:cs typeface="Calibri" pitchFamily="34" charset="-120"/>
              </a:rPr>
              <a:t>TWO TOLERANCES THAT HAD TO BE EARNED</a:t>
            </a:r>
            <a:endParaRPr lang="en-US" sz="1050" dirty="0"/>
          </a:p>
        </p:txBody>
      </p:sp>
      <p:sp>
        <p:nvSpPr>
          <p:cNvPr id="8" name="Text 5"/>
          <p:cNvSpPr/>
          <p:nvPr/>
        </p:nvSpPr>
        <p:spPr>
          <a:xfrm>
            <a:off x="822960" y="4718304"/>
            <a:ext cx="4846320" cy="1097280"/>
          </a:xfrm>
          <a:prstGeom prst="rect">
            <a:avLst/>
          </a:prstGeom>
          <a:noFill/>
          <a:ln/>
        </p:spPr>
        <p:txBody>
          <a:bodyPr wrap="square" lIns="0" tIns="0" rIns="0" bIns="0" rtlCol="0" anchor="t"/>
          <a:lstStyle/>
          <a:p>
            <a:pPr indent="0" marL="0">
              <a:lnSpc>
                <a:spcPts val="1500"/>
              </a:lnSpc>
              <a:spcAft>
                <a:spcPts val="600"/>
              </a:spcAft>
              <a:buNone/>
            </a:pPr>
            <a:r>
              <a:rPr lang="en-US" sz="1000" dirty="0">
                <a:solidFill>
                  <a:srgbClr val="222831"/>
                </a:solidFill>
                <a:latin typeface="Calibri" pitchFamily="34" charset="0"/>
                <a:ea typeface="Calibri" pitchFamily="34" charset="-122"/>
                <a:cs typeface="Calibri" pitchFamily="34" charset="-120"/>
              </a:rPr>
              <a:t>rubric_shortcut correlates each dimension against the leave-one-out composite, not one containing itself. citation_validity reads 0.8498 that way and 0.9225 part-whole; the 0.0727 inflation is published, because removing it silently is indistinguishable from tuning a probe until it passes.</a:t>
            </a:r>
            <a:endParaRPr lang="en-US" sz="1000" dirty="0"/>
          </a:p>
          <a:p>
            <a:pPr indent="0" marL="0">
              <a:lnSpc>
                <a:spcPts val="1500"/>
              </a:lnSpc>
              <a:spcAft>
                <a:spcPts val="600"/>
              </a:spcAft>
              <a:buNone/>
            </a:pPr>
            <a:r>
              <a:rPr lang="en-US" sz="1000" dirty="0">
                <a:solidFill>
                  <a:srgbClr val="222831"/>
                </a:solidFill>
                <a:latin typeface="Calibri" pitchFamily="34" charset="0"/>
                <a:ea typeface="Calibri" pitchFamily="34" charset="-122"/>
                <a:cs typeface="Calibri" pitchFamily="34" charset="-120"/>
              </a:rPr>
              <a:t>annotator_leave_one_out is compared against the published CI half-width, not an arbitrary constant.</a:t>
            </a:r>
            <a:endParaRPr lang="en-US" sz="1000" dirty="0"/>
          </a:p>
        </p:txBody>
      </p:sp>
      <p:sp>
        <p:nvSpPr>
          <p:cNvPr id="9" name="Shape 6"/>
          <p:cNvSpPr/>
          <p:nvPr/>
        </p:nvSpPr>
        <p:spPr>
          <a:xfrm>
            <a:off x="6248095" y="4206240"/>
            <a:ext cx="5394960" cy="1737360"/>
          </a:xfrm>
          <a:prstGeom prst="roundRect">
            <a:avLst>
              <a:gd name="adj" fmla="val 3158"/>
            </a:avLst>
          </a:prstGeom>
          <a:solidFill>
            <a:srgbClr val="FBF3F3"/>
          </a:solidFill>
          <a:ln w="9525">
            <a:solidFill>
              <a:srgbClr val="DCE1E8"/>
            </a:solidFill>
            <a:prstDash val="solid"/>
          </a:ln>
        </p:spPr>
      </p:sp>
      <p:sp>
        <p:nvSpPr>
          <p:cNvPr id="10" name="Text 7"/>
          <p:cNvSpPr/>
          <p:nvPr/>
        </p:nvSpPr>
        <p:spPr>
          <a:xfrm>
            <a:off x="6522415" y="4407408"/>
            <a:ext cx="4846320" cy="219456"/>
          </a:xfrm>
          <a:prstGeom prst="rect">
            <a:avLst/>
          </a:prstGeom>
          <a:noFill/>
          <a:ln/>
        </p:spPr>
        <p:txBody>
          <a:bodyPr wrap="square" lIns="0" tIns="0" rIns="0" bIns="0" rtlCol="0" anchor="ctr"/>
          <a:lstStyle/>
          <a:p>
            <a:pPr indent="0" marL="0">
              <a:buNone/>
            </a:pPr>
            <a:r>
              <a:rPr lang="en-US" sz="1050" b="1" spc="60" kern="0" dirty="0">
                <a:solidFill>
                  <a:srgbClr val="9B2226"/>
                </a:solidFill>
                <a:latin typeface="Calibri" pitchFamily="34" charset="0"/>
                <a:ea typeface="Calibri" pitchFamily="34" charset="-122"/>
                <a:cs typeface="Calibri" pitchFamily="34" charset="-120"/>
              </a:rPr>
              <a:t>THE ONE FAILURE, AND WHY IT IS THE RIGHT ONE</a:t>
            </a:r>
            <a:endParaRPr lang="en-US" sz="1050" dirty="0"/>
          </a:p>
        </p:txBody>
      </p:sp>
      <p:sp>
        <p:nvSpPr>
          <p:cNvPr id="11" name="Text 8"/>
          <p:cNvSpPr/>
          <p:nvPr/>
        </p:nvSpPr>
        <p:spPr>
          <a:xfrm>
            <a:off x="6522415" y="4718304"/>
            <a:ext cx="4846320" cy="1097280"/>
          </a:xfrm>
          <a:prstGeom prst="rect">
            <a:avLst/>
          </a:prstGeom>
          <a:noFill/>
          <a:ln/>
        </p:spPr>
        <p:txBody>
          <a:bodyPr wrap="square" lIns="0" tIns="0" rIns="0" bIns="0" rtlCol="0" anchor="t"/>
          <a:lstStyle/>
          <a:p>
            <a:pPr indent="0" marL="0">
              <a:lnSpc>
                <a:spcPts val="1500"/>
              </a:lnSpc>
              <a:buNone/>
            </a:pPr>
            <a:r>
              <a:rPr lang="en-US" sz="1000" dirty="0">
                <a:solidFill>
                  <a:srgbClr val="222831"/>
                </a:solidFill>
                <a:latin typeface="Calibri" pitchFamily="34" charset="0"/>
                <a:ea typeface="Calibri" pitchFamily="34" charset="-122"/>
                <a:cs typeface="Calibri" pitchFamily="34" charset="-120"/>
              </a:rPr>
              <a:t>The probe solves for the smallest order advantage that would add ten points of flips on top of the pool's measured noise floor. On agentic that is 0.1508, against a largest real between-system effect of 0.1573 — so an order artefact of plausible size could reorder the systems. It fails on the single track whose effect is big enough to be reordered, which is what a working probe looks like.</a:t>
            </a:r>
            <a:endParaRPr lang="en-US" sz="1000" dirty="0"/>
          </a:p>
        </p:txBody>
      </p:sp>
      <p:sp>
        <p:nvSpPr>
          <p:cNvPr id="12" name="Text 9"/>
          <p:cNvSpPr/>
          <p:nvPr/>
        </p:nvSpPr>
        <p:spPr>
          <a:xfrm>
            <a:off x="548640" y="6336792"/>
            <a:ext cx="9966960" cy="219456"/>
          </a:xfrm>
          <a:prstGeom prst="rect">
            <a:avLst/>
          </a:prstGeom>
          <a:noFill/>
          <a:ln/>
        </p:spPr>
        <p:txBody>
          <a:bodyPr wrap="square" lIns="0" tIns="0" rIns="0" bIns="0" rtlCol="0" anchor="ctr"/>
          <a:lstStyle/>
          <a:p>
            <a:pPr algn="l" indent="0" marL="0">
              <a:buNone/>
            </a:pPr>
            <a:r>
              <a:rPr lang="en-US" sz="800" dirty="0">
                <a:solidFill>
                  <a:srgbClr val="6E7889"/>
                </a:solidFill>
                <a:latin typeface="Calibri" pitchFamily="34" charset="0"/>
                <a:ea typeface="Calibri" pitchFamily="34" charset="-122"/>
                <a:cs typeface="Calibri" pitchFamily="34" charset="-120"/>
              </a:rPr>
              <a:t>results/portfolio.json  md5 299bd4f19e03caa2cd7e33681340c294  ·  tracks.*.redteam.probes  ·  5 probes × 4 tracks = 20 runs, 1 failure</a:t>
            </a:r>
            <a:endParaRPr lang="en-US" sz="800" dirty="0"/>
          </a:p>
        </p:txBody>
      </p:sp>
      <p:sp>
        <p:nvSpPr>
          <p:cNvPr id="13" name="Text 10"/>
          <p:cNvSpPr/>
          <p:nvPr/>
        </p:nvSpPr>
        <p:spPr>
          <a:xfrm>
            <a:off x="10927080" y="6336792"/>
            <a:ext cx="713232" cy="219456"/>
          </a:xfrm>
          <a:prstGeom prst="rect">
            <a:avLst/>
          </a:prstGeom>
          <a:noFill/>
          <a:ln/>
        </p:spPr>
        <p:txBody>
          <a:bodyPr wrap="square" lIns="0" tIns="0" rIns="0" bIns="0" rtlCol="0" anchor="ctr"/>
          <a:lstStyle/>
          <a:p>
            <a:pPr algn="r" indent="0" marL="0">
              <a:buNone/>
            </a:pPr>
            <a:r>
              <a:rPr lang="en-US" sz="800" dirty="0">
                <a:solidFill>
                  <a:srgbClr val="6E7889"/>
                </a:solidFill>
                <a:latin typeface="Calibri" pitchFamily="34" charset="0"/>
                <a:ea typeface="Calibri" pitchFamily="34" charset="-122"/>
                <a:cs typeface="Calibri" pitchFamily="34" charset="-120"/>
              </a:rPr>
              <a:t>12</a:t>
            </a:r>
            <a:endParaRPr lang="en-US" sz="8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nvSpPr>
        <p:spPr>
          <a:xfrm>
            <a:off x="548640" y="292608"/>
            <a:ext cx="11094415" cy="201168"/>
          </a:xfrm>
          <a:prstGeom prst="rect">
            <a:avLst/>
          </a:prstGeom>
          <a:noFill/>
          <a:ln/>
        </p:spPr>
        <p:txBody>
          <a:bodyPr wrap="square" lIns="0" tIns="0" rIns="0" bIns="0" rtlCol="0" anchor="ctr"/>
          <a:lstStyle/>
          <a:p>
            <a:pPr indent="0" marL="0">
              <a:buNone/>
            </a:pPr>
            <a:r>
              <a:rPr lang="en-US" sz="950" b="1" spc="160" kern="0" dirty="0">
                <a:solidFill>
                  <a:srgbClr val="6E7889"/>
                </a:solidFill>
                <a:latin typeface="Calibri" pitchFamily="34" charset="0"/>
                <a:ea typeface="Calibri" pitchFamily="34" charset="-122"/>
                <a:cs typeface="Calibri" pitchFamily="34" charset="-120"/>
              </a:rPr>
              <a:t>13  ·  THE STOP DECISION</a:t>
            </a:r>
            <a:endParaRPr lang="en-US" sz="950" dirty="0"/>
          </a:p>
        </p:txBody>
      </p:sp>
      <p:sp>
        <p:nvSpPr>
          <p:cNvPr id="3" name="Text 1"/>
          <p:cNvSpPr/>
          <p:nvPr/>
        </p:nvSpPr>
        <p:spPr>
          <a:xfrm>
            <a:off x="548640" y="530352"/>
            <a:ext cx="11094415" cy="786384"/>
          </a:xfrm>
          <a:prstGeom prst="rect">
            <a:avLst/>
          </a:prstGeom>
          <a:noFill/>
          <a:ln/>
        </p:spPr>
        <p:txBody>
          <a:bodyPr wrap="square" lIns="0" tIns="0" rIns="0" bIns="0" rtlCol="0" anchor="t"/>
          <a:lstStyle/>
          <a:p>
            <a:pPr indent="0" marL="0">
              <a:lnSpc>
                <a:spcPts val="3200"/>
              </a:lnSpc>
              <a:buNone/>
            </a:pPr>
            <a:r>
              <a:rPr lang="en-US" sz="2600" b="1" dirty="0">
                <a:solidFill>
                  <a:srgbClr val="1E3A5F"/>
                </a:solidFill>
                <a:latin typeface="Cambria" pitchFamily="34" charset="0"/>
                <a:ea typeface="Cambria" pitchFamily="34" charset="-122"/>
                <a:cs typeface="Cambria" pitchFamily="34" charset="-120"/>
              </a:rPr>
              <a:t>Stop refusal as a scalar — conditional on an assumption I am asking the reader to rule on</a:t>
            </a:r>
            <a:endParaRPr lang="en-US" sz="2600" dirty="0"/>
          </a:p>
        </p:txBody>
      </p:sp>
      <p:sp>
        <p:nvSpPr>
          <p:cNvPr id="4" name="Text 2"/>
          <p:cNvSpPr/>
          <p:nvPr/>
        </p:nvSpPr>
        <p:spPr>
          <a:xfrm>
            <a:off x="548640" y="1371600"/>
            <a:ext cx="11094415" cy="402336"/>
          </a:xfrm>
          <a:prstGeom prst="rect">
            <a:avLst/>
          </a:prstGeom>
          <a:noFill/>
          <a:ln/>
        </p:spPr>
        <p:txBody>
          <a:bodyPr wrap="square" lIns="0" tIns="0" rIns="0" bIns="0" rtlCol="0" anchor="t"/>
          <a:lstStyle/>
          <a:p>
            <a:pPr indent="0" marL="0">
              <a:lnSpc>
                <a:spcPts val="1600"/>
              </a:lnSpc>
              <a:buNone/>
            </a:pPr>
            <a:r>
              <a:rPr lang="en-US" sz="1200" dirty="0">
                <a:solidFill>
                  <a:srgbClr val="6E7889"/>
                </a:solidFill>
                <a:latin typeface="Calibri" pitchFamily="34" charset="0"/>
                <a:ea typeface="Calibri" pitchFamily="34" charset="-122"/>
                <a:cs typeface="Calibri" pitchFamily="34" charset="-120"/>
              </a:rPr>
              <a:t>Retire the composite. Keep the corpus, the failure-code catalogue and the near-neighbour pair design, which are the scarce assets.</a:t>
            </a:r>
            <a:endParaRPr lang="en-US" sz="1200" dirty="0"/>
          </a:p>
        </p:txBody>
      </p:sp>
      <p:graphicFrame>
        <p:nvGraphicFramePr>
          <p:cNvPr id="14" name="Table 0"/>
          <p:cNvGraphicFramePr>
            <a:graphicFrameLocks noGrp="1"/>
          </p:cNvGraphicFramePr>
          <p:nvPr>
            <p:extLst>
              <p:ext uri="{D42A27DB-BD31-4B8C-83A1-F6EECF244321}">
                <p14:modId xmlns:p14="http://schemas.microsoft.com/office/powerpoint/2010/main" val="1579011935"/>
              </p:ext>
            </p:extLst>
          </p:nvPr>
        </p:nvGraphicFramePr>
        <p:xfrm>
          <a:off x="548640" y="2066544"/>
          <a:ext cx="9144000" cy="914400"/>
        </p:xfrm>
        <a:graphic>
          <a:graphicData uri="http://schemas.openxmlformats.org/drawingml/2006/table">
            <a:tbl>
              <a:tblPr/>
              <a:tblGrid>
                <a:gridCol w="2834640"/>
                <a:gridCol w="960120"/>
                <a:gridCol w="960120"/>
                <a:gridCol w="640080"/>
              </a:tblGrid>
              <a:tr h="292608">
                <a:tc>
                  <a:txBody>
                    <a:bodyPr/>
                    <a:lstStyle/>
                    <a:p>
                      <a:pPr algn="l" indent="0" marL="0">
                        <a:buNone/>
                      </a:pPr>
                      <a:r>
                        <a:rPr lang="en-US" sz="950" b="1" dirty="0">
                          <a:solidFill>
                            <a:srgbClr val="FFFFFF"/>
                          </a:solidFill>
                          <a:latin typeface="Calibri" pitchFamily="34" charset="0"/>
                          <a:ea typeface="Calibri" pitchFamily="34" charset="-122"/>
                          <a:cs typeface="Calibri" pitchFamily="34" charset="-120"/>
                        </a:rPr>
                        <a:t>Structural indicator</a:t>
                      </a:r>
                      <a:endParaRPr lang="en-US" sz="950" dirty="0">
                        <a:latin typeface="Calibri" charset="0"/>
                        <a:ea typeface="Calibri" charset="0"/>
                        <a:cs typeface="Calibri" charset="0"/>
                      </a:endParaRPr>
                    </a:p>
                  </a:txBody>
                  <a:tcPr marL="76200" marR="76200" marT="25400" marB="25400" anchor="ctr">
                    <a:lnL w="0" cap="flat" cmpd="sng" algn="ctr">
                      <a:noFill/>
                    </a:lnL>
                    <a:lnR w="0" cap="flat" cmpd="sng" algn="ctr">
                      <a:noFill/>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1E3A5F"/>
                    </a:solidFill>
                  </a:tcPr>
                </a:tc>
                <a:tc>
                  <a:txBody>
                    <a:bodyPr/>
                    <a:lstStyle/>
                    <a:p>
                      <a:pPr algn="ctr" indent="0" marL="0">
                        <a:buNone/>
                      </a:pPr>
                      <a:r>
                        <a:rPr lang="en-US" sz="950" b="1" dirty="0">
                          <a:solidFill>
                            <a:srgbClr val="FFFFFF"/>
                          </a:solidFill>
                          <a:latin typeface="Calibri" pitchFamily="34" charset="0"/>
                          <a:ea typeface="Calibri" pitchFamily="34" charset="-122"/>
                          <a:cs typeface="Calibri" pitchFamily="34" charset="-120"/>
                        </a:rPr>
                        <a:t>Threshold</a:t>
                      </a:r>
                      <a:endParaRPr lang="en-US" sz="950" dirty="0">
                        <a:latin typeface="Calibri" charset="0"/>
                        <a:ea typeface="Calibri" charset="0"/>
                        <a:cs typeface="Calibri" charset="0"/>
                      </a:endParaRPr>
                    </a:p>
                  </a:txBody>
                  <a:tcPr marL="76200" marR="76200" marT="25400" marB="25400" anchor="ctr">
                    <a:lnL w="0" cap="flat" cmpd="sng" algn="ctr">
                      <a:noFill/>
                    </a:lnL>
                    <a:lnR w="0" cap="flat" cmpd="sng" algn="ctr">
                      <a:noFill/>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1E3A5F"/>
                    </a:solidFill>
                  </a:tcPr>
                </a:tc>
                <a:tc>
                  <a:txBody>
                    <a:bodyPr/>
                    <a:lstStyle/>
                    <a:p>
                      <a:pPr algn="ctr" indent="0" marL="0">
                        <a:buNone/>
                      </a:pPr>
                      <a:r>
                        <a:rPr lang="en-US" sz="950" b="1" dirty="0">
                          <a:solidFill>
                            <a:srgbClr val="FFFFFF"/>
                          </a:solidFill>
                          <a:latin typeface="Calibri" pitchFamily="34" charset="0"/>
                          <a:ea typeface="Calibri" pitchFamily="34" charset="-122"/>
                          <a:cs typeface="Calibri" pitchFamily="34" charset="-120"/>
                        </a:rPr>
                        <a:t>Observed</a:t>
                      </a:r>
                      <a:endParaRPr lang="en-US" sz="950" dirty="0">
                        <a:latin typeface="Calibri" charset="0"/>
                        <a:ea typeface="Calibri" charset="0"/>
                        <a:cs typeface="Calibri" charset="0"/>
                      </a:endParaRPr>
                    </a:p>
                  </a:txBody>
                  <a:tcPr marL="76200" marR="76200" marT="25400" marB="25400" anchor="ctr">
                    <a:lnL w="0" cap="flat" cmpd="sng" algn="ctr">
                      <a:noFill/>
                    </a:lnL>
                    <a:lnR w="0" cap="flat" cmpd="sng" algn="ctr">
                      <a:noFill/>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1E3A5F"/>
                    </a:solidFill>
                  </a:tcPr>
                </a:tc>
                <a:tc>
                  <a:txBody>
                    <a:bodyPr/>
                    <a:lstStyle/>
                    <a:p>
                      <a:pPr algn="ctr" indent="0" marL="0">
                        <a:buNone/>
                      </a:pPr>
                      <a:r>
                        <a:rPr lang="en-US" sz="950" b="1" dirty="0">
                          <a:solidFill>
                            <a:srgbClr val="FFFFFF"/>
                          </a:solidFill>
                          <a:latin typeface="Calibri" pitchFamily="34" charset="0"/>
                          <a:ea typeface="Calibri" pitchFamily="34" charset="-122"/>
                          <a:cs typeface="Calibri" pitchFamily="34" charset="-120"/>
                        </a:rPr>
                        <a:t>Fired</a:t>
                      </a:r>
                      <a:endParaRPr lang="en-US" sz="950" dirty="0">
                        <a:latin typeface="Calibri" charset="0"/>
                        <a:ea typeface="Calibri" charset="0"/>
                        <a:cs typeface="Calibri" charset="0"/>
                      </a:endParaRPr>
                    </a:p>
                  </a:txBody>
                  <a:tcPr marL="76200" marR="76200" marT="25400" marB="25400" anchor="ctr">
                    <a:lnL w="0" cap="flat" cmpd="sng" algn="ctr">
                      <a:noFill/>
                    </a:lnL>
                    <a:lnR w="0" cap="flat" cmpd="sng" algn="ctr">
                      <a:noFill/>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1E3A5F"/>
                    </a:solidFill>
                  </a:tcPr>
                </a:tc>
              </a:tr>
              <a:tr h="292608">
                <a:tc>
                  <a:txBody>
                    <a:bodyPr/>
                    <a:lstStyle/>
                    <a:p>
                      <a:pPr algn="l" indent="0" marL="0">
                        <a:buNone/>
                      </a:pPr>
                      <a:r>
                        <a:rPr lang="en-US" sz="950" dirty="0">
                          <a:solidFill>
                            <a:srgbClr val="222831"/>
                          </a:solidFill>
                          <a:latin typeface="Calibri" pitchFamily="34" charset="0"/>
                          <a:ea typeface="Calibri" pitchFamily="34" charset="-122"/>
                          <a:cs typeface="Calibri" pitchFamily="34" charset="-120"/>
                        </a:rPr>
                        <a:t>no_dimension_usable  (best dimension α)</a:t>
                      </a:r>
                      <a:endParaRPr lang="en-US" sz="950" dirty="0">
                        <a:latin typeface="Calibri" charset="0"/>
                        <a:ea typeface="Calibri" charset="0"/>
                        <a:cs typeface="Calibri" charset="0"/>
                      </a:endParaRPr>
                    </a:p>
                  </a:txBody>
                  <a:tcPr marL="76200" marR="76200" marT="25400" marB="25400" anchor="ctr">
                    <a:lnL w="0" cap="flat" cmpd="sng" algn="ctr">
                      <a:noFill/>
                    </a:lnL>
                    <a:lnR w="0" cap="flat" cmpd="sng" algn="ctr">
                      <a:noFill/>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tcPr>
                </a:tc>
                <a:tc>
                  <a:txBody>
                    <a:bodyPr/>
                    <a:lstStyle/>
                    <a:p>
                      <a:pPr algn="ctr" indent="0" marL="0">
                        <a:buNone/>
                      </a:pPr>
                      <a:r>
                        <a:rPr lang="en-US" sz="1000" dirty="0">
                          <a:solidFill>
                            <a:srgbClr val="222831"/>
                          </a:solidFill>
                          <a:latin typeface="Calibri" pitchFamily="34" charset="0"/>
                          <a:ea typeface="Calibri" pitchFamily="34" charset="-122"/>
                          <a:cs typeface="Calibri" pitchFamily="34" charset="-120"/>
                        </a:rPr>
                        <a:t>&lt; 0.60</a:t>
                      </a:r>
                      <a:endParaRPr lang="en-US" sz="1000" dirty="0">
                        <a:latin typeface="Calibri" charset="0"/>
                        <a:ea typeface="Calibri" charset="0"/>
                        <a:cs typeface="Calibri" charset="0"/>
                      </a:endParaRPr>
                    </a:p>
                  </a:txBody>
                  <a:tcPr marL="76200" marR="76200" marT="25400" marB="25400" anchor="ctr">
                    <a:lnL w="0" cap="flat" cmpd="sng" algn="ctr">
                      <a:noFill/>
                    </a:lnL>
                    <a:lnR w="0" cap="flat" cmpd="sng" algn="ctr">
                      <a:noFill/>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tcPr>
                </a:tc>
                <a:tc>
                  <a:txBody>
                    <a:bodyPr/>
                    <a:lstStyle/>
                    <a:p>
                      <a:pPr algn="ctr" indent="0" marL="0">
                        <a:buNone/>
                      </a:pPr>
                      <a:r>
                        <a:rPr lang="en-US" sz="1000" dirty="0">
                          <a:solidFill>
                            <a:srgbClr val="222831"/>
                          </a:solidFill>
                          <a:latin typeface="Calibri" pitchFamily="34" charset="0"/>
                          <a:ea typeface="Calibri" pitchFamily="34" charset="-122"/>
                          <a:cs typeface="Calibri" pitchFamily="34" charset="-120"/>
                        </a:rPr>
                        <a:t>0.489</a:t>
                      </a:r>
                      <a:endParaRPr lang="en-US" sz="1000" dirty="0">
                        <a:latin typeface="Calibri" charset="0"/>
                        <a:ea typeface="Calibri" charset="0"/>
                        <a:cs typeface="Calibri" charset="0"/>
                      </a:endParaRPr>
                    </a:p>
                  </a:txBody>
                  <a:tcPr marL="76200" marR="76200" marT="25400" marB="25400" anchor="ctr">
                    <a:lnL w="0" cap="flat" cmpd="sng" algn="ctr">
                      <a:noFill/>
                    </a:lnL>
                    <a:lnR w="0" cap="flat" cmpd="sng" algn="ctr">
                      <a:noFill/>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tcPr>
                </a:tc>
                <a:tc>
                  <a:txBody>
                    <a:bodyPr/>
                    <a:lstStyle/>
                    <a:p>
                      <a:pPr algn="ctr" indent="0" marL="0">
                        <a:buNone/>
                      </a:pPr>
                      <a:r>
                        <a:rPr lang="en-US" sz="1000" b="1" dirty="0">
                          <a:solidFill>
                            <a:srgbClr val="9B2226"/>
                          </a:solidFill>
                          <a:latin typeface="Calibri" pitchFamily="34" charset="0"/>
                          <a:ea typeface="Calibri" pitchFamily="34" charset="-122"/>
                          <a:cs typeface="Calibri" pitchFamily="34" charset="-120"/>
                        </a:rPr>
                        <a:t>YES</a:t>
                      </a:r>
                      <a:endParaRPr lang="en-US" sz="1000" dirty="0">
                        <a:latin typeface="Calibri" charset="0"/>
                        <a:ea typeface="Calibri" charset="0"/>
                        <a:cs typeface="Calibri" charset="0"/>
                      </a:endParaRPr>
                    </a:p>
                  </a:txBody>
                  <a:tcPr marL="76200" marR="76200" marT="25400" marB="25400" anchor="ctr">
                    <a:lnL w="0" cap="flat" cmpd="sng" algn="ctr">
                      <a:noFill/>
                    </a:lnL>
                    <a:lnR w="0" cap="flat" cmpd="sng" algn="ctr">
                      <a:noFill/>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tcPr>
                </a:tc>
              </a:tr>
              <a:tr h="292608">
                <a:tc>
                  <a:txBody>
                    <a:bodyPr/>
                    <a:lstStyle/>
                    <a:p>
                      <a:pPr algn="l" indent="0" marL="0">
                        <a:buNone/>
                      </a:pPr>
                      <a:r>
                        <a:rPr lang="en-US" sz="950" dirty="0">
                          <a:solidFill>
                            <a:srgbClr val="222831"/>
                          </a:solidFill>
                          <a:latin typeface="Calibri" pitchFamily="34" charset="0"/>
                          <a:ea typeface="Calibri" pitchFamily="34" charset="-122"/>
                          <a:cs typeface="Calibri" pitchFamily="34" charset="-120"/>
                        </a:rPr>
                        <a:t>disagreement_irreducible</a:t>
                      </a:r>
                      <a:endParaRPr lang="en-US" sz="950" dirty="0">
                        <a:latin typeface="Calibri" charset="0"/>
                        <a:ea typeface="Calibri" charset="0"/>
                        <a:cs typeface="Calibri" charset="0"/>
                      </a:endParaRPr>
                    </a:p>
                  </a:txBody>
                  <a:tcPr marL="76200" marR="76200" marT="25400" marB="25400" anchor="ctr">
                    <a:lnL w="0" cap="flat" cmpd="sng" algn="ctr">
                      <a:noFill/>
                    </a:lnL>
                    <a:lnR w="0" cap="flat" cmpd="sng" algn="ctr">
                      <a:noFill/>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tcPr>
                </a:tc>
                <a:tc>
                  <a:txBody>
                    <a:bodyPr/>
                    <a:lstStyle/>
                    <a:p>
                      <a:pPr algn="ctr" indent="0" marL="0">
                        <a:buNone/>
                      </a:pPr>
                      <a:r>
                        <a:rPr lang="en-US" sz="1000" dirty="0">
                          <a:solidFill>
                            <a:srgbClr val="222831"/>
                          </a:solidFill>
                          <a:latin typeface="Calibri" pitchFamily="34" charset="0"/>
                          <a:ea typeface="Calibri" pitchFamily="34" charset="-122"/>
                          <a:cs typeface="Calibri" pitchFamily="34" charset="-120"/>
                        </a:rPr>
                        <a:t>≥ 0.55</a:t>
                      </a:r>
                      <a:endParaRPr lang="en-US" sz="1000" dirty="0">
                        <a:latin typeface="Calibri" charset="0"/>
                        <a:ea typeface="Calibri" charset="0"/>
                        <a:cs typeface="Calibri" charset="0"/>
                      </a:endParaRPr>
                    </a:p>
                  </a:txBody>
                  <a:tcPr marL="76200" marR="76200" marT="25400" marB="25400" anchor="ctr">
                    <a:lnL w="0" cap="flat" cmpd="sng" algn="ctr">
                      <a:noFill/>
                    </a:lnL>
                    <a:lnR w="0" cap="flat" cmpd="sng" algn="ctr">
                      <a:noFill/>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tcPr>
                </a:tc>
                <a:tc>
                  <a:txBody>
                    <a:bodyPr/>
                    <a:lstStyle/>
                    <a:p>
                      <a:pPr algn="ctr" indent="0" marL="0">
                        <a:buNone/>
                      </a:pPr>
                      <a:r>
                        <a:rPr lang="en-US" sz="1000" dirty="0">
                          <a:solidFill>
                            <a:srgbClr val="222831"/>
                          </a:solidFill>
                          <a:latin typeface="Calibri" pitchFamily="34" charset="0"/>
                          <a:ea typeface="Calibri" pitchFamily="34" charset="-122"/>
                          <a:cs typeface="Calibri" pitchFamily="34" charset="-120"/>
                        </a:rPr>
                        <a:t>0.666</a:t>
                      </a:r>
                      <a:endParaRPr lang="en-US" sz="1000" dirty="0">
                        <a:latin typeface="Calibri" charset="0"/>
                        <a:ea typeface="Calibri" charset="0"/>
                        <a:cs typeface="Calibri" charset="0"/>
                      </a:endParaRPr>
                    </a:p>
                  </a:txBody>
                  <a:tcPr marL="76200" marR="76200" marT="25400" marB="25400" anchor="ctr">
                    <a:lnL w="0" cap="flat" cmpd="sng" algn="ctr">
                      <a:noFill/>
                    </a:lnL>
                    <a:lnR w="0" cap="flat" cmpd="sng" algn="ctr">
                      <a:noFill/>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tcPr>
                </a:tc>
                <a:tc>
                  <a:txBody>
                    <a:bodyPr/>
                    <a:lstStyle/>
                    <a:p>
                      <a:pPr algn="ctr" indent="0" marL="0">
                        <a:buNone/>
                      </a:pPr>
                      <a:r>
                        <a:rPr lang="en-US" sz="1000" b="1" dirty="0">
                          <a:solidFill>
                            <a:srgbClr val="9B2226"/>
                          </a:solidFill>
                          <a:latin typeface="Calibri" pitchFamily="34" charset="0"/>
                          <a:ea typeface="Calibri" pitchFamily="34" charset="-122"/>
                          <a:cs typeface="Calibri" pitchFamily="34" charset="-120"/>
                        </a:rPr>
                        <a:t>YES</a:t>
                      </a:r>
                      <a:endParaRPr lang="en-US" sz="1000" dirty="0">
                        <a:latin typeface="Calibri" charset="0"/>
                        <a:ea typeface="Calibri" charset="0"/>
                        <a:cs typeface="Calibri" charset="0"/>
                      </a:endParaRPr>
                    </a:p>
                  </a:txBody>
                  <a:tcPr marL="76200" marR="76200" marT="25400" marB="25400" anchor="ctr">
                    <a:lnL w="0" cap="flat" cmpd="sng" algn="ctr">
                      <a:noFill/>
                    </a:lnL>
                    <a:lnR w="0" cap="flat" cmpd="sng" algn="ctr">
                      <a:noFill/>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tcPr>
                </a:tc>
              </a:tr>
              <a:tr h="292608">
                <a:tc>
                  <a:txBody>
                    <a:bodyPr/>
                    <a:lstStyle/>
                    <a:p>
                      <a:pPr algn="l" indent="0" marL="0">
                        <a:buNone/>
                      </a:pPr>
                      <a:r>
                        <a:rPr lang="en-US" sz="950" dirty="0">
                          <a:solidFill>
                            <a:srgbClr val="222831"/>
                          </a:solidFill>
                          <a:latin typeface="Calibri" pitchFamily="34" charset="0"/>
                          <a:ea typeface="Calibri" pitchFamily="34" charset="-122"/>
                          <a:cs typeface="Calibri" pitchFamily="34" charset="-120"/>
                        </a:rPr>
                        <a:t>adjudicators_cite_definition</a:t>
                      </a:r>
                      <a:endParaRPr lang="en-US" sz="950" dirty="0">
                        <a:latin typeface="Calibri" charset="0"/>
                        <a:ea typeface="Calibri" charset="0"/>
                        <a:cs typeface="Calibri" charset="0"/>
                      </a:endParaRPr>
                    </a:p>
                  </a:txBody>
                  <a:tcPr marL="76200" marR="76200" marT="25400" marB="25400" anchor="ctr">
                    <a:lnL w="0" cap="flat" cmpd="sng" algn="ctr">
                      <a:noFill/>
                    </a:lnL>
                    <a:lnR w="0" cap="flat" cmpd="sng" algn="ctr">
                      <a:noFill/>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tcPr>
                </a:tc>
                <a:tc>
                  <a:txBody>
                    <a:bodyPr/>
                    <a:lstStyle/>
                    <a:p>
                      <a:pPr algn="ctr" indent="0" marL="0">
                        <a:buNone/>
                      </a:pPr>
                      <a:r>
                        <a:rPr lang="en-US" sz="1000" dirty="0">
                          <a:solidFill>
                            <a:srgbClr val="222831"/>
                          </a:solidFill>
                          <a:latin typeface="Calibri" pitchFamily="34" charset="0"/>
                          <a:ea typeface="Calibri" pitchFamily="34" charset="-122"/>
                          <a:cs typeface="Calibri" pitchFamily="34" charset="-120"/>
                        </a:rPr>
                        <a:t>≥ 0.30</a:t>
                      </a:r>
                      <a:endParaRPr lang="en-US" sz="1000" dirty="0">
                        <a:latin typeface="Calibri" charset="0"/>
                        <a:ea typeface="Calibri" charset="0"/>
                        <a:cs typeface="Calibri" charset="0"/>
                      </a:endParaRPr>
                    </a:p>
                  </a:txBody>
                  <a:tcPr marL="76200" marR="76200" marT="25400" marB="25400" anchor="ctr">
                    <a:lnL w="0" cap="flat" cmpd="sng" algn="ctr">
                      <a:noFill/>
                    </a:lnL>
                    <a:lnR w="0" cap="flat" cmpd="sng" algn="ctr">
                      <a:noFill/>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tcPr>
                </a:tc>
                <a:tc>
                  <a:txBody>
                    <a:bodyPr/>
                    <a:lstStyle/>
                    <a:p>
                      <a:pPr algn="ctr" indent="0" marL="0">
                        <a:buNone/>
                      </a:pPr>
                      <a:r>
                        <a:rPr lang="en-US" sz="1000" dirty="0">
                          <a:solidFill>
                            <a:srgbClr val="222831"/>
                          </a:solidFill>
                          <a:latin typeface="Calibri" pitchFamily="34" charset="0"/>
                          <a:ea typeface="Calibri" pitchFamily="34" charset="-122"/>
                          <a:cs typeface="Calibri" pitchFamily="34" charset="-120"/>
                        </a:rPr>
                        <a:t>0.691</a:t>
                      </a:r>
                      <a:endParaRPr lang="en-US" sz="1000" dirty="0">
                        <a:latin typeface="Calibri" charset="0"/>
                        <a:ea typeface="Calibri" charset="0"/>
                        <a:cs typeface="Calibri" charset="0"/>
                      </a:endParaRPr>
                    </a:p>
                  </a:txBody>
                  <a:tcPr marL="76200" marR="76200" marT="25400" marB="25400" anchor="ctr">
                    <a:lnL w="0" cap="flat" cmpd="sng" algn="ctr">
                      <a:noFill/>
                    </a:lnL>
                    <a:lnR w="0" cap="flat" cmpd="sng" algn="ctr">
                      <a:noFill/>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tcPr>
                </a:tc>
                <a:tc>
                  <a:txBody>
                    <a:bodyPr/>
                    <a:lstStyle/>
                    <a:p>
                      <a:pPr algn="ctr" indent="0" marL="0">
                        <a:buNone/>
                      </a:pPr>
                      <a:r>
                        <a:rPr lang="en-US" sz="1000" b="1" dirty="0">
                          <a:solidFill>
                            <a:srgbClr val="9B2226"/>
                          </a:solidFill>
                          <a:latin typeface="Calibri" pitchFamily="34" charset="0"/>
                          <a:ea typeface="Calibri" pitchFamily="34" charset="-122"/>
                          <a:cs typeface="Calibri" pitchFamily="34" charset="-120"/>
                        </a:rPr>
                        <a:t>YES</a:t>
                      </a:r>
                      <a:endParaRPr lang="en-US" sz="1000" dirty="0">
                        <a:latin typeface="Calibri" charset="0"/>
                        <a:ea typeface="Calibri" charset="0"/>
                        <a:cs typeface="Calibri" charset="0"/>
                      </a:endParaRPr>
                    </a:p>
                  </a:txBody>
                  <a:tcPr marL="76200" marR="76200" marT="25400" marB="25400" anchor="ctr">
                    <a:lnL w="0" cap="flat" cmpd="sng" algn="ctr">
                      <a:noFill/>
                    </a:lnL>
                    <a:lnR w="0" cap="flat" cmpd="sng" algn="ctr">
                      <a:noFill/>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tcPr>
                </a:tc>
              </a:tr>
            </a:tbl>
          </a:graphicData>
        </a:graphic>
      </p:graphicFrame>
      <p:sp>
        <p:nvSpPr>
          <p:cNvPr id="6" name="Text 3"/>
          <p:cNvSpPr/>
          <p:nvPr/>
        </p:nvSpPr>
        <p:spPr>
          <a:xfrm>
            <a:off x="548640" y="3346704"/>
            <a:ext cx="5394960" cy="640080"/>
          </a:xfrm>
          <a:prstGeom prst="rect">
            <a:avLst/>
          </a:prstGeom>
          <a:noFill/>
          <a:ln/>
        </p:spPr>
        <p:txBody>
          <a:bodyPr wrap="square" lIns="0" tIns="0" rIns="0" bIns="0" rtlCol="0" anchor="t"/>
          <a:lstStyle/>
          <a:p>
            <a:pPr indent="0" marL="0">
              <a:lnSpc>
                <a:spcPts val="1500"/>
              </a:lnSpc>
              <a:buNone/>
            </a:pPr>
            <a:r>
              <a:rPr lang="en-US" sz="1050" dirty="0">
                <a:solidFill>
                  <a:srgbClr val="222831"/>
                </a:solidFill>
                <a:latin typeface="Calibri" pitchFamily="34" charset="0"/>
                <a:ea typeface="Calibri" pitchFamily="34" charset="-122"/>
                <a:cs typeface="Calibri" pitchFamily="34" charset="-120"/>
              </a:rPr>
              <a:t>The rule requires two of three; three fired. The pool is competent — gold accuracy 0.7842 against a 0.70 floor, 33% of annotators flagged against a 0.34 ceiling — so this is not an execution problem. Annotators can apply the rubric; they do not agree on what the rubric should say.</a:t>
            </a:r>
            <a:endParaRPr lang="en-US" sz="1050" dirty="0"/>
          </a:p>
        </p:txBody>
      </p:sp>
      <p:sp>
        <p:nvSpPr>
          <p:cNvPr id="7" name="Shape 4"/>
          <p:cNvSpPr/>
          <p:nvPr/>
        </p:nvSpPr>
        <p:spPr>
          <a:xfrm>
            <a:off x="548640" y="4187952"/>
            <a:ext cx="5394960" cy="1755648"/>
          </a:xfrm>
          <a:prstGeom prst="roundRect">
            <a:avLst>
              <a:gd name="adj" fmla="val 3125"/>
            </a:avLst>
          </a:prstGeom>
          <a:solidFill>
            <a:srgbClr val="F3F5F8"/>
          </a:solidFill>
          <a:ln w="9525">
            <a:solidFill>
              <a:srgbClr val="DCE1E8"/>
            </a:solidFill>
            <a:prstDash val="solid"/>
          </a:ln>
        </p:spPr>
      </p:sp>
      <p:sp>
        <p:nvSpPr>
          <p:cNvPr id="8" name="Text 5"/>
          <p:cNvSpPr/>
          <p:nvPr/>
        </p:nvSpPr>
        <p:spPr>
          <a:xfrm>
            <a:off x="822960" y="4370832"/>
            <a:ext cx="4846320" cy="219456"/>
          </a:xfrm>
          <a:prstGeom prst="rect">
            <a:avLst/>
          </a:prstGeom>
          <a:noFill/>
          <a:ln/>
        </p:spPr>
        <p:txBody>
          <a:bodyPr wrap="square" lIns="0" tIns="0" rIns="0" bIns="0" rtlCol="0" anchor="ctr"/>
          <a:lstStyle/>
          <a:p>
            <a:pPr indent="0" marL="0">
              <a:buNone/>
            </a:pPr>
            <a:r>
              <a:rPr lang="en-US" sz="1050" b="1" spc="60" kern="0" dirty="0">
                <a:solidFill>
                  <a:srgbClr val="1E3A5F"/>
                </a:solidFill>
                <a:latin typeface="Calibri" pitchFamily="34" charset="0"/>
                <a:ea typeface="Calibri" pitchFamily="34" charset="-122"/>
                <a:cs typeface="Calibri" pitchFamily="34" charset="-120"/>
              </a:rPr>
              <a:t>NOT SIMPLY “LOW α MEANS STOP”</a:t>
            </a:r>
            <a:endParaRPr lang="en-US" sz="1050" dirty="0"/>
          </a:p>
        </p:txBody>
      </p:sp>
      <p:sp>
        <p:nvSpPr>
          <p:cNvPr id="9" name="Text 6"/>
          <p:cNvSpPr/>
          <p:nvPr/>
        </p:nvSpPr>
        <p:spPr>
          <a:xfrm>
            <a:off x="822960" y="4663440"/>
            <a:ext cx="4846320" cy="1152144"/>
          </a:xfrm>
          <a:prstGeom prst="rect">
            <a:avLst/>
          </a:prstGeom>
          <a:noFill/>
          <a:ln/>
        </p:spPr>
        <p:txBody>
          <a:bodyPr wrap="square" lIns="0" tIns="0" rIns="0" bIns="0" rtlCol="0" anchor="t"/>
          <a:lstStyle/>
          <a:p>
            <a:pPr indent="0" marL="0">
              <a:lnSpc>
                <a:spcPts val="1500"/>
              </a:lnSpc>
              <a:buNone/>
            </a:pPr>
            <a:r>
              <a:rPr lang="en-US" sz="1050" dirty="0">
                <a:solidFill>
                  <a:srgbClr val="222831"/>
                </a:solidFill>
                <a:latin typeface="Calibri" pitchFamily="34" charset="0"/>
                <a:ea typeface="Calibri" pitchFamily="34" charset="-122"/>
                <a:cs typeface="Calibri" pitchFamily="34" charset="-120"/>
              </a:rPr>
              <a:t>grounding carries a higher irreducible share (0.745) and still gets ITERATE, because its best dimension reaches 0.7439 and adjudicators blame the rubric only 3.6% of the time, against 69% on refusal. The engine separates a contested construct from a broken dimension, on 2-of-3 indicators with gold accuracy demoted to a precondition.</a:t>
            </a:r>
            <a:endParaRPr lang="en-US" sz="1050" dirty="0"/>
          </a:p>
        </p:txBody>
      </p:sp>
      <p:sp>
        <p:nvSpPr>
          <p:cNvPr id="10" name="Shape 7"/>
          <p:cNvSpPr/>
          <p:nvPr/>
        </p:nvSpPr>
        <p:spPr>
          <a:xfrm>
            <a:off x="6248095" y="2066544"/>
            <a:ext cx="5394960" cy="3877056"/>
          </a:xfrm>
          <a:prstGeom prst="roundRect">
            <a:avLst>
              <a:gd name="adj" fmla="val 1415"/>
            </a:avLst>
          </a:prstGeom>
          <a:solidFill>
            <a:srgbClr val="FCF8EE"/>
          </a:solidFill>
          <a:ln w="9525">
            <a:solidFill>
              <a:srgbClr val="DCE1E8"/>
            </a:solidFill>
            <a:prstDash val="solid"/>
          </a:ln>
        </p:spPr>
      </p:sp>
      <p:sp>
        <p:nvSpPr>
          <p:cNvPr id="11" name="Text 8"/>
          <p:cNvSpPr/>
          <p:nvPr/>
        </p:nvSpPr>
        <p:spPr>
          <a:xfrm>
            <a:off x="6540703" y="2286000"/>
            <a:ext cx="4809744" cy="219456"/>
          </a:xfrm>
          <a:prstGeom prst="rect">
            <a:avLst/>
          </a:prstGeom>
          <a:noFill/>
          <a:ln/>
        </p:spPr>
        <p:txBody>
          <a:bodyPr wrap="square" lIns="0" tIns="0" rIns="0" bIns="0" rtlCol="0" anchor="ctr"/>
          <a:lstStyle/>
          <a:p>
            <a:pPr indent="0" marL="0">
              <a:buNone/>
            </a:pPr>
            <a:r>
              <a:rPr lang="en-US" sz="1050" b="1" spc="60" kern="0" dirty="0">
                <a:solidFill>
                  <a:srgbClr val="9A6B12"/>
                </a:solidFill>
                <a:latin typeface="Calibri" pitchFamily="34" charset="0"/>
                <a:ea typeface="Calibri" pitchFamily="34" charset="-122"/>
                <a:cs typeface="Calibri" pitchFamily="34" charset="-120"/>
              </a:rPr>
              <a:t>AND THE VERDICT IS CONDITIONAL, ON THE SLIDE</a:t>
            </a:r>
            <a:endParaRPr lang="en-US" sz="1050" dirty="0"/>
          </a:p>
        </p:txBody>
      </p:sp>
      <p:sp>
        <p:nvSpPr>
          <p:cNvPr id="12" name="Text 9"/>
          <p:cNvSpPr/>
          <p:nvPr/>
        </p:nvSpPr>
        <p:spPr>
          <a:xfrm>
            <a:off x="6540703" y="2615184"/>
            <a:ext cx="4809744" cy="3108960"/>
          </a:xfrm>
          <a:prstGeom prst="rect">
            <a:avLst/>
          </a:prstGeom>
          <a:noFill/>
          <a:ln/>
        </p:spPr>
        <p:txBody>
          <a:bodyPr wrap="square" lIns="0" tIns="0" rIns="0" bIns="0" rtlCol="0" anchor="t"/>
          <a:lstStyle/>
          <a:p>
            <a:pPr indent="0" marL="0">
              <a:lnSpc>
                <a:spcPts val="1500"/>
              </a:lnSpc>
              <a:spcAft>
                <a:spcPts val="800"/>
              </a:spcAft>
              <a:buNone/>
            </a:pPr>
            <a:r>
              <a:rPr lang="en-US" sz="1050" dirty="0">
                <a:solidFill>
                  <a:srgbClr val="222831"/>
                </a:solidFill>
                <a:latin typeface="Calibri" pitchFamily="34" charset="0"/>
                <a:ea typeface="Calibri" pitchFamily="34" charset="-122"/>
                <a:cs typeface="Calibri" pitchFamily="34" charset="-120"/>
              </a:rPr>
              <a:t>The load-bearing assumption is that calibration, over_refusal_cost and tone_respect are contested — annotators hold stable differing positions rather than making independent errors. That flag is set by hand in annotation/effects.py.</a:t>
            </a:r>
            <a:endParaRPr lang="en-US" sz="1050" dirty="0"/>
          </a:p>
          <a:p>
            <a:pPr indent="0" marL="0">
              <a:lnSpc>
                <a:spcPts val="1500"/>
              </a:lnSpc>
              <a:spcAft>
                <a:spcPts val="800"/>
              </a:spcAft>
              <a:buNone/>
            </a:pPr>
            <a:r>
              <a:rPr lang="en-US" sz="1050" dirty="0">
                <a:solidFill>
                  <a:srgbClr val="222831"/>
                </a:solidFill>
                <a:latin typeface="Calibri" pitchFamily="34" charset="0"/>
                <a:ea typeface="Calibri" pitchFamily="34" charset="-122"/>
                <a:cs typeface="Calibri" pitchFamily="34" charset="-120"/>
              </a:rPr>
              <a:t>Clear those three flags and the verdict is ITERATE. Four of the five named perturbations return ITERATE; random reassignment keeps STOP in 11 of 20 seeds. sensitivity.json classifies the track CONDITIONAL.</a:t>
            </a:r>
            <a:endParaRPr lang="en-US" sz="1050" dirty="0"/>
          </a:p>
          <a:p>
            <a:pPr indent="0" marL="0">
              <a:lnSpc>
                <a:spcPts val="1500"/>
              </a:lnSpc>
              <a:spcAft>
                <a:spcPts val="800"/>
              </a:spcAft>
              <a:buNone/>
            </a:pPr>
            <a:r>
              <a:rPr lang="en-US" sz="1050" dirty="0">
                <a:solidFill>
                  <a:srgbClr val="222831"/>
                </a:solidFill>
                <a:latin typeface="Calibri" pitchFamily="34" charset="0"/>
                <a:ea typeface="Calibri" pitchFamily="34" charset="-122"/>
                <a:cs typeface="Calibri" pitchFamily="34" charset="-120"/>
              </a:rPr>
              <a:t>So the sentence I am asking to be approved is conditional: if acceptable risk, the cost of an unnecessary refusal, and condescension in tone are genuinely contested, then this construct is not measurable as a scalar with this pool. If they are not, the right call is ITERATE — rewrite the anchors and re-pilot.</a:t>
            </a:r>
            <a:endParaRPr lang="en-US" sz="1050" dirty="0"/>
          </a:p>
          <a:p>
            <a:pPr indent="0" marL="0">
              <a:lnSpc>
                <a:spcPts val="1500"/>
              </a:lnSpc>
              <a:spcAft>
                <a:spcPts val="800"/>
              </a:spcAft>
              <a:buNone/>
            </a:pPr>
            <a:r>
              <a:rPr lang="en-US" sz="1050" dirty="0">
                <a:solidFill>
                  <a:srgbClr val="222831"/>
                </a:solidFill>
                <a:latin typeface="Calibri" pitchFamily="34" charset="0"/>
                <a:ea typeface="Calibri" pitchFamily="34" charset="-122"/>
                <a:cs typeface="Calibri" pitchFamily="34" charset="-120"/>
              </a:rPr>
              <a:t>Item 0 of the decision requested is therefore whether the reader agrees those three dimensions are contested. It is a judgement about the construct, not one these data can settle.</a:t>
            </a:r>
            <a:endParaRPr lang="en-US" sz="1050" dirty="0"/>
          </a:p>
        </p:txBody>
      </p:sp>
      <p:sp>
        <p:nvSpPr>
          <p:cNvPr id="13" name="Text 10"/>
          <p:cNvSpPr/>
          <p:nvPr/>
        </p:nvSpPr>
        <p:spPr>
          <a:xfrm>
            <a:off x="548640" y="6336792"/>
            <a:ext cx="9966960" cy="219456"/>
          </a:xfrm>
          <a:prstGeom prst="rect">
            <a:avLst/>
          </a:prstGeom>
          <a:noFill/>
          <a:ln/>
        </p:spPr>
        <p:txBody>
          <a:bodyPr wrap="square" lIns="0" tIns="0" rIns="0" bIns="0" rtlCol="0" anchor="ctr"/>
          <a:lstStyle/>
          <a:p>
            <a:pPr algn="l" indent="0" marL="0">
              <a:buNone/>
            </a:pPr>
            <a:r>
              <a:rPr lang="en-US" sz="800" dirty="0">
                <a:solidFill>
                  <a:srgbClr val="6E7889"/>
                </a:solidFill>
                <a:latin typeface="Calibri" pitchFamily="34" charset="0"/>
                <a:ea typeface="Calibri" pitchFamily="34" charset="-122"/>
                <a:cs typeface="Calibri" pitchFamily="34" charset="-120"/>
              </a:rPr>
              <a:t>results/portfolio.json  md5 299bd4f19e03caa2cd7e33681340c294  ·  results/sensitivity.json  md5 ba0a9291c1f80a2a66dc077c6f19e9b8  ·  docs/decision-memo-refusal.md</a:t>
            </a:r>
            <a:endParaRPr lang="en-US" sz="800" dirty="0"/>
          </a:p>
        </p:txBody>
      </p:sp>
      <p:sp>
        <p:nvSpPr>
          <p:cNvPr id="14" name="Text 11"/>
          <p:cNvSpPr/>
          <p:nvPr/>
        </p:nvSpPr>
        <p:spPr>
          <a:xfrm>
            <a:off x="10927080" y="6336792"/>
            <a:ext cx="713232" cy="219456"/>
          </a:xfrm>
          <a:prstGeom prst="rect">
            <a:avLst/>
          </a:prstGeom>
          <a:noFill/>
          <a:ln/>
        </p:spPr>
        <p:txBody>
          <a:bodyPr wrap="square" lIns="0" tIns="0" rIns="0" bIns="0" rtlCol="0" anchor="ctr"/>
          <a:lstStyle/>
          <a:p>
            <a:pPr algn="r" indent="0" marL="0">
              <a:buNone/>
            </a:pPr>
            <a:r>
              <a:rPr lang="en-US" sz="800" dirty="0">
                <a:solidFill>
                  <a:srgbClr val="6E7889"/>
                </a:solidFill>
                <a:latin typeface="Calibri" pitchFamily="34" charset="0"/>
                <a:ea typeface="Calibri" pitchFamily="34" charset="-122"/>
                <a:cs typeface="Calibri" pitchFamily="34" charset="-120"/>
              </a:rPr>
              <a:t>13</a:t>
            </a:r>
            <a:endParaRPr lang="en-US" sz="8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nvSpPr>
        <p:spPr>
          <a:xfrm>
            <a:off x="548640" y="292608"/>
            <a:ext cx="11094415" cy="201168"/>
          </a:xfrm>
          <a:prstGeom prst="rect">
            <a:avLst/>
          </a:prstGeom>
          <a:noFill/>
          <a:ln/>
        </p:spPr>
        <p:txBody>
          <a:bodyPr wrap="square" lIns="0" tIns="0" rIns="0" bIns="0" rtlCol="0" anchor="ctr"/>
          <a:lstStyle/>
          <a:p>
            <a:pPr indent="0" marL="0">
              <a:buNone/>
            </a:pPr>
            <a:r>
              <a:rPr lang="en-US" sz="950" b="1" spc="160" kern="0" dirty="0">
                <a:solidFill>
                  <a:srgbClr val="6E7889"/>
                </a:solidFill>
                <a:latin typeface="Calibri" pitchFamily="34" charset="0"/>
                <a:ea typeface="Calibri" pitchFamily="34" charset="-122"/>
                <a:cs typeface="Calibri" pitchFamily="34" charset="-120"/>
              </a:rPr>
              <a:t>14  ·  ENGINEERING LOG</a:t>
            </a:r>
            <a:endParaRPr lang="en-US" sz="950" dirty="0"/>
          </a:p>
        </p:txBody>
      </p:sp>
      <p:sp>
        <p:nvSpPr>
          <p:cNvPr id="3" name="Text 1"/>
          <p:cNvSpPr/>
          <p:nvPr/>
        </p:nvSpPr>
        <p:spPr>
          <a:xfrm>
            <a:off x="548640" y="530352"/>
            <a:ext cx="11094415" cy="786384"/>
          </a:xfrm>
          <a:prstGeom prst="rect">
            <a:avLst/>
          </a:prstGeom>
          <a:noFill/>
          <a:ln/>
        </p:spPr>
        <p:txBody>
          <a:bodyPr wrap="square" lIns="0" tIns="0" rIns="0" bIns="0" rtlCol="0" anchor="t"/>
          <a:lstStyle/>
          <a:p>
            <a:pPr indent="0" marL="0">
              <a:lnSpc>
                <a:spcPts val="3200"/>
              </a:lnSpc>
              <a:buNone/>
            </a:pPr>
            <a:r>
              <a:rPr lang="en-US" sz="2600" b="1" dirty="0">
                <a:solidFill>
                  <a:srgbClr val="1E3A5F"/>
                </a:solidFill>
                <a:latin typeface="Cambria" pitchFamily="34" charset="0"/>
                <a:ea typeface="Cambria" pitchFamily="34" charset="-122"/>
                <a:cs typeface="Cambria" pitchFamily="34" charset="-120"/>
              </a:rPr>
              <a:t>Twelve of seventeen defects were false alarms — but the two that stayed quiet cost the most</a:t>
            </a:r>
            <a:endParaRPr lang="en-US" sz="2600" dirty="0"/>
          </a:p>
        </p:txBody>
      </p:sp>
      <p:sp>
        <p:nvSpPr>
          <p:cNvPr id="4" name="Text 2"/>
          <p:cNvSpPr/>
          <p:nvPr/>
        </p:nvSpPr>
        <p:spPr>
          <a:xfrm>
            <a:off x="548640" y="1371600"/>
            <a:ext cx="11094415" cy="402336"/>
          </a:xfrm>
          <a:prstGeom prst="rect">
            <a:avLst/>
          </a:prstGeom>
          <a:noFill/>
          <a:ln/>
        </p:spPr>
        <p:txBody>
          <a:bodyPr wrap="square" lIns="0" tIns="0" rIns="0" bIns="0" rtlCol="0" anchor="t"/>
          <a:lstStyle/>
          <a:p>
            <a:pPr indent="0" marL="0">
              <a:lnSpc>
                <a:spcPts val="1600"/>
              </a:lnSpc>
              <a:buNone/>
            </a:pPr>
            <a:r>
              <a:rPr lang="en-US" sz="1200" dirty="0">
                <a:solidFill>
                  <a:srgbClr val="6E7889"/>
                </a:solidFill>
                <a:latin typeface="Calibri" pitchFamily="34" charset="0"/>
                <a:ea typeface="Calibri" pitchFamily="34" charset="-122"/>
                <a:cs typeface="Calibri" pitchFamily="34" charset="-120"/>
              </a:rPr>
              <a:t>A gate that cries wolf is worse than no gate: it spends the credibility a real alarm would need. A check that passes silently spends something you cannot get back.</a:t>
            </a:r>
            <a:endParaRPr lang="en-US" sz="1200" dirty="0"/>
          </a:p>
        </p:txBody>
      </p:sp>
      <p:sp>
        <p:nvSpPr>
          <p:cNvPr id="5" name="Shape 3"/>
          <p:cNvSpPr/>
          <p:nvPr/>
        </p:nvSpPr>
        <p:spPr>
          <a:xfrm>
            <a:off x="548640" y="1956816"/>
            <a:ext cx="5394960" cy="1956816"/>
          </a:xfrm>
          <a:prstGeom prst="roundRect">
            <a:avLst>
              <a:gd name="adj" fmla="val 2804"/>
            </a:avLst>
          </a:prstGeom>
          <a:solidFill>
            <a:srgbClr val="FBF3F3"/>
          </a:solidFill>
          <a:ln w="9525">
            <a:solidFill>
              <a:srgbClr val="DCE1E8"/>
            </a:solidFill>
            <a:prstDash val="solid"/>
          </a:ln>
        </p:spPr>
      </p:sp>
      <p:sp>
        <p:nvSpPr>
          <p:cNvPr id="6" name="Text 4"/>
          <p:cNvSpPr/>
          <p:nvPr/>
        </p:nvSpPr>
        <p:spPr>
          <a:xfrm>
            <a:off x="804672" y="2139696"/>
            <a:ext cx="4882896" cy="219456"/>
          </a:xfrm>
          <a:prstGeom prst="rect">
            <a:avLst/>
          </a:prstGeom>
          <a:noFill/>
          <a:ln/>
        </p:spPr>
        <p:txBody>
          <a:bodyPr wrap="square" lIns="0" tIns="0" rIns="0" bIns="0" rtlCol="0" anchor="ctr"/>
          <a:lstStyle/>
          <a:p>
            <a:pPr indent="0" marL="0">
              <a:buNone/>
            </a:pPr>
            <a:r>
              <a:rPr lang="en-US" sz="1050" b="1" spc="60" kern="0" dirty="0">
                <a:solidFill>
                  <a:srgbClr val="9B2226"/>
                </a:solidFill>
                <a:latin typeface="Calibri" pitchFamily="34" charset="0"/>
                <a:ea typeface="Calibri" pitchFamily="34" charset="-122"/>
                <a:cs typeface="Calibri" pitchFamily="34" charset="-120"/>
              </a:rPr>
              <a:t>THE FALSE BLOCK  ·  2026-07-16</a:t>
            </a:r>
            <a:endParaRPr lang="en-US" sz="1050" dirty="0"/>
          </a:p>
        </p:txBody>
      </p:sp>
      <p:sp>
        <p:nvSpPr>
          <p:cNvPr id="7" name="Text 5"/>
          <p:cNvSpPr/>
          <p:nvPr/>
        </p:nvSpPr>
        <p:spPr>
          <a:xfrm>
            <a:off x="804672" y="2432304"/>
            <a:ext cx="4882896" cy="1353312"/>
          </a:xfrm>
          <a:prstGeom prst="rect">
            <a:avLst/>
          </a:prstGeom>
          <a:noFill/>
          <a:ln/>
        </p:spPr>
        <p:txBody>
          <a:bodyPr wrap="square" lIns="0" tIns="0" rIns="0" bIns="0" rtlCol="0" anchor="t"/>
          <a:lstStyle/>
          <a:p>
            <a:pPr indent="0" marL="0">
              <a:lnSpc>
                <a:spcPts val="1500"/>
              </a:lnSpc>
              <a:buNone/>
            </a:pPr>
            <a:r>
              <a:rPr lang="en-US" sz="1000" dirty="0">
                <a:solidFill>
                  <a:srgbClr val="222831"/>
                </a:solidFill>
                <a:latin typeface="Calibri" pitchFamily="34" charset="0"/>
                <a:ea typeface="Calibri" pitchFamily="34" charset="-122"/>
                <a:cs typeface="Calibri" pitchFamily="34" charset="-120"/>
              </a:rPr>
              <a:t>The power calculation used the wrong reliability and charged for measurement error twice, inflating the agentic MDE to 0.1569 and blocking a contrast with Δ 0.1243, p = 0.0049 and a CI excluding zero. A gate that blocks a true positive leaves no trace: the reader sees a block reason where a number would have been and cannot tell a correct suppression from an arithmetic error.</a:t>
            </a:r>
            <a:endParaRPr lang="en-US" sz="1000" dirty="0"/>
          </a:p>
        </p:txBody>
      </p:sp>
      <p:sp>
        <p:nvSpPr>
          <p:cNvPr id="8" name="Shape 6"/>
          <p:cNvSpPr/>
          <p:nvPr/>
        </p:nvSpPr>
        <p:spPr>
          <a:xfrm>
            <a:off x="6245352" y="1956816"/>
            <a:ext cx="5394960" cy="1956816"/>
          </a:xfrm>
          <a:prstGeom prst="roundRect">
            <a:avLst>
              <a:gd name="adj" fmla="val 2804"/>
            </a:avLst>
          </a:prstGeom>
          <a:solidFill>
            <a:srgbClr val="FBF3F3"/>
          </a:solidFill>
          <a:ln w="9525">
            <a:solidFill>
              <a:srgbClr val="DCE1E8"/>
            </a:solidFill>
            <a:prstDash val="solid"/>
          </a:ln>
        </p:spPr>
      </p:sp>
      <p:sp>
        <p:nvSpPr>
          <p:cNvPr id="9" name="Text 7"/>
          <p:cNvSpPr/>
          <p:nvPr/>
        </p:nvSpPr>
        <p:spPr>
          <a:xfrm>
            <a:off x="6501384" y="2139696"/>
            <a:ext cx="4882896" cy="219456"/>
          </a:xfrm>
          <a:prstGeom prst="rect">
            <a:avLst/>
          </a:prstGeom>
          <a:noFill/>
          <a:ln/>
        </p:spPr>
        <p:txBody>
          <a:bodyPr wrap="square" lIns="0" tIns="0" rIns="0" bIns="0" rtlCol="0" anchor="ctr"/>
          <a:lstStyle/>
          <a:p>
            <a:pPr indent="0" marL="0">
              <a:buNone/>
            </a:pPr>
            <a:r>
              <a:rPr lang="en-US" sz="1050" b="1" spc="60" kern="0" dirty="0">
                <a:solidFill>
                  <a:srgbClr val="9B2226"/>
                </a:solidFill>
                <a:latin typeface="Calibri" pitchFamily="34" charset="0"/>
                <a:ea typeface="Calibri" pitchFamily="34" charset="-122"/>
                <a:cs typeface="Calibri" pitchFamily="34" charset="-120"/>
              </a:rPr>
              <a:t>THE AUDIT COINCIDENCE  ·  2026-08-05</a:t>
            </a:r>
            <a:endParaRPr lang="en-US" sz="1050" dirty="0"/>
          </a:p>
        </p:txBody>
      </p:sp>
      <p:sp>
        <p:nvSpPr>
          <p:cNvPr id="10" name="Text 8"/>
          <p:cNvSpPr/>
          <p:nvPr/>
        </p:nvSpPr>
        <p:spPr>
          <a:xfrm>
            <a:off x="6501384" y="2432304"/>
            <a:ext cx="4882896" cy="1353312"/>
          </a:xfrm>
          <a:prstGeom prst="rect">
            <a:avLst/>
          </a:prstGeom>
          <a:noFill/>
          <a:ln/>
        </p:spPr>
        <p:txBody>
          <a:bodyPr wrap="square" lIns="0" tIns="0" rIns="0" bIns="0" rtlCol="0" anchor="t"/>
          <a:lstStyle/>
          <a:p>
            <a:pPr indent="0" marL="0">
              <a:lnSpc>
                <a:spcPts val="1500"/>
              </a:lnSpc>
              <a:buNone/>
            </a:pPr>
            <a:r>
              <a:rPr lang="en-US" sz="1000" dirty="0">
                <a:solidFill>
                  <a:srgbClr val="222831"/>
                </a:solidFill>
                <a:latin typeface="Calibri" pitchFamily="34" charset="0"/>
                <a:ea typeface="Calibri" pitchFamily="34" charset="-122"/>
                <a:cs typeface="Calibri" pitchFamily="34" charset="-120"/>
              </a:rPr>
              <a:t>make audit is set membership, not provenance, and it also admits each value's halved and percentage forms. A stale n_eff = 28.0 at a 42% loss passed because 28.0 is half of grounding's 56 adjudicated responses and 42 is half of A6-untrained's 84 gold comparisons. Caught by reading, not by the check that exists to make reading unnecessary.</a:t>
            </a:r>
            <a:endParaRPr lang="en-US" sz="1000" dirty="0"/>
          </a:p>
        </p:txBody>
      </p:sp>
      <p:sp>
        <p:nvSpPr>
          <p:cNvPr id="11" name="Shape 9"/>
          <p:cNvSpPr/>
          <p:nvPr/>
        </p:nvSpPr>
        <p:spPr>
          <a:xfrm>
            <a:off x="548640" y="4187952"/>
            <a:ext cx="5394960" cy="1444752"/>
          </a:xfrm>
          <a:prstGeom prst="roundRect">
            <a:avLst>
              <a:gd name="adj" fmla="val 3797"/>
            </a:avLst>
          </a:prstGeom>
          <a:solidFill>
            <a:srgbClr val="F3F5F8"/>
          </a:solidFill>
          <a:ln w="9525">
            <a:solidFill>
              <a:srgbClr val="DCE1E8"/>
            </a:solidFill>
            <a:prstDash val="solid"/>
          </a:ln>
        </p:spPr>
      </p:sp>
      <p:sp>
        <p:nvSpPr>
          <p:cNvPr id="12" name="Text 10"/>
          <p:cNvSpPr/>
          <p:nvPr/>
        </p:nvSpPr>
        <p:spPr>
          <a:xfrm>
            <a:off x="804672" y="4352544"/>
            <a:ext cx="4882896" cy="219456"/>
          </a:xfrm>
          <a:prstGeom prst="rect">
            <a:avLst/>
          </a:prstGeom>
          <a:noFill/>
          <a:ln/>
        </p:spPr>
        <p:txBody>
          <a:bodyPr wrap="square" lIns="0" tIns="0" rIns="0" bIns="0" rtlCol="0" anchor="ctr"/>
          <a:lstStyle/>
          <a:p>
            <a:pPr indent="0" marL="0">
              <a:buNone/>
            </a:pPr>
            <a:r>
              <a:rPr lang="en-US" sz="1050" b="1" spc="60" kern="0" dirty="0">
                <a:solidFill>
                  <a:srgbClr val="1E3A5F"/>
                </a:solidFill>
                <a:latin typeface="Calibri" pitchFamily="34" charset="0"/>
                <a:ea typeface="Calibri" pitchFamily="34" charset="-122"/>
                <a:cs typeface="Calibri" pitchFamily="34" charset="-120"/>
              </a:rPr>
              <a:t>Round-robin dealing over a list sorted by difficulty</a:t>
            </a:r>
            <a:endParaRPr lang="en-US" sz="1050" dirty="0"/>
          </a:p>
        </p:txBody>
      </p:sp>
      <p:sp>
        <p:nvSpPr>
          <p:cNvPr id="13" name="Text 11"/>
          <p:cNvSpPr/>
          <p:nvPr/>
        </p:nvSpPr>
        <p:spPr>
          <a:xfrm>
            <a:off x="804672" y="4626864"/>
            <a:ext cx="4882896" cy="950976"/>
          </a:xfrm>
          <a:prstGeom prst="rect">
            <a:avLst/>
          </a:prstGeom>
          <a:noFill/>
          <a:ln/>
        </p:spPr>
        <p:txBody>
          <a:bodyPr wrap="square" lIns="0" tIns="0" rIns="0" bIns="0" rtlCol="0" anchor="t"/>
          <a:lstStyle/>
          <a:p>
            <a:pPr indent="0" marL="0">
              <a:lnSpc>
                <a:spcPts val="1500"/>
              </a:lnSpc>
              <a:buNone/>
            </a:pPr>
            <a:r>
              <a:rPr lang="en-US" sz="1000" dirty="0">
                <a:solidFill>
                  <a:srgbClr val="222831"/>
                </a:solidFill>
                <a:latin typeface="Calibri" pitchFamily="34" charset="0"/>
                <a:ea typeface="Calibri" pitchFamily="34" charset="-122"/>
                <a:cs typeface="Calibri" pitchFamily="34" charset="-120"/>
              </a:rPr>
              <a:t>Round-robin does not equalise, it guarantees a gradient: batch j receives ranks j, j+B, j+2B, each exactly j positions harder. The drift detector faithfully reported my own assignment scheme. Fixed with serpentine dealing, per system.</a:t>
            </a:r>
            <a:endParaRPr lang="en-US" sz="1000" dirty="0"/>
          </a:p>
        </p:txBody>
      </p:sp>
      <p:sp>
        <p:nvSpPr>
          <p:cNvPr id="14" name="Shape 12"/>
          <p:cNvSpPr/>
          <p:nvPr/>
        </p:nvSpPr>
        <p:spPr>
          <a:xfrm>
            <a:off x="6245352" y="4187952"/>
            <a:ext cx="5394960" cy="1444752"/>
          </a:xfrm>
          <a:prstGeom prst="roundRect">
            <a:avLst>
              <a:gd name="adj" fmla="val 3797"/>
            </a:avLst>
          </a:prstGeom>
          <a:solidFill>
            <a:srgbClr val="F3F5F8"/>
          </a:solidFill>
          <a:ln w="9525">
            <a:solidFill>
              <a:srgbClr val="DCE1E8"/>
            </a:solidFill>
            <a:prstDash val="solid"/>
          </a:ln>
        </p:spPr>
      </p:sp>
      <p:sp>
        <p:nvSpPr>
          <p:cNvPr id="15" name="Text 13"/>
          <p:cNvSpPr/>
          <p:nvPr/>
        </p:nvSpPr>
        <p:spPr>
          <a:xfrm>
            <a:off x="6501384" y="4352544"/>
            <a:ext cx="4882896" cy="219456"/>
          </a:xfrm>
          <a:prstGeom prst="rect">
            <a:avLst/>
          </a:prstGeom>
          <a:noFill/>
          <a:ln/>
        </p:spPr>
        <p:txBody>
          <a:bodyPr wrap="square" lIns="0" tIns="0" rIns="0" bIns="0" rtlCol="0" anchor="ctr"/>
          <a:lstStyle/>
          <a:p>
            <a:pPr indent="0" marL="0">
              <a:buNone/>
            </a:pPr>
            <a:r>
              <a:rPr lang="en-US" sz="1050" b="1" spc="60" kern="0" dirty="0">
                <a:solidFill>
                  <a:srgbClr val="1E3A5F"/>
                </a:solidFill>
                <a:latin typeface="Calibri" pitchFamily="34" charset="0"/>
                <a:ea typeface="Calibri" pitchFamily="34" charset="-122"/>
                <a:cs typeface="Calibri" pitchFamily="34" charset="-120"/>
              </a:rPr>
              <a:t>A drift threshold with no null model</a:t>
            </a:r>
            <a:endParaRPr lang="en-US" sz="1050" dirty="0"/>
          </a:p>
        </p:txBody>
      </p:sp>
      <p:sp>
        <p:nvSpPr>
          <p:cNvPr id="16" name="Text 14"/>
          <p:cNvSpPr/>
          <p:nvPr/>
        </p:nvSpPr>
        <p:spPr>
          <a:xfrm>
            <a:off x="6501384" y="4626864"/>
            <a:ext cx="4882896" cy="950976"/>
          </a:xfrm>
          <a:prstGeom prst="rect">
            <a:avLst/>
          </a:prstGeom>
          <a:noFill/>
          <a:ln/>
        </p:spPr>
        <p:txBody>
          <a:bodyPr wrap="square" lIns="0" tIns="0" rIns="0" bIns="0" rtlCol="0" anchor="t"/>
          <a:lstStyle/>
          <a:p>
            <a:pPr indent="0" marL="0">
              <a:lnSpc>
                <a:spcPts val="1500"/>
              </a:lnSpc>
              <a:buNone/>
            </a:pPr>
            <a:r>
              <a:rPr lang="en-US" sz="1000" dirty="0">
                <a:solidFill>
                  <a:srgbClr val="222831"/>
                </a:solidFill>
                <a:latin typeface="Calibri" pitchFamily="34" charset="0"/>
                <a:ea typeface="Calibri" pitchFamily="34" charset="-122"/>
                <a:cs typeface="Calibri" pitchFamily="34" charset="-120"/>
              </a:rPr>
              <a:t>At ~86 observations per batch the expected range of five batch means under no drift is already ~0.19, against a fixed 0.25 cut. Replaced with a 2,000-permutation test requiring p &lt; 0.05 and range ≥ 0.20. grounding sits at 0.2806, p = 0.068 — correctly not drift.</a:t>
            </a:r>
            <a:endParaRPr lang="en-US" sz="1000" dirty="0"/>
          </a:p>
        </p:txBody>
      </p:sp>
      <p:sp>
        <p:nvSpPr>
          <p:cNvPr id="17" name="Text 15"/>
          <p:cNvSpPr/>
          <p:nvPr/>
        </p:nvSpPr>
        <p:spPr>
          <a:xfrm>
            <a:off x="548640" y="5870448"/>
            <a:ext cx="11094415" cy="256032"/>
          </a:xfrm>
          <a:prstGeom prst="rect">
            <a:avLst/>
          </a:prstGeom>
          <a:noFill/>
          <a:ln/>
        </p:spPr>
        <p:txBody>
          <a:bodyPr wrap="square" lIns="0" tIns="0" rIns="0" bIns="0" rtlCol="0" anchor="ctr"/>
          <a:lstStyle/>
          <a:p>
            <a:pPr indent="0" marL="0">
              <a:buNone/>
            </a:pPr>
            <a:r>
              <a:rPr lang="en-US" sz="1050" i="1" dirty="0">
                <a:solidFill>
                  <a:srgbClr val="6E7889"/>
                </a:solidFill>
                <a:latin typeface="Calibri" pitchFamily="34" charset="0"/>
                <a:ea typeface="Calibri" pitchFamily="34" charset="-122"/>
                <a:cs typeface="Calibri" pitchFamily="34" charset="-120"/>
              </a:rPr>
              <a:t>Four-out-of-four firing is a bug report about the check, not a finding. The position-bias probe fires on one track now, which is what a working probe looks like.</a:t>
            </a:r>
            <a:endParaRPr lang="en-US" sz="1050" dirty="0"/>
          </a:p>
        </p:txBody>
      </p:sp>
      <p:sp>
        <p:nvSpPr>
          <p:cNvPr id="18" name="Text 16"/>
          <p:cNvSpPr/>
          <p:nvPr/>
        </p:nvSpPr>
        <p:spPr>
          <a:xfrm>
            <a:off x="548640" y="6336792"/>
            <a:ext cx="9966960" cy="219456"/>
          </a:xfrm>
          <a:prstGeom prst="rect">
            <a:avLst/>
          </a:prstGeom>
          <a:noFill/>
          <a:ln/>
        </p:spPr>
        <p:txBody>
          <a:bodyPr wrap="square" lIns="0" tIns="0" rIns="0" bIns="0" rtlCol="0" anchor="ctr"/>
          <a:lstStyle/>
          <a:p>
            <a:pPr algn="l" indent="0" marL="0">
              <a:buNone/>
            </a:pPr>
            <a:r>
              <a:rPr lang="en-US" sz="800" dirty="0">
                <a:solidFill>
                  <a:srgbClr val="6E7889"/>
                </a:solidFill>
                <a:latin typeface="Calibri" pitchFamily="34" charset="0"/>
                <a:ea typeface="Calibri" pitchFamily="34" charset="-122"/>
                <a:cs typeface="Calibri" pitchFamily="34" charset="-120"/>
              </a:rPr>
              <a:t>docs/engineering-log.md  ·  current-run figures from results/portfolio.json  md5 299bd4f19e03caa2cd7e33681340c294  ·  the 0.1569 and n_eff = 28.0 figures are superseded and recorded only in the log</a:t>
            </a:r>
            <a:endParaRPr lang="en-US" sz="800" dirty="0"/>
          </a:p>
        </p:txBody>
      </p:sp>
      <p:sp>
        <p:nvSpPr>
          <p:cNvPr id="19" name="Text 17"/>
          <p:cNvSpPr/>
          <p:nvPr/>
        </p:nvSpPr>
        <p:spPr>
          <a:xfrm>
            <a:off x="10927080" y="6336792"/>
            <a:ext cx="713232" cy="219456"/>
          </a:xfrm>
          <a:prstGeom prst="rect">
            <a:avLst/>
          </a:prstGeom>
          <a:noFill/>
          <a:ln/>
        </p:spPr>
        <p:txBody>
          <a:bodyPr wrap="square" lIns="0" tIns="0" rIns="0" bIns="0" rtlCol="0" anchor="ctr"/>
          <a:lstStyle/>
          <a:p>
            <a:pPr algn="r" indent="0" marL="0">
              <a:buNone/>
            </a:pPr>
            <a:r>
              <a:rPr lang="en-US" sz="800" dirty="0">
                <a:solidFill>
                  <a:srgbClr val="6E7889"/>
                </a:solidFill>
                <a:latin typeface="Calibri" pitchFamily="34" charset="0"/>
                <a:ea typeface="Calibri" pitchFamily="34" charset="-122"/>
                <a:cs typeface="Calibri" pitchFamily="34" charset="-120"/>
              </a:rPr>
              <a:t>14</a:t>
            </a:r>
            <a:endParaRPr lang="en-US" sz="8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nvSpPr>
        <p:spPr>
          <a:xfrm>
            <a:off x="548640" y="292608"/>
            <a:ext cx="11094415" cy="201168"/>
          </a:xfrm>
          <a:prstGeom prst="rect">
            <a:avLst/>
          </a:prstGeom>
          <a:noFill/>
          <a:ln/>
        </p:spPr>
        <p:txBody>
          <a:bodyPr wrap="square" lIns="0" tIns="0" rIns="0" bIns="0" rtlCol="0" anchor="ctr"/>
          <a:lstStyle/>
          <a:p>
            <a:pPr indent="0" marL="0">
              <a:buNone/>
            </a:pPr>
            <a:r>
              <a:rPr lang="en-US" sz="950" b="1" spc="160" kern="0" dirty="0">
                <a:solidFill>
                  <a:srgbClr val="6E7889"/>
                </a:solidFill>
                <a:latin typeface="Calibri" pitchFamily="34" charset="0"/>
                <a:ea typeface="Calibri" pitchFamily="34" charset="-122"/>
                <a:cs typeface="Calibri" pitchFamily="34" charset="-120"/>
              </a:rPr>
              <a:t>15  ·  WHAT I WOULD DO WITH A REAL BUDGET</a:t>
            </a:r>
            <a:endParaRPr lang="en-US" sz="950" dirty="0"/>
          </a:p>
        </p:txBody>
      </p:sp>
      <p:sp>
        <p:nvSpPr>
          <p:cNvPr id="3" name="Text 1"/>
          <p:cNvSpPr/>
          <p:nvPr/>
        </p:nvSpPr>
        <p:spPr>
          <a:xfrm>
            <a:off x="548640" y="530352"/>
            <a:ext cx="11094415" cy="786384"/>
          </a:xfrm>
          <a:prstGeom prst="rect">
            <a:avLst/>
          </a:prstGeom>
          <a:noFill/>
          <a:ln/>
        </p:spPr>
        <p:txBody>
          <a:bodyPr wrap="square" lIns="0" tIns="0" rIns="0" bIns="0" rtlCol="0" anchor="t"/>
          <a:lstStyle/>
          <a:p>
            <a:pPr indent="0" marL="0">
              <a:lnSpc>
                <a:spcPts val="3200"/>
              </a:lnSpc>
              <a:buNone/>
            </a:pPr>
            <a:r>
              <a:rPr lang="en-US" sz="2600" b="1" dirty="0">
                <a:solidFill>
                  <a:srgbClr val="1E3A5F"/>
                </a:solidFill>
                <a:latin typeface="Cambria" pitchFamily="34" charset="0"/>
                <a:ea typeface="Cambria" pitchFamily="34" charset="-122"/>
                <a:cs typeface="Cambria" pitchFamily="34" charset="-120"/>
              </a:rPr>
              <a:t>The next $204 buys more than the next $949 — and the cheapest step costs nothing</a:t>
            </a:r>
            <a:endParaRPr lang="en-US" sz="2600" dirty="0"/>
          </a:p>
        </p:txBody>
      </p:sp>
      <p:sp>
        <p:nvSpPr>
          <p:cNvPr id="4" name="Text 2"/>
          <p:cNvSpPr/>
          <p:nvPr/>
        </p:nvSpPr>
        <p:spPr>
          <a:xfrm>
            <a:off x="548640" y="1371600"/>
            <a:ext cx="11094415" cy="402336"/>
          </a:xfrm>
          <a:prstGeom prst="rect">
            <a:avLst/>
          </a:prstGeom>
          <a:noFill/>
          <a:ln/>
        </p:spPr>
        <p:txBody>
          <a:bodyPr wrap="square" lIns="0" tIns="0" rIns="0" bIns="0" rtlCol="0" anchor="t"/>
          <a:lstStyle/>
          <a:p>
            <a:pPr indent="0" marL="0">
              <a:lnSpc>
                <a:spcPts val="1600"/>
              </a:lnSpc>
              <a:buNone/>
            </a:pPr>
            <a:r>
              <a:rPr lang="en-US" sz="1200" dirty="0">
                <a:solidFill>
                  <a:srgbClr val="6E7889"/>
                </a:solidFill>
                <a:latin typeface="Calibri" pitchFamily="34" charset="0"/>
                <a:ea typeface="Calibri" pitchFamily="34" charset="-122"/>
                <a:cs typeface="Calibri" pitchFamily="34" charset="-120"/>
              </a:rPr>
              <a:t>Labels are priced at $0.85 each: the unit_label_cost_usd default in gates/decision.py. That is an ASSUMPTION, not a measured rate — a loaded rate is plausibly several times higher. Every figure scales linearly; the ordering does not.</a:t>
            </a:r>
            <a:endParaRPr lang="en-US" sz="1200" dirty="0"/>
          </a:p>
        </p:txBody>
      </p:sp>
      <p:graphicFrame>
        <p:nvGraphicFramePr>
          <p:cNvPr id="16" name="Table 0"/>
          <p:cNvGraphicFramePr>
            <a:graphicFrameLocks noGrp="1"/>
          </p:cNvGraphicFramePr>
          <p:nvPr>
            <p:extLst>
              <p:ext uri="{D42A27DB-BD31-4B8C-83A1-F6EECF244321}">
                <p14:modId xmlns:p14="http://schemas.microsoft.com/office/powerpoint/2010/main" val="1579011935"/>
              </p:ext>
            </p:extLst>
          </p:nvPr>
        </p:nvGraphicFramePr>
        <p:xfrm>
          <a:off x="548640" y="2176272"/>
          <a:ext cx="9144000" cy="914400"/>
        </p:xfrm>
        <a:graphic>
          <a:graphicData uri="http://schemas.openxmlformats.org/drawingml/2006/table">
            <a:tbl>
              <a:tblPr/>
              <a:tblGrid>
                <a:gridCol w="548640"/>
                <a:gridCol w="1600200"/>
                <a:gridCol w="5394960"/>
                <a:gridCol w="1874520"/>
                <a:gridCol w="1676095"/>
              </a:tblGrid>
              <a:tr h="301752">
                <a:tc>
                  <a:txBody>
                    <a:bodyPr/>
                    <a:lstStyle/>
                    <a:p>
                      <a:pPr algn="l" indent="0" marL="0">
                        <a:buNone/>
                      </a:pPr>
                      <a:r>
                        <a:rPr lang="en-US" sz="950" b="1" dirty="0">
                          <a:solidFill>
                            <a:srgbClr val="FFFFFF"/>
                          </a:solidFill>
                          <a:latin typeface="Calibri" pitchFamily="34" charset="0"/>
                          <a:ea typeface="Calibri" pitchFamily="34" charset="-122"/>
                          <a:cs typeface="Calibri" pitchFamily="34" charset="-120"/>
                        </a:rPr>
                        <a:t>Step</a:t>
                      </a:r>
                      <a:endParaRPr lang="en-US" sz="950" dirty="0">
                        <a:latin typeface="Calibri" charset="0"/>
                        <a:ea typeface="Calibri" charset="0"/>
                        <a:cs typeface="Calibri" charset="0"/>
                      </a:endParaRPr>
                    </a:p>
                  </a:txBody>
                  <a:tcPr marL="76200" marR="76200" marT="25400" marB="25400" anchor="ctr">
                    <a:lnL w="0" cap="flat" cmpd="sng" algn="ctr">
                      <a:noFill/>
                    </a:lnL>
                    <a:lnR w="0" cap="flat" cmpd="sng" algn="ctr">
                      <a:noFill/>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1E3A5F"/>
                    </a:solidFill>
                  </a:tcPr>
                </a:tc>
                <a:tc>
                  <a:txBody>
                    <a:bodyPr/>
                    <a:lstStyle/>
                    <a:p>
                      <a:pPr algn="ctr" indent="0" marL="0">
                        <a:buNone/>
                      </a:pPr>
                      <a:r>
                        <a:rPr lang="en-US" sz="950" b="1" dirty="0">
                          <a:solidFill>
                            <a:srgbClr val="FFFFFF"/>
                          </a:solidFill>
                          <a:latin typeface="Calibri" pitchFamily="34" charset="0"/>
                          <a:ea typeface="Calibri" pitchFamily="34" charset="-122"/>
                          <a:cs typeface="Calibri" pitchFamily="34" charset="-120"/>
                        </a:rPr>
                        <a:t>Track</a:t>
                      </a:r>
                      <a:endParaRPr lang="en-US" sz="950" dirty="0">
                        <a:latin typeface="Calibri" charset="0"/>
                        <a:ea typeface="Calibri" charset="0"/>
                        <a:cs typeface="Calibri" charset="0"/>
                      </a:endParaRPr>
                    </a:p>
                  </a:txBody>
                  <a:tcPr marL="76200" marR="76200" marT="25400" marB="25400" anchor="ctr">
                    <a:lnL w="0" cap="flat" cmpd="sng" algn="ctr">
                      <a:noFill/>
                    </a:lnL>
                    <a:lnR w="0" cap="flat" cmpd="sng" algn="ctr">
                      <a:noFill/>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1E3A5F"/>
                    </a:solidFill>
                  </a:tcPr>
                </a:tc>
                <a:tc>
                  <a:txBody>
                    <a:bodyPr/>
                    <a:lstStyle/>
                    <a:p>
                      <a:pPr algn="ctr" indent="0" marL="0">
                        <a:buNone/>
                      </a:pPr>
                      <a:r>
                        <a:rPr lang="en-US" sz="950" b="1" dirty="0">
                          <a:solidFill>
                            <a:srgbClr val="FFFFFF"/>
                          </a:solidFill>
                          <a:latin typeface="Calibri" pitchFamily="34" charset="0"/>
                          <a:ea typeface="Calibri" pitchFamily="34" charset="-122"/>
                          <a:cs typeface="Calibri" pitchFamily="34" charset="-120"/>
                        </a:rPr>
                        <a:t>Action</a:t>
                      </a:r>
                      <a:endParaRPr lang="en-US" sz="950" dirty="0">
                        <a:latin typeface="Calibri" charset="0"/>
                        <a:ea typeface="Calibri" charset="0"/>
                        <a:cs typeface="Calibri" charset="0"/>
                      </a:endParaRPr>
                    </a:p>
                  </a:txBody>
                  <a:tcPr marL="76200" marR="76200" marT="25400" marB="25400" anchor="ctr">
                    <a:lnL w="0" cap="flat" cmpd="sng" algn="ctr">
                      <a:noFill/>
                    </a:lnL>
                    <a:lnR w="0" cap="flat" cmpd="sng" algn="ctr">
                      <a:noFill/>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1E3A5F"/>
                    </a:solidFill>
                  </a:tcPr>
                </a:tc>
                <a:tc>
                  <a:txBody>
                    <a:bodyPr/>
                    <a:lstStyle/>
                    <a:p>
                      <a:pPr algn="ctr" indent="0" marL="0">
                        <a:buNone/>
                      </a:pPr>
                      <a:r>
                        <a:rPr lang="en-US" sz="950" b="1" dirty="0">
                          <a:solidFill>
                            <a:srgbClr val="FFFFFF"/>
                          </a:solidFill>
                          <a:latin typeface="Calibri" pitchFamily="34" charset="0"/>
                          <a:ea typeface="Calibri" pitchFamily="34" charset="-122"/>
                          <a:cs typeface="Calibri" pitchFamily="34" charset="-120"/>
                        </a:rPr>
                        <a:t>Basis</a:t>
                      </a:r>
                      <a:endParaRPr lang="en-US" sz="950" dirty="0">
                        <a:latin typeface="Calibri" charset="0"/>
                        <a:ea typeface="Calibri" charset="0"/>
                        <a:cs typeface="Calibri" charset="0"/>
                      </a:endParaRPr>
                    </a:p>
                  </a:txBody>
                  <a:tcPr marL="76200" marR="76200" marT="25400" marB="25400" anchor="ctr">
                    <a:lnL w="0" cap="flat" cmpd="sng" algn="ctr">
                      <a:noFill/>
                    </a:lnL>
                    <a:lnR w="0" cap="flat" cmpd="sng" algn="ctr">
                      <a:noFill/>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1E3A5F"/>
                    </a:solidFill>
                  </a:tcPr>
                </a:tc>
                <a:tc>
                  <a:txBody>
                    <a:bodyPr/>
                    <a:lstStyle/>
                    <a:p>
                      <a:pPr algn="ctr" indent="0" marL="0">
                        <a:buNone/>
                      </a:pPr>
                      <a:r>
                        <a:rPr lang="en-US" sz="950" b="1" dirty="0">
                          <a:solidFill>
                            <a:srgbClr val="FFFFFF"/>
                          </a:solidFill>
                          <a:latin typeface="Calibri" pitchFamily="34" charset="0"/>
                          <a:ea typeface="Calibri" pitchFamily="34" charset="-122"/>
                          <a:cs typeface="Calibri" pitchFamily="34" charset="-120"/>
                        </a:rPr>
                        <a:t>Cost</a:t>
                      </a:r>
                      <a:endParaRPr lang="en-US" sz="950" dirty="0">
                        <a:latin typeface="Calibri" charset="0"/>
                        <a:ea typeface="Calibri" charset="0"/>
                        <a:cs typeface="Calibri" charset="0"/>
                      </a:endParaRPr>
                    </a:p>
                  </a:txBody>
                  <a:tcPr marL="76200" marR="76200" marT="25400" marB="25400" anchor="ctr">
                    <a:lnL w="0" cap="flat" cmpd="sng" algn="ctr">
                      <a:noFill/>
                    </a:lnL>
                    <a:lnR w="0" cap="flat" cmpd="sng" algn="ctr">
                      <a:noFill/>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1E3A5F"/>
                    </a:solidFill>
                  </a:tcPr>
                </a:tc>
              </a:tr>
              <a:tr h="301752">
                <a:tc>
                  <a:txBody>
                    <a:bodyPr/>
                    <a:lstStyle/>
                    <a:p>
                      <a:pPr algn="ctr" indent="0" marL="0">
                        <a:buNone/>
                      </a:pPr>
                      <a:r>
                        <a:rPr lang="en-US" sz="950" b="1" dirty="0">
                          <a:solidFill>
                            <a:srgbClr val="222831"/>
                          </a:solidFill>
                          <a:latin typeface="Calibri" pitchFamily="34" charset="0"/>
                          <a:ea typeface="Calibri" pitchFamily="34" charset="-122"/>
                          <a:cs typeface="Calibri" pitchFamily="34" charset="-120"/>
                        </a:rPr>
                        <a:t>0</a:t>
                      </a:r>
                      <a:endParaRPr lang="en-US" sz="950" dirty="0">
                        <a:latin typeface="Calibri" charset="0"/>
                        <a:ea typeface="Calibri" charset="0"/>
                        <a:cs typeface="Calibri" charset="0"/>
                      </a:endParaRPr>
                    </a:p>
                  </a:txBody>
                  <a:tcPr marL="76200" marR="76200" marT="25400" marB="25400" anchor="ctr">
                    <a:lnL w="0" cap="flat" cmpd="sng" algn="ctr">
                      <a:noFill/>
                    </a:lnL>
                    <a:lnR w="0" cap="flat" cmpd="sng" algn="ctr">
                      <a:noFill/>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tcPr>
                </a:tc>
                <a:tc>
                  <a:txBody>
                    <a:bodyPr/>
                    <a:lstStyle/>
                    <a:p>
                      <a:pPr algn="l" indent="0" marL="0">
                        <a:buNone/>
                      </a:pPr>
                      <a:r>
                        <a:rPr lang="en-US" sz="900" dirty="0">
                          <a:solidFill>
                            <a:srgbClr val="222831"/>
                          </a:solidFill>
                          <a:latin typeface="Courier New" pitchFamily="34" charset="0"/>
                          <a:ea typeface="Courier New" pitchFamily="34" charset="-122"/>
                          <a:cs typeface="Courier New" pitchFamily="34" charset="-120"/>
                        </a:rPr>
                        <a:t>reasoning, grounding</a:t>
                      </a:r>
                      <a:endParaRPr lang="en-US" sz="900" dirty="0">
                        <a:latin typeface="Courier New" charset="0"/>
                        <a:ea typeface="Courier New" charset="0"/>
                        <a:cs typeface="Courier New" charset="0"/>
                      </a:endParaRPr>
                    </a:p>
                  </a:txBody>
                  <a:tcPr marL="76200" marR="76200" marT="25400" marB="25400" anchor="ctr">
                    <a:lnL w="0" cap="flat" cmpd="sng" algn="ctr">
                      <a:noFill/>
                    </a:lnL>
                    <a:lnR w="0" cap="flat" cmpd="sng" algn="ctr">
                      <a:noFill/>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tcPr>
                </a:tc>
                <a:tc>
                  <a:txBody>
                    <a:bodyPr/>
                    <a:lstStyle/>
                    <a:p>
                      <a:pPr algn="l" indent="0" marL="0">
                        <a:buNone/>
                      </a:pPr>
                      <a:r>
                        <a:rPr lang="en-US" sz="950" dirty="0">
                          <a:solidFill>
                            <a:srgbClr val="222831"/>
                          </a:solidFill>
                          <a:latin typeface="Calibri" pitchFamily="34" charset="0"/>
                          <a:ea typeface="Calibri" pitchFamily="34" charset="-122"/>
                          <a:cs typeface="Calibri" pitchFamily="34" charset="-120"/>
                        </a:rPr>
                        <a:t>Drop the two failing dimensions from their composites and re-report — raises ρ, shrinks the MDE</a:t>
                      </a:r>
                      <a:endParaRPr lang="en-US" sz="950" dirty="0">
                        <a:latin typeface="Calibri" charset="0"/>
                        <a:ea typeface="Calibri" charset="0"/>
                        <a:cs typeface="Calibri" charset="0"/>
                      </a:endParaRPr>
                    </a:p>
                  </a:txBody>
                  <a:tcPr marL="76200" marR="76200" marT="25400" marB="25400" anchor="ctr">
                    <a:lnL w="0" cap="flat" cmpd="sng" algn="ctr">
                      <a:noFill/>
                    </a:lnL>
                    <a:lnR w="0" cap="flat" cmpd="sng" algn="ctr">
                      <a:noFill/>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tcPr>
                </a:tc>
                <a:tc>
                  <a:txBody>
                    <a:bodyPr/>
                    <a:lstStyle/>
                    <a:p>
                      <a:pPr algn="ctr" indent="0" marL="0">
                        <a:buNone/>
                      </a:pPr>
                      <a:r>
                        <a:rPr lang="en-US" sz="950" dirty="0">
                          <a:solidFill>
                            <a:srgbClr val="6E7889"/>
                          </a:solidFill>
                          <a:latin typeface="Calibri" pitchFamily="34" charset="0"/>
                          <a:ea typeface="Calibri" pitchFamily="34" charset="-122"/>
                          <a:cs typeface="Calibri" pitchFamily="34" charset="-120"/>
                        </a:rPr>
                        <a:t>free</a:t>
                      </a:r>
                      <a:endParaRPr lang="en-US" sz="950" dirty="0">
                        <a:latin typeface="Calibri" charset="0"/>
                        <a:ea typeface="Calibri" charset="0"/>
                        <a:cs typeface="Calibri" charset="0"/>
                      </a:endParaRPr>
                    </a:p>
                  </a:txBody>
                  <a:tcPr marL="76200" marR="76200" marT="25400" marB="25400" anchor="ctr">
                    <a:lnL w="0" cap="flat" cmpd="sng" algn="ctr">
                      <a:noFill/>
                    </a:lnL>
                    <a:lnR w="0" cap="flat" cmpd="sng" algn="ctr">
                      <a:noFill/>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tcPr>
                </a:tc>
                <a:tc>
                  <a:txBody>
                    <a:bodyPr/>
                    <a:lstStyle/>
                    <a:p>
                      <a:pPr algn="ctr" indent="0" marL="0">
                        <a:buNone/>
                      </a:pPr>
                      <a:r>
                        <a:rPr lang="en-US" sz="950" b="1" dirty="0">
                          <a:solidFill>
                            <a:srgbClr val="2C6E49"/>
                          </a:solidFill>
                          <a:latin typeface="Calibri" pitchFamily="34" charset="0"/>
                          <a:ea typeface="Calibri" pitchFamily="34" charset="-122"/>
                          <a:cs typeface="Calibri" pitchFamily="34" charset="-120"/>
                        </a:rPr>
                        <a:t>$0</a:t>
                      </a:r>
                      <a:endParaRPr lang="en-US" sz="950" dirty="0">
                        <a:latin typeface="Calibri" charset="0"/>
                        <a:ea typeface="Calibri" charset="0"/>
                        <a:cs typeface="Calibri" charset="0"/>
                      </a:endParaRPr>
                    </a:p>
                  </a:txBody>
                  <a:tcPr marL="76200" marR="76200" marT="25400" marB="25400" anchor="ctr">
                    <a:lnL w="0" cap="flat" cmpd="sng" algn="ctr">
                      <a:noFill/>
                    </a:lnL>
                    <a:lnR w="0" cap="flat" cmpd="sng" algn="ctr">
                      <a:noFill/>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tcPr>
                </a:tc>
              </a:tr>
              <a:tr h="301752">
                <a:tc>
                  <a:txBody>
                    <a:bodyPr/>
                    <a:lstStyle/>
                    <a:p>
                      <a:pPr algn="ctr" indent="0" marL="0">
                        <a:buNone/>
                      </a:pPr>
                      <a:r>
                        <a:rPr lang="en-US" sz="950" b="1" dirty="0">
                          <a:solidFill>
                            <a:srgbClr val="222831"/>
                          </a:solidFill>
                          <a:latin typeface="Calibri" pitchFamily="34" charset="0"/>
                          <a:ea typeface="Calibri" pitchFamily="34" charset="-122"/>
                          <a:cs typeface="Calibri" pitchFamily="34" charset="-120"/>
                        </a:rPr>
                        <a:t>1</a:t>
                      </a:r>
                      <a:endParaRPr lang="en-US" sz="950" dirty="0">
                        <a:latin typeface="Calibri" charset="0"/>
                        <a:ea typeface="Calibri" charset="0"/>
                        <a:cs typeface="Calibri" charset="0"/>
                      </a:endParaRPr>
                    </a:p>
                  </a:txBody>
                  <a:tcPr marL="76200" marR="76200" marT="25400" marB="25400" anchor="ctr">
                    <a:lnL w="0" cap="flat" cmpd="sng" algn="ctr">
                      <a:noFill/>
                    </a:lnL>
                    <a:lnR w="0" cap="flat" cmpd="sng" algn="ctr">
                      <a:noFill/>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tcPr>
                </a:tc>
                <a:tc>
                  <a:txBody>
                    <a:bodyPr/>
                    <a:lstStyle/>
                    <a:p>
                      <a:pPr algn="l" indent="0" marL="0">
                        <a:buNone/>
                      </a:pPr>
                      <a:r>
                        <a:rPr lang="en-US" sz="900" dirty="0">
                          <a:solidFill>
                            <a:srgbClr val="222831"/>
                          </a:solidFill>
                          <a:latin typeface="Courier New" pitchFamily="34" charset="0"/>
                          <a:ea typeface="Courier New" pitchFamily="34" charset="-122"/>
                          <a:cs typeface="Courier New" pitchFamily="34" charset="-120"/>
                        </a:rPr>
                        <a:t>grounding, reasoning</a:t>
                      </a:r>
                      <a:endParaRPr lang="en-US" sz="900" dirty="0">
                        <a:latin typeface="Courier New" charset="0"/>
                        <a:ea typeface="Courier New" charset="0"/>
                        <a:cs typeface="Courier New" charset="0"/>
                      </a:endParaRPr>
                    </a:p>
                  </a:txBody>
                  <a:tcPr marL="76200" marR="76200" marT="25400" marB="25400" anchor="ctr">
                    <a:lnL w="0" cap="flat" cmpd="sng" algn="ctr">
                      <a:noFill/>
                    </a:lnL>
                    <a:lnR w="0" cap="flat" cmpd="sng" algn="ctr">
                      <a:noFill/>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tcPr>
                </a:tc>
                <a:tc>
                  <a:txBody>
                    <a:bodyPr/>
                    <a:lstStyle/>
                    <a:p>
                      <a:pPr algn="l" indent="0" marL="0">
                        <a:buNone/>
                      </a:pPr>
                      <a:r>
                        <a:rPr lang="en-US" sz="950" dirty="0">
                          <a:solidFill>
                            <a:srgbClr val="222831"/>
                          </a:solidFill>
                          <a:latin typeface="Calibri" pitchFamily="34" charset="0"/>
                          <a:ea typeface="Calibri" pitchFamily="34" charset="-122"/>
                          <a:cs typeface="Calibri" pitchFamily="34" charset="-120"/>
                        </a:rPr>
                        <a:t>Two 40-item bridge samples at replication 3: does the rebuilt dimension clear 0.50?</a:t>
                      </a:r>
                      <a:endParaRPr lang="en-US" sz="950" dirty="0">
                        <a:latin typeface="Calibri" charset="0"/>
                        <a:ea typeface="Calibri" charset="0"/>
                        <a:cs typeface="Calibri" charset="0"/>
                      </a:endParaRPr>
                    </a:p>
                  </a:txBody>
                  <a:tcPr marL="76200" marR="76200" marT="25400" marB="25400" anchor="ctr">
                    <a:lnL w="0" cap="flat" cmpd="sng" algn="ctr">
                      <a:noFill/>
                    </a:lnL>
                    <a:lnR w="0" cap="flat" cmpd="sng" algn="ctr">
                      <a:noFill/>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tcPr>
                </a:tc>
                <a:tc>
                  <a:txBody>
                    <a:bodyPr/>
                    <a:lstStyle/>
                    <a:p>
                      <a:pPr algn="ctr" indent="0" marL="0">
                        <a:buNone/>
                      </a:pPr>
                      <a:r>
                        <a:rPr lang="en-US" sz="900" dirty="0">
                          <a:solidFill>
                            <a:srgbClr val="222831"/>
                          </a:solidFill>
                          <a:latin typeface="Calibri" pitchFamily="34" charset="0"/>
                          <a:ea typeface="Calibri" pitchFamily="34" charset="-122"/>
                          <a:cs typeface="Calibri" pitchFamily="34" charset="-120"/>
                        </a:rPr>
                        <a:t>projected_cost_to_fix_usd ×2</a:t>
                      </a:r>
                      <a:endParaRPr lang="en-US" sz="900" dirty="0">
                        <a:latin typeface="Calibri" charset="0"/>
                        <a:ea typeface="Calibri" charset="0"/>
                        <a:cs typeface="Calibri" charset="0"/>
                      </a:endParaRPr>
                    </a:p>
                  </a:txBody>
                  <a:tcPr marL="76200" marR="76200" marT="25400" marB="25400" anchor="ctr">
                    <a:lnL w="0" cap="flat" cmpd="sng" algn="ctr">
                      <a:noFill/>
                    </a:lnL>
                    <a:lnR w="0" cap="flat" cmpd="sng" algn="ctr">
                      <a:noFill/>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tcPr>
                </a:tc>
                <a:tc>
                  <a:txBody>
                    <a:bodyPr/>
                    <a:lstStyle/>
                    <a:p>
                      <a:pPr algn="ctr" indent="0" marL="0">
                        <a:buNone/>
                      </a:pPr>
                      <a:r>
                        <a:rPr lang="en-US" sz="950" b="1" dirty="0">
                          <a:solidFill>
                            <a:srgbClr val="222831"/>
                          </a:solidFill>
                          <a:latin typeface="Calibri" pitchFamily="34" charset="0"/>
                          <a:ea typeface="Calibri" pitchFamily="34" charset="-122"/>
                          <a:cs typeface="Calibri" pitchFamily="34" charset="-120"/>
                        </a:rPr>
                        <a:t>$204.00</a:t>
                      </a:r>
                      <a:endParaRPr lang="en-US" sz="950" dirty="0">
                        <a:latin typeface="Calibri" charset="0"/>
                        <a:ea typeface="Calibri" charset="0"/>
                        <a:cs typeface="Calibri" charset="0"/>
                      </a:endParaRPr>
                    </a:p>
                  </a:txBody>
                  <a:tcPr marL="76200" marR="76200" marT="25400" marB="25400" anchor="ctr">
                    <a:lnL w="0" cap="flat" cmpd="sng" algn="ctr">
                      <a:noFill/>
                    </a:lnL>
                    <a:lnR w="0" cap="flat" cmpd="sng" algn="ctr">
                      <a:noFill/>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tcPr>
                </a:tc>
              </a:tr>
              <a:tr h="301752">
                <a:tc>
                  <a:txBody>
                    <a:bodyPr/>
                    <a:lstStyle/>
                    <a:p>
                      <a:pPr algn="ctr" indent="0" marL="0">
                        <a:buNone/>
                      </a:pPr>
                      <a:r>
                        <a:rPr lang="en-US" sz="950" b="1" dirty="0">
                          <a:solidFill>
                            <a:srgbClr val="222831"/>
                          </a:solidFill>
                          <a:latin typeface="Calibri" pitchFamily="34" charset="0"/>
                          <a:ea typeface="Calibri" pitchFamily="34" charset="-122"/>
                          <a:cs typeface="Calibri" pitchFamily="34" charset="-120"/>
                        </a:rPr>
                        <a:t>2</a:t>
                      </a:r>
                      <a:endParaRPr lang="en-US" sz="950" dirty="0">
                        <a:latin typeface="Calibri" charset="0"/>
                        <a:ea typeface="Calibri" charset="0"/>
                        <a:cs typeface="Calibri" charset="0"/>
                      </a:endParaRPr>
                    </a:p>
                  </a:txBody>
                  <a:tcPr marL="76200" marR="76200" marT="25400" marB="25400" anchor="ctr">
                    <a:lnL w="0" cap="flat" cmpd="sng" algn="ctr">
                      <a:noFill/>
                    </a:lnL>
                    <a:lnR w="0" cap="flat" cmpd="sng" algn="ctr">
                      <a:noFill/>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tcPr>
                </a:tc>
                <a:tc>
                  <a:txBody>
                    <a:bodyPr/>
                    <a:lstStyle/>
                    <a:p>
                      <a:pPr algn="l" indent="0" marL="0">
                        <a:buNone/>
                      </a:pPr>
                      <a:r>
                        <a:rPr lang="en-US" sz="900" dirty="0">
                          <a:solidFill>
                            <a:srgbClr val="222831"/>
                          </a:solidFill>
                          <a:latin typeface="Courier New" pitchFamily="34" charset="0"/>
                          <a:ea typeface="Courier New" pitchFamily="34" charset="-122"/>
                          <a:cs typeface="Courier New" pitchFamily="34" charset="-120"/>
                        </a:rPr>
                        <a:t>grounding</a:t>
                      </a:r>
                      <a:endParaRPr lang="en-US" sz="900" dirty="0">
                        <a:latin typeface="Courier New" charset="0"/>
                        <a:ea typeface="Courier New" charset="0"/>
                        <a:cs typeface="Courier New" charset="0"/>
                      </a:endParaRPr>
                    </a:p>
                  </a:txBody>
                  <a:tcPr marL="76200" marR="76200" marT="25400" marB="25400" anchor="ctr">
                    <a:lnL w="0" cap="flat" cmpd="sng" algn="ctr">
                      <a:noFill/>
                    </a:lnL>
                    <a:lnR w="0" cap="flat" cmpd="sng" algn="ctr">
                      <a:noFill/>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tcPr>
                </a:tc>
                <a:tc>
                  <a:txBody>
                    <a:bodyPr/>
                    <a:lstStyle/>
                    <a:p>
                      <a:pPr algn="l" indent="0" marL="0">
                        <a:buNone/>
                      </a:pPr>
                      <a:r>
                        <a:rPr lang="en-US" sz="950" dirty="0">
                          <a:solidFill>
                            <a:srgbClr val="222831"/>
                          </a:solidFill>
                          <a:latin typeface="Calibri" pitchFamily="34" charset="0"/>
                          <a:ea typeface="Calibri" pitchFamily="34" charset="-122"/>
                          <a:cs typeface="Calibri" pitchFamily="34" charset="-120"/>
                        </a:rPr>
                        <a:t>Close the GF-12 / GF-02 blind spots: ~20 added items, plus a second bridge</a:t>
                      </a:r>
                      <a:endParaRPr lang="en-US" sz="950" dirty="0">
                        <a:latin typeface="Calibri" charset="0"/>
                        <a:ea typeface="Calibri" charset="0"/>
                        <a:cs typeface="Calibri" charset="0"/>
                      </a:endParaRPr>
                    </a:p>
                  </a:txBody>
                  <a:tcPr marL="76200" marR="76200" marT="25400" marB="25400" anchor="ctr">
                    <a:lnL w="0" cap="flat" cmpd="sng" algn="ctr">
                      <a:noFill/>
                    </a:lnL>
                    <a:lnR w="0" cap="flat" cmpd="sng" algn="ctr">
                      <a:noFill/>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tcPr>
                </a:tc>
                <a:tc>
                  <a:txBody>
                    <a:bodyPr/>
                    <a:lstStyle/>
                    <a:p>
                      <a:pPr algn="ctr" indent="0" marL="0">
                        <a:buNone/>
                      </a:pPr>
                      <a:r>
                        <a:rPr lang="en-US" sz="900" dirty="0">
                          <a:solidFill>
                            <a:srgbClr val="222831"/>
                          </a:solidFill>
                          <a:latin typeface="Calibri" pitchFamily="34" charset="0"/>
                          <a:ea typeface="Calibri" pitchFamily="34" charset="-122"/>
                          <a:cs typeface="Calibri" pitchFamily="34" charset="-120"/>
                        </a:rPr>
                        <a:t>20×9 + 40×3 labels, derived</a:t>
                      </a:r>
                      <a:endParaRPr lang="en-US" sz="900" dirty="0">
                        <a:latin typeface="Calibri" charset="0"/>
                        <a:ea typeface="Calibri" charset="0"/>
                        <a:cs typeface="Calibri" charset="0"/>
                      </a:endParaRPr>
                    </a:p>
                  </a:txBody>
                  <a:tcPr marL="76200" marR="76200" marT="25400" marB="25400" anchor="ctr">
                    <a:lnL w="0" cap="flat" cmpd="sng" algn="ctr">
                      <a:noFill/>
                    </a:lnL>
                    <a:lnR w="0" cap="flat" cmpd="sng" algn="ctr">
                      <a:noFill/>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tcPr>
                </a:tc>
                <a:tc>
                  <a:txBody>
                    <a:bodyPr/>
                    <a:lstStyle/>
                    <a:p>
                      <a:pPr algn="ctr" indent="0" marL="0">
                        <a:buNone/>
                      </a:pPr>
                      <a:r>
                        <a:rPr lang="en-US" sz="950" b="1" dirty="0">
                          <a:solidFill>
                            <a:srgbClr val="222831"/>
                          </a:solidFill>
                          <a:latin typeface="Calibri" pitchFamily="34" charset="0"/>
                          <a:ea typeface="Calibri" pitchFamily="34" charset="-122"/>
                          <a:cs typeface="Calibri" pitchFamily="34" charset="-120"/>
                        </a:rPr>
                        <a:t>$255.00</a:t>
                      </a:r>
                      <a:endParaRPr lang="en-US" sz="950" dirty="0">
                        <a:latin typeface="Calibri" charset="0"/>
                        <a:ea typeface="Calibri" charset="0"/>
                        <a:cs typeface="Calibri" charset="0"/>
                      </a:endParaRPr>
                    </a:p>
                  </a:txBody>
                  <a:tcPr marL="76200" marR="76200" marT="25400" marB="25400" anchor="ctr">
                    <a:lnL w="0" cap="flat" cmpd="sng" algn="ctr">
                      <a:noFill/>
                    </a:lnL>
                    <a:lnR w="0" cap="flat" cmpd="sng" algn="ctr">
                      <a:noFill/>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tcPr>
                </a:tc>
              </a:tr>
              <a:tr h="301752">
                <a:tc>
                  <a:txBody>
                    <a:bodyPr/>
                    <a:lstStyle/>
                    <a:p>
                      <a:pPr algn="ctr" indent="0" marL="0">
                        <a:buNone/>
                      </a:pPr>
                      <a:r>
                        <a:rPr lang="en-US" sz="950" b="1" dirty="0">
                          <a:solidFill>
                            <a:srgbClr val="222831"/>
                          </a:solidFill>
                          <a:latin typeface="Calibri" pitchFamily="34" charset="0"/>
                          <a:ea typeface="Calibri" pitchFamily="34" charset="-122"/>
                          <a:cs typeface="Calibri" pitchFamily="34" charset="-120"/>
                        </a:rPr>
                        <a:t>3</a:t>
                      </a:r>
                      <a:endParaRPr lang="en-US" sz="950" dirty="0">
                        <a:latin typeface="Calibri" charset="0"/>
                        <a:ea typeface="Calibri" charset="0"/>
                        <a:cs typeface="Calibri" charset="0"/>
                      </a:endParaRPr>
                    </a:p>
                  </a:txBody>
                  <a:tcPr marL="76200" marR="76200" marT="25400" marB="25400" anchor="ctr">
                    <a:lnL w="0" cap="flat" cmpd="sng" algn="ctr">
                      <a:noFill/>
                    </a:lnL>
                    <a:lnR w="0" cap="flat" cmpd="sng" algn="ctr">
                      <a:noFill/>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tcPr>
                </a:tc>
                <a:tc>
                  <a:txBody>
                    <a:bodyPr/>
                    <a:lstStyle/>
                    <a:p>
                      <a:pPr algn="l" indent="0" marL="0">
                        <a:buNone/>
                      </a:pPr>
                      <a:r>
                        <a:rPr lang="en-US" sz="900" dirty="0">
                          <a:solidFill>
                            <a:srgbClr val="222831"/>
                          </a:solidFill>
                          <a:latin typeface="Courier New" pitchFamily="34" charset="0"/>
                          <a:ea typeface="Courier New" pitchFamily="34" charset="-122"/>
                          <a:cs typeface="Courier New" pitchFamily="34" charset="-120"/>
                        </a:rPr>
                        <a:t>agentic</a:t>
                      </a:r>
                      <a:endParaRPr lang="en-US" sz="900" dirty="0">
                        <a:latin typeface="Courier New" charset="0"/>
                        <a:ea typeface="Courier New" charset="0"/>
                        <a:cs typeface="Courier New" charset="0"/>
                      </a:endParaRPr>
                    </a:p>
                  </a:txBody>
                  <a:tcPr marL="76200" marR="76200" marT="25400" marB="25400" anchor="ctr">
                    <a:lnL w="0" cap="flat" cmpd="sng" algn="ctr">
                      <a:noFill/>
                    </a:lnL>
                    <a:lnR w="0" cap="flat" cmpd="sng" algn="ctr">
                      <a:noFill/>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tcPr>
                </a:tc>
                <a:tc>
                  <a:txBody>
                    <a:bodyPr/>
                    <a:lstStyle/>
                    <a:p>
                      <a:pPr algn="l" indent="0" marL="0">
                        <a:buNone/>
                      </a:pPr>
                      <a:r>
                        <a:rPr lang="en-US" sz="950" dirty="0">
                          <a:solidFill>
                            <a:srgbClr val="222831"/>
                          </a:solidFill>
                          <a:latin typeface="Calibri" pitchFamily="34" charset="0"/>
                          <a:ea typeface="Calibri" pitchFamily="34" charset="-122"/>
                          <a:cs typeface="Calibri" pitchFamily="34" charset="-120"/>
                        </a:rPr>
                        <a:t>Power candidate selection to a 0.05 delta: n ≥ 172 against 48 held, shortfall 124 items</a:t>
                      </a:r>
                      <a:endParaRPr lang="en-US" sz="950" dirty="0">
                        <a:latin typeface="Calibri" charset="0"/>
                        <a:ea typeface="Calibri" charset="0"/>
                        <a:cs typeface="Calibri" charset="0"/>
                      </a:endParaRPr>
                    </a:p>
                  </a:txBody>
                  <a:tcPr marL="76200" marR="76200" marT="25400" marB="25400" anchor="ctr">
                    <a:lnL w="0" cap="flat" cmpd="sng" algn="ctr">
                      <a:noFill/>
                    </a:lnL>
                    <a:lnR w="0" cap="flat" cmpd="sng" algn="ctr">
                      <a:noFill/>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tcPr>
                </a:tc>
                <a:tc>
                  <a:txBody>
                    <a:bodyPr/>
                    <a:lstStyle/>
                    <a:p>
                      <a:pPr algn="ctr" indent="0" marL="0">
                        <a:buNone/>
                      </a:pPr>
                      <a:r>
                        <a:rPr lang="en-US" sz="900" dirty="0">
                          <a:solidFill>
                            <a:srgbClr val="222831"/>
                          </a:solidFill>
                          <a:latin typeface="Calibri" pitchFamily="34" charset="0"/>
                          <a:ea typeface="Calibri" pitchFamily="34" charset="-122"/>
                          <a:cs typeface="Calibri" pitchFamily="34" charset="-120"/>
                        </a:rPr>
                        <a:t>124×9 labels, derived</a:t>
                      </a:r>
                      <a:endParaRPr lang="en-US" sz="900" dirty="0">
                        <a:latin typeface="Calibri" charset="0"/>
                        <a:ea typeface="Calibri" charset="0"/>
                        <a:cs typeface="Calibri" charset="0"/>
                      </a:endParaRPr>
                    </a:p>
                  </a:txBody>
                  <a:tcPr marL="76200" marR="76200" marT="25400" marB="25400" anchor="ctr">
                    <a:lnL w="0" cap="flat" cmpd="sng" algn="ctr">
                      <a:noFill/>
                    </a:lnL>
                    <a:lnR w="0" cap="flat" cmpd="sng" algn="ctr">
                      <a:noFill/>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tcPr>
                </a:tc>
                <a:tc>
                  <a:txBody>
                    <a:bodyPr/>
                    <a:lstStyle/>
                    <a:p>
                      <a:pPr algn="ctr" indent="0" marL="0">
                        <a:buNone/>
                      </a:pPr>
                      <a:r>
                        <a:rPr lang="en-US" sz="950" b="1" dirty="0">
                          <a:solidFill>
                            <a:srgbClr val="222831"/>
                          </a:solidFill>
                          <a:latin typeface="Calibri" pitchFamily="34" charset="0"/>
                          <a:ea typeface="Calibri" pitchFamily="34" charset="-122"/>
                          <a:cs typeface="Calibri" pitchFamily="34" charset="-120"/>
                        </a:rPr>
                        <a:t>$948.60</a:t>
                      </a:r>
                      <a:endParaRPr lang="en-US" sz="950" dirty="0">
                        <a:latin typeface="Calibri" charset="0"/>
                        <a:ea typeface="Calibri" charset="0"/>
                        <a:cs typeface="Calibri" charset="0"/>
                      </a:endParaRPr>
                    </a:p>
                  </a:txBody>
                  <a:tcPr marL="76200" marR="76200" marT="25400" marB="25400" anchor="ctr">
                    <a:lnL w="0" cap="flat" cmpd="sng" algn="ctr">
                      <a:noFill/>
                    </a:lnL>
                    <a:lnR w="0" cap="flat" cmpd="sng" algn="ctr">
                      <a:noFill/>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tcPr>
                </a:tc>
              </a:tr>
              <a:tr h="301752">
                <a:tc>
                  <a:txBody>
                    <a:bodyPr/>
                    <a:lstStyle/>
                    <a:p>
                      <a:pPr algn="ctr" indent="0" marL="0">
                        <a:buNone/>
                      </a:pPr>
                      <a:r>
                        <a:rPr lang="en-US" sz="950" b="1" dirty="0">
                          <a:solidFill>
                            <a:srgbClr val="222831"/>
                          </a:solidFill>
                          <a:latin typeface="Calibri" pitchFamily="34" charset="0"/>
                          <a:ea typeface="Calibri" pitchFamily="34" charset="-122"/>
                          <a:cs typeface="Calibri" pitchFamily="34" charset="-120"/>
                        </a:rPr>
                        <a:t>4</a:t>
                      </a:r>
                      <a:endParaRPr lang="en-US" sz="950" dirty="0">
                        <a:latin typeface="Calibri" charset="0"/>
                        <a:ea typeface="Calibri" charset="0"/>
                        <a:cs typeface="Calibri" charset="0"/>
                      </a:endParaRPr>
                    </a:p>
                  </a:txBody>
                  <a:tcPr marL="76200" marR="76200" marT="25400" marB="25400" anchor="ctr">
                    <a:lnL w="0" cap="flat" cmpd="sng" algn="ctr">
                      <a:noFill/>
                    </a:lnL>
                    <a:lnR w="0" cap="flat" cmpd="sng" algn="ctr">
                      <a:noFill/>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tcPr>
                </a:tc>
                <a:tc>
                  <a:txBody>
                    <a:bodyPr/>
                    <a:lstStyle/>
                    <a:p>
                      <a:pPr algn="l" indent="0" marL="0">
                        <a:buNone/>
                      </a:pPr>
                      <a:r>
                        <a:rPr lang="en-US" sz="900" dirty="0">
                          <a:solidFill>
                            <a:srgbClr val="222831"/>
                          </a:solidFill>
                          <a:latin typeface="Courier New" pitchFamily="34" charset="0"/>
                          <a:ea typeface="Courier New" pitchFamily="34" charset="-122"/>
                          <a:cs typeface="Courier New" pitchFamily="34" charset="-120"/>
                        </a:rPr>
                        <a:t>reasoning, agentic</a:t>
                      </a:r>
                      <a:endParaRPr lang="en-US" sz="900" dirty="0">
                        <a:latin typeface="Courier New" charset="0"/>
                        <a:ea typeface="Courier New" charset="0"/>
                        <a:cs typeface="Courier New" charset="0"/>
                      </a:endParaRPr>
                    </a:p>
                  </a:txBody>
                  <a:tcPr marL="76200" marR="76200" marT="25400" marB="25400" anchor="ctr">
                    <a:lnL w="0" cap="flat" cmpd="sng" algn="ctr">
                      <a:noFill/>
                    </a:lnL>
                    <a:lnR w="0" cap="flat" cmpd="sng" algn="ctr">
                      <a:noFill/>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tcPr>
                </a:tc>
                <a:tc>
                  <a:txBody>
                    <a:bodyPr/>
                    <a:lstStyle/>
                    <a:p>
                      <a:pPr algn="l" indent="0" marL="0">
                        <a:buNone/>
                      </a:pPr>
                      <a:r>
                        <a:rPr lang="en-US" sz="950" dirty="0">
                          <a:solidFill>
                            <a:srgbClr val="222831"/>
                          </a:solidFill>
                          <a:latin typeface="Calibri" pitchFamily="34" charset="0"/>
                          <a:ea typeface="Calibri" pitchFamily="34" charset="-122"/>
                          <a:cs typeface="Calibri" pitchFamily="34" charset="-120"/>
                        </a:rPr>
                        <a:t>Fill the thin cells: symbolic answer_type to n ≥ 8, plus the worst agentic stratum</a:t>
                      </a:r>
                      <a:endParaRPr lang="en-US" sz="950" dirty="0">
                        <a:latin typeface="Calibri" charset="0"/>
                        <a:ea typeface="Calibri" charset="0"/>
                        <a:cs typeface="Calibri" charset="0"/>
                      </a:endParaRPr>
                    </a:p>
                  </a:txBody>
                  <a:tcPr marL="76200" marR="76200" marT="25400" marB="25400" anchor="ctr">
                    <a:lnL w="0" cap="flat" cmpd="sng" algn="ctr">
                      <a:noFill/>
                    </a:lnL>
                    <a:lnR w="0" cap="flat" cmpd="sng" algn="ctr">
                      <a:noFill/>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tcPr>
                </a:tc>
                <a:tc>
                  <a:txBody>
                    <a:bodyPr/>
                    <a:lstStyle/>
                    <a:p>
                      <a:pPr algn="ctr" indent="0" marL="0">
                        <a:buNone/>
                      </a:pPr>
                      <a:r>
                        <a:rPr lang="en-US" sz="900" dirty="0">
                          <a:solidFill>
                            <a:srgbClr val="222831"/>
                          </a:solidFill>
                          <a:latin typeface="Calibri" pitchFamily="34" charset="0"/>
                          <a:ea typeface="Calibri" pitchFamily="34" charset="-122"/>
                          <a:cs typeface="Calibri" pitchFamily="34" charset="-120"/>
                        </a:rPr>
                        <a:t>(6+9)×9 labels, derived</a:t>
                      </a:r>
                      <a:endParaRPr lang="en-US" sz="900" dirty="0">
                        <a:latin typeface="Calibri" charset="0"/>
                        <a:ea typeface="Calibri" charset="0"/>
                        <a:cs typeface="Calibri" charset="0"/>
                      </a:endParaRPr>
                    </a:p>
                  </a:txBody>
                  <a:tcPr marL="76200" marR="76200" marT="25400" marB="25400" anchor="ctr">
                    <a:lnL w="0" cap="flat" cmpd="sng" algn="ctr">
                      <a:noFill/>
                    </a:lnL>
                    <a:lnR w="0" cap="flat" cmpd="sng" algn="ctr">
                      <a:noFill/>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tcPr>
                </a:tc>
                <a:tc>
                  <a:txBody>
                    <a:bodyPr/>
                    <a:lstStyle/>
                    <a:p>
                      <a:pPr algn="ctr" indent="0" marL="0">
                        <a:buNone/>
                      </a:pPr>
                      <a:r>
                        <a:rPr lang="en-US" sz="950" b="1" dirty="0">
                          <a:solidFill>
                            <a:srgbClr val="222831"/>
                          </a:solidFill>
                          <a:latin typeface="Calibri" pitchFamily="34" charset="0"/>
                          <a:ea typeface="Calibri" pitchFamily="34" charset="-122"/>
                          <a:cs typeface="Calibri" pitchFamily="34" charset="-120"/>
                        </a:rPr>
                        <a:t>$114.75</a:t>
                      </a:r>
                      <a:endParaRPr lang="en-US" sz="950" dirty="0">
                        <a:latin typeface="Calibri" charset="0"/>
                        <a:ea typeface="Calibri" charset="0"/>
                        <a:cs typeface="Calibri" charset="0"/>
                      </a:endParaRPr>
                    </a:p>
                  </a:txBody>
                  <a:tcPr marL="76200" marR="76200" marT="25400" marB="25400" anchor="ctr">
                    <a:lnL w="0" cap="flat" cmpd="sng" algn="ctr">
                      <a:noFill/>
                    </a:lnL>
                    <a:lnR w="0" cap="flat" cmpd="sng" algn="ctr">
                      <a:noFill/>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tcPr>
                </a:tc>
              </a:tr>
              <a:tr h="301752">
                <a:tc>
                  <a:txBody>
                    <a:bodyPr/>
                    <a:lstStyle/>
                    <a:p>
                      <a:pPr algn="ctr" indent="0" marL="0">
                        <a:buNone/>
                      </a:pPr>
                      <a:r>
                        <a:rPr lang="en-US" sz="950" b="1" dirty="0">
                          <a:solidFill>
                            <a:srgbClr val="222831"/>
                          </a:solidFill>
                          <a:latin typeface="Calibri" pitchFamily="34" charset="0"/>
                          <a:ea typeface="Calibri" pitchFamily="34" charset="-122"/>
                          <a:cs typeface="Calibri" pitchFamily="34" charset="-120"/>
                        </a:rPr>
                        <a:t>5</a:t>
                      </a:r>
                      <a:endParaRPr lang="en-US" sz="950" dirty="0">
                        <a:latin typeface="Calibri" charset="0"/>
                        <a:ea typeface="Calibri" charset="0"/>
                        <a:cs typeface="Calibri" charset="0"/>
                      </a:endParaRPr>
                    </a:p>
                  </a:txBody>
                  <a:tcPr marL="76200" marR="76200" marT="25400" marB="25400" anchor="ctr">
                    <a:lnL w="0" cap="flat" cmpd="sng" algn="ctr">
                      <a:noFill/>
                    </a:lnL>
                    <a:lnR w="0" cap="flat" cmpd="sng" algn="ctr">
                      <a:noFill/>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tcPr>
                </a:tc>
                <a:tc>
                  <a:txBody>
                    <a:bodyPr/>
                    <a:lstStyle/>
                    <a:p>
                      <a:pPr algn="l" indent="0" marL="0">
                        <a:buNone/>
                      </a:pPr>
                      <a:r>
                        <a:rPr lang="en-US" sz="900" dirty="0">
                          <a:solidFill>
                            <a:srgbClr val="222831"/>
                          </a:solidFill>
                          <a:latin typeface="Courier New" pitchFamily="34" charset="0"/>
                          <a:ea typeface="Courier New" pitchFamily="34" charset="-122"/>
                          <a:cs typeface="Courier New" pitchFamily="34" charset="-120"/>
                        </a:rPr>
                        <a:t>agentic</a:t>
                      </a:r>
                      <a:endParaRPr lang="en-US" sz="900" dirty="0">
                        <a:latin typeface="Courier New" charset="0"/>
                        <a:ea typeface="Courier New" charset="0"/>
                        <a:cs typeface="Courier New" charset="0"/>
                      </a:endParaRPr>
                    </a:p>
                  </a:txBody>
                  <a:tcPr marL="76200" marR="76200" marT="25400" marB="25400" anchor="ctr">
                    <a:lnL w="0" cap="flat" cmpd="sng" algn="ctr">
                      <a:noFill/>
                    </a:lnL>
                    <a:lnR w="0" cap="flat" cmpd="sng" algn="ctr">
                      <a:noFill/>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tcPr>
                </a:tc>
                <a:tc>
                  <a:txBody>
                    <a:bodyPr/>
                    <a:lstStyle/>
                    <a:p>
                      <a:pPr algn="l" indent="0" marL="0">
                        <a:buNone/>
                      </a:pPr>
                      <a:r>
                        <a:rPr lang="en-US" sz="950" dirty="0">
                          <a:solidFill>
                            <a:srgbClr val="222831"/>
                          </a:solidFill>
                          <a:latin typeface="Calibri" pitchFamily="34" charset="0"/>
                          <a:ea typeface="Calibri" pitchFamily="34" charset="-122"/>
                          <a:cs typeface="Calibri" pitchFamily="34" charset="-120"/>
                        </a:rPr>
                        <a:t>Validate against humans: a 40-item slice at replication 3 — does human α land near 0.584?</a:t>
                      </a:r>
                      <a:endParaRPr lang="en-US" sz="950" dirty="0">
                        <a:latin typeface="Calibri" charset="0"/>
                        <a:ea typeface="Calibri" charset="0"/>
                        <a:cs typeface="Calibri" charset="0"/>
                      </a:endParaRPr>
                    </a:p>
                  </a:txBody>
                  <a:tcPr marL="76200" marR="76200" marT="25400" marB="25400" anchor="ctr">
                    <a:lnL w="0" cap="flat" cmpd="sng" algn="ctr">
                      <a:noFill/>
                    </a:lnL>
                    <a:lnR w="0" cap="flat" cmpd="sng" algn="ctr">
                      <a:noFill/>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tcPr>
                </a:tc>
                <a:tc>
                  <a:txBody>
                    <a:bodyPr/>
                    <a:lstStyle/>
                    <a:p>
                      <a:pPr algn="ctr" indent="0" marL="0">
                        <a:buNone/>
                      </a:pPr>
                      <a:r>
                        <a:rPr lang="en-US" sz="900" dirty="0">
                          <a:solidFill>
                            <a:srgbClr val="222831"/>
                          </a:solidFill>
                          <a:latin typeface="Calibri" pitchFamily="34" charset="0"/>
                          <a:ea typeface="Calibri" pitchFamily="34" charset="-122"/>
                          <a:cs typeface="Calibri" pitchFamily="34" charset="-120"/>
                        </a:rPr>
                        <a:t>40×3 labels, derived</a:t>
                      </a:r>
                      <a:endParaRPr lang="en-US" sz="900" dirty="0">
                        <a:latin typeface="Calibri" charset="0"/>
                        <a:ea typeface="Calibri" charset="0"/>
                        <a:cs typeface="Calibri" charset="0"/>
                      </a:endParaRPr>
                    </a:p>
                  </a:txBody>
                  <a:tcPr marL="76200" marR="76200" marT="25400" marB="25400" anchor="ctr">
                    <a:lnL w="0" cap="flat" cmpd="sng" algn="ctr">
                      <a:noFill/>
                    </a:lnL>
                    <a:lnR w="0" cap="flat" cmpd="sng" algn="ctr">
                      <a:noFill/>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tcPr>
                </a:tc>
                <a:tc>
                  <a:txBody>
                    <a:bodyPr/>
                    <a:lstStyle/>
                    <a:p>
                      <a:pPr algn="ctr" indent="0" marL="0">
                        <a:buNone/>
                      </a:pPr>
                      <a:r>
                        <a:rPr lang="en-US" sz="950" b="1" dirty="0">
                          <a:solidFill>
                            <a:srgbClr val="222831"/>
                          </a:solidFill>
                          <a:latin typeface="Calibri" pitchFamily="34" charset="0"/>
                          <a:ea typeface="Calibri" pitchFamily="34" charset="-122"/>
                          <a:cs typeface="Calibri" pitchFamily="34" charset="-120"/>
                        </a:rPr>
                        <a:t>$102.00</a:t>
                      </a:r>
                      <a:endParaRPr lang="en-US" sz="950" dirty="0">
                        <a:latin typeface="Calibri" charset="0"/>
                        <a:ea typeface="Calibri" charset="0"/>
                        <a:cs typeface="Calibri" charset="0"/>
                      </a:endParaRPr>
                    </a:p>
                  </a:txBody>
                  <a:tcPr marL="76200" marR="76200" marT="25400" marB="25400" anchor="ctr">
                    <a:lnL w="0" cap="flat" cmpd="sng" algn="ctr">
                      <a:noFill/>
                    </a:lnL>
                    <a:lnR w="0" cap="flat" cmpd="sng" algn="ctr">
                      <a:noFill/>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tcPr>
                </a:tc>
              </a:tr>
              <a:tr h="301752">
                <a:tc>
                  <a:txBody>
                    <a:bodyPr/>
                    <a:lstStyle/>
                    <a:p>
                      <a:pPr algn="ctr" indent="0" marL="0">
                        <a:buNone/>
                      </a:pPr>
                      <a:r>
                        <a:rPr lang="en-US" sz="950" b="1" dirty="0">
                          <a:solidFill>
                            <a:srgbClr val="9B2226"/>
                          </a:solidFill>
                          <a:latin typeface="Calibri" pitchFamily="34" charset="0"/>
                          <a:ea typeface="Calibri" pitchFamily="34" charset="-122"/>
                          <a:cs typeface="Calibri" pitchFamily="34" charset="-120"/>
                        </a:rPr>
                        <a:t>—</a:t>
                      </a:r>
                      <a:endParaRPr lang="en-US" sz="950" dirty="0">
                        <a:latin typeface="Calibri" charset="0"/>
                        <a:ea typeface="Calibri" charset="0"/>
                        <a:cs typeface="Calibri" charset="0"/>
                      </a:endParaRPr>
                    </a:p>
                  </a:txBody>
                  <a:tcPr marL="76200" marR="76200" marT="25400" marB="25400" anchor="ctr">
                    <a:lnL w="0" cap="flat" cmpd="sng" algn="ctr">
                      <a:noFill/>
                    </a:lnL>
                    <a:lnR w="0" cap="flat" cmpd="sng" algn="ctr">
                      <a:noFill/>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tcPr>
                </a:tc>
                <a:tc>
                  <a:txBody>
                    <a:bodyPr/>
                    <a:lstStyle/>
                    <a:p>
                      <a:pPr algn="l" indent="0" marL="0">
                        <a:buNone/>
                      </a:pPr>
                      <a:r>
                        <a:rPr lang="en-US" sz="900" dirty="0">
                          <a:solidFill>
                            <a:srgbClr val="222831"/>
                          </a:solidFill>
                          <a:latin typeface="Courier New" pitchFamily="34" charset="0"/>
                          <a:ea typeface="Courier New" pitchFamily="34" charset="-122"/>
                          <a:cs typeface="Courier New" pitchFamily="34" charset="-120"/>
                        </a:rPr>
                        <a:t>refusal</a:t>
                      </a:r>
                      <a:endParaRPr lang="en-US" sz="900" dirty="0">
                        <a:latin typeface="Courier New" charset="0"/>
                        <a:ea typeface="Courier New" charset="0"/>
                        <a:cs typeface="Courier New" charset="0"/>
                      </a:endParaRPr>
                    </a:p>
                  </a:txBody>
                  <a:tcPr marL="76200" marR="76200" marT="25400" marB="25400" anchor="ctr">
                    <a:lnL w="0" cap="flat" cmpd="sng" algn="ctr">
                      <a:noFill/>
                    </a:lnL>
                    <a:lnR w="0" cap="flat" cmpd="sng" algn="ctr">
                      <a:noFill/>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tcPr>
                </a:tc>
                <a:tc>
                  <a:txBody>
                    <a:bodyPr/>
                    <a:lstStyle/>
                    <a:p>
                      <a:pPr algn="l" indent="0" marL="0">
                        <a:buNone/>
                      </a:pPr>
                      <a:r>
                        <a:rPr lang="en-US" sz="950" dirty="0">
                          <a:solidFill>
                            <a:srgbClr val="9B2226"/>
                          </a:solidFill>
                          <a:latin typeface="Calibri" pitchFamily="34" charset="0"/>
                          <a:ea typeface="Calibri" pitchFamily="34" charset="-122"/>
                          <a:cs typeface="Calibri" pitchFamily="34" charset="-120"/>
                        </a:rPr>
                        <a:t>NOT FUNDED — finish the composite: n ≥ 260 against 36 held, shortfall 224 items</a:t>
                      </a:r>
                      <a:endParaRPr lang="en-US" sz="950" dirty="0">
                        <a:latin typeface="Calibri" charset="0"/>
                        <a:ea typeface="Calibri" charset="0"/>
                        <a:cs typeface="Calibri" charset="0"/>
                      </a:endParaRPr>
                    </a:p>
                  </a:txBody>
                  <a:tcPr marL="76200" marR="76200" marT="25400" marB="25400" anchor="ctr">
                    <a:lnL w="0" cap="flat" cmpd="sng" algn="ctr">
                      <a:noFill/>
                    </a:lnL>
                    <a:lnR w="0" cap="flat" cmpd="sng" algn="ctr">
                      <a:noFill/>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tcPr>
                </a:tc>
                <a:tc>
                  <a:txBody>
                    <a:bodyPr/>
                    <a:lstStyle/>
                    <a:p>
                      <a:pPr algn="ctr" indent="0" marL="0">
                        <a:buNone/>
                      </a:pPr>
                      <a:r>
                        <a:rPr lang="en-US" sz="900" dirty="0">
                          <a:solidFill>
                            <a:srgbClr val="222831"/>
                          </a:solidFill>
                          <a:latin typeface="Calibri" pitchFamily="34" charset="0"/>
                          <a:ea typeface="Calibri" pitchFamily="34" charset="-122"/>
                          <a:cs typeface="Calibri" pitchFamily="34" charset="-120"/>
                        </a:rPr>
                        <a:t>224×9 labels, derived</a:t>
                      </a:r>
                      <a:endParaRPr lang="en-US" sz="900" dirty="0">
                        <a:latin typeface="Calibri" charset="0"/>
                        <a:ea typeface="Calibri" charset="0"/>
                        <a:cs typeface="Calibri" charset="0"/>
                      </a:endParaRPr>
                    </a:p>
                  </a:txBody>
                  <a:tcPr marL="76200" marR="76200" marT="25400" marB="25400" anchor="ctr">
                    <a:lnL w="0" cap="flat" cmpd="sng" algn="ctr">
                      <a:noFill/>
                    </a:lnL>
                    <a:lnR w="0" cap="flat" cmpd="sng" algn="ctr">
                      <a:noFill/>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tcPr>
                </a:tc>
                <a:tc>
                  <a:txBody>
                    <a:bodyPr/>
                    <a:lstStyle/>
                    <a:p>
                      <a:pPr algn="ctr" indent="0" marL="0">
                        <a:buNone/>
                      </a:pPr>
                      <a:r>
                        <a:rPr lang="en-US" sz="950" b="1" dirty="0">
                          <a:solidFill>
                            <a:srgbClr val="9B2226"/>
                          </a:solidFill>
                          <a:latin typeface="Calibri" pitchFamily="34" charset="0"/>
                          <a:ea typeface="Calibri" pitchFamily="34" charset="-122"/>
                          <a:cs typeface="Calibri" pitchFamily="34" charset="-120"/>
                        </a:rPr>
                        <a:t>$1,713.60</a:t>
                      </a:r>
                      <a:endParaRPr lang="en-US" sz="950" dirty="0">
                        <a:latin typeface="Calibri" charset="0"/>
                        <a:ea typeface="Calibri" charset="0"/>
                        <a:cs typeface="Calibri" charset="0"/>
                      </a:endParaRPr>
                    </a:p>
                  </a:txBody>
                  <a:tcPr marL="76200" marR="76200" marT="25400" marB="25400" anchor="ctr">
                    <a:lnL w="0" cap="flat" cmpd="sng" algn="ctr">
                      <a:noFill/>
                    </a:lnL>
                    <a:lnR w="0" cap="flat" cmpd="sng" algn="ctr">
                      <a:noFill/>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tcPr>
                </a:tc>
              </a:tr>
            </a:tbl>
          </a:graphicData>
        </a:graphic>
      </p:graphicFrame>
      <p:sp>
        <p:nvSpPr>
          <p:cNvPr id="6" name="Shape 3"/>
          <p:cNvSpPr/>
          <p:nvPr/>
        </p:nvSpPr>
        <p:spPr>
          <a:xfrm>
            <a:off x="548640" y="4956048"/>
            <a:ext cx="5394960" cy="987552"/>
          </a:xfrm>
          <a:prstGeom prst="roundRect">
            <a:avLst>
              <a:gd name="adj" fmla="val 5556"/>
            </a:avLst>
          </a:prstGeom>
          <a:solidFill>
            <a:srgbClr val="F3F5F8"/>
          </a:solidFill>
          <a:ln w="9525">
            <a:solidFill>
              <a:srgbClr val="DCE1E8"/>
            </a:solidFill>
            <a:prstDash val="solid"/>
          </a:ln>
        </p:spPr>
      </p:sp>
      <p:sp>
        <p:nvSpPr>
          <p:cNvPr id="7" name="Text 4"/>
          <p:cNvSpPr/>
          <p:nvPr/>
        </p:nvSpPr>
        <p:spPr>
          <a:xfrm>
            <a:off x="804672" y="5102352"/>
            <a:ext cx="4882896" cy="219456"/>
          </a:xfrm>
          <a:prstGeom prst="rect">
            <a:avLst/>
          </a:prstGeom>
          <a:noFill/>
          <a:ln/>
        </p:spPr>
        <p:txBody>
          <a:bodyPr wrap="square" lIns="0" tIns="0" rIns="0" bIns="0" rtlCol="0" anchor="ctr"/>
          <a:lstStyle/>
          <a:p>
            <a:pPr indent="0" marL="0">
              <a:buNone/>
            </a:pPr>
            <a:r>
              <a:rPr lang="en-US" sz="1050" b="1" spc="60" kern="0" dirty="0">
                <a:solidFill>
                  <a:srgbClr val="1E3A5F"/>
                </a:solidFill>
                <a:latin typeface="Calibri" pitchFamily="34" charset="0"/>
                <a:ea typeface="Calibri" pitchFamily="34" charset="-122"/>
                <a:cs typeface="Calibri" pitchFamily="34" charset="-120"/>
              </a:rPr>
              <a:t>ORDER OF OPERATIONS</a:t>
            </a:r>
            <a:endParaRPr lang="en-US" sz="1050" dirty="0"/>
          </a:p>
        </p:txBody>
      </p:sp>
      <p:sp>
        <p:nvSpPr>
          <p:cNvPr id="8" name="Text 5"/>
          <p:cNvSpPr/>
          <p:nvPr/>
        </p:nvSpPr>
        <p:spPr>
          <a:xfrm>
            <a:off x="804672" y="5340096"/>
            <a:ext cx="4882896" cy="493776"/>
          </a:xfrm>
          <a:prstGeom prst="rect">
            <a:avLst/>
          </a:prstGeom>
          <a:noFill/>
          <a:ln/>
        </p:spPr>
        <p:txBody>
          <a:bodyPr wrap="square" lIns="0" tIns="0" rIns="0" bIns="0" rtlCol="0" anchor="t"/>
          <a:lstStyle/>
          <a:p>
            <a:pPr indent="0" marL="0">
              <a:lnSpc>
                <a:spcPts val="1500"/>
              </a:lnSpc>
              <a:buNone/>
            </a:pPr>
            <a:r>
              <a:rPr lang="en-US" sz="1000" dirty="0">
                <a:solidFill>
                  <a:srgbClr val="222831"/>
                </a:solidFill>
                <a:latin typeface="Calibri" pitchFamily="34" charset="0"/>
                <a:ea typeface="Calibri" pitchFamily="34" charset="-122"/>
                <a:cs typeface="Calibri" pitchFamily="34" charset="-120"/>
              </a:rPr>
              <a:t>Step 5 is the one that can invalidate every other row, so it goes first. Steps 0 and 1 are the cheapest and every downstream number inherits their noise until they are done.</a:t>
            </a:r>
            <a:endParaRPr lang="en-US" sz="1000" dirty="0"/>
          </a:p>
        </p:txBody>
      </p:sp>
      <p:sp>
        <p:nvSpPr>
          <p:cNvPr id="9" name="Shape 6"/>
          <p:cNvSpPr/>
          <p:nvPr/>
        </p:nvSpPr>
        <p:spPr>
          <a:xfrm>
            <a:off x="6248095" y="4956048"/>
            <a:ext cx="5394960" cy="987552"/>
          </a:xfrm>
          <a:prstGeom prst="roundRect">
            <a:avLst>
              <a:gd name="adj" fmla="val 5556"/>
            </a:avLst>
          </a:prstGeom>
          <a:solidFill>
            <a:srgbClr val="F3F5F8"/>
          </a:solidFill>
          <a:ln w="9525">
            <a:solidFill>
              <a:srgbClr val="DCE1E8"/>
            </a:solidFill>
            <a:prstDash val="solid"/>
          </a:ln>
        </p:spPr>
      </p:sp>
      <p:sp>
        <p:nvSpPr>
          <p:cNvPr id="10" name="Text 7"/>
          <p:cNvSpPr/>
          <p:nvPr/>
        </p:nvSpPr>
        <p:spPr>
          <a:xfrm>
            <a:off x="6504127" y="5102352"/>
            <a:ext cx="4882896" cy="219456"/>
          </a:xfrm>
          <a:prstGeom prst="rect">
            <a:avLst/>
          </a:prstGeom>
          <a:noFill/>
          <a:ln/>
        </p:spPr>
        <p:txBody>
          <a:bodyPr wrap="square" lIns="0" tIns="0" rIns="0" bIns="0" rtlCol="0" anchor="ctr"/>
          <a:lstStyle/>
          <a:p>
            <a:pPr indent="0" marL="0">
              <a:buNone/>
            </a:pPr>
            <a:r>
              <a:rPr lang="en-US" sz="1050" b="1" spc="60" kern="0" dirty="0">
                <a:solidFill>
                  <a:srgbClr val="1E3A5F"/>
                </a:solidFill>
                <a:latin typeface="Calibri" pitchFamily="34" charset="0"/>
                <a:ea typeface="Calibri" pitchFamily="34" charset="-122"/>
                <a:cs typeface="Calibri" pitchFamily="34" charset="-120"/>
              </a:rPr>
              <a:t>WHAT THE NUMBERS EXCLUDE</a:t>
            </a:r>
            <a:endParaRPr lang="en-US" sz="1050" dirty="0"/>
          </a:p>
        </p:txBody>
      </p:sp>
      <p:sp>
        <p:nvSpPr>
          <p:cNvPr id="11" name="Text 8"/>
          <p:cNvSpPr/>
          <p:nvPr/>
        </p:nvSpPr>
        <p:spPr>
          <a:xfrm>
            <a:off x="6504127" y="5340096"/>
            <a:ext cx="4882896" cy="493776"/>
          </a:xfrm>
          <a:prstGeom prst="rect">
            <a:avLst/>
          </a:prstGeom>
          <a:noFill/>
          <a:ln/>
        </p:spPr>
        <p:txBody>
          <a:bodyPr wrap="square" lIns="0" tIns="0" rIns="0" bIns="0" rtlCol="0" anchor="t"/>
          <a:lstStyle/>
          <a:p>
            <a:pPr indent="0" marL="0">
              <a:lnSpc>
                <a:spcPts val="1500"/>
              </a:lnSpc>
              <a:buNone/>
            </a:pPr>
            <a:r>
              <a:rPr lang="en-US" sz="1000" dirty="0">
                <a:solidFill>
                  <a:srgbClr val="222831"/>
                </a:solidFill>
                <a:latin typeface="Calibri" pitchFamily="34" charset="0"/>
                <a:ea typeface="Calibri" pitchFamily="34" charset="-122"/>
                <a:cs typeface="Calibri" pitchFamily="34" charset="-120"/>
              </a:rPr>
              <a:t>Labelling only. Rubric authoring, corpus construction, adjudication and analysis are larger and are not priced. Step 3 was $1,874.25 before the power bug was fixed.</a:t>
            </a:r>
            <a:endParaRPr lang="en-US" sz="1000" dirty="0"/>
          </a:p>
        </p:txBody>
      </p:sp>
      <p:sp>
        <p:nvSpPr>
          <p:cNvPr id="12" name="Text 9"/>
          <p:cNvSpPr/>
          <p:nvPr/>
        </p:nvSpPr>
        <p:spPr>
          <a:xfrm>
            <a:off x="548640" y="6336792"/>
            <a:ext cx="9966960" cy="219456"/>
          </a:xfrm>
          <a:prstGeom prst="rect">
            <a:avLst/>
          </a:prstGeom>
          <a:noFill/>
          <a:ln/>
        </p:spPr>
        <p:txBody>
          <a:bodyPr wrap="square" lIns="0" tIns="0" rIns="0" bIns="0" rtlCol="0" anchor="ctr"/>
          <a:lstStyle/>
          <a:p>
            <a:pPr algn="l" indent="0" marL="0">
              <a:buNone/>
            </a:pPr>
            <a:r>
              <a:rPr lang="en-US" sz="800" dirty="0">
                <a:solidFill>
                  <a:srgbClr val="6E7889"/>
                </a:solidFill>
                <a:latin typeface="Calibri" pitchFamily="34" charset="0"/>
                <a:ea typeface="Calibri" pitchFamily="34" charset="-122"/>
                <a:cs typeface="Calibri" pitchFamily="34" charset="-120"/>
              </a:rPr>
              <a:t>Item counts, shortfalls and projected_cost_to_fix_usd: results/portfolio.json  md5 299bd4f19e03caa2cd7e33681340c294   ·   unit rate: src/rubricon/gates/decision.py (assumption)   ·   “derived” = arithmetic over those two inputs</a:t>
            </a:r>
            <a:endParaRPr lang="en-US" sz="800" dirty="0"/>
          </a:p>
        </p:txBody>
      </p:sp>
      <p:sp>
        <p:nvSpPr>
          <p:cNvPr id="13" name="Text 10"/>
          <p:cNvSpPr/>
          <p:nvPr/>
        </p:nvSpPr>
        <p:spPr>
          <a:xfrm>
            <a:off x="10927080" y="6336792"/>
            <a:ext cx="713232" cy="219456"/>
          </a:xfrm>
          <a:prstGeom prst="rect">
            <a:avLst/>
          </a:prstGeom>
          <a:noFill/>
          <a:ln/>
        </p:spPr>
        <p:txBody>
          <a:bodyPr wrap="square" lIns="0" tIns="0" rIns="0" bIns="0" rtlCol="0" anchor="ctr"/>
          <a:lstStyle/>
          <a:p>
            <a:pPr algn="r" indent="0" marL="0">
              <a:buNone/>
            </a:pPr>
            <a:r>
              <a:rPr lang="en-US" sz="800" dirty="0">
                <a:solidFill>
                  <a:srgbClr val="6E7889"/>
                </a:solidFill>
                <a:latin typeface="Calibri" pitchFamily="34" charset="0"/>
                <a:ea typeface="Calibri" pitchFamily="34" charset="-122"/>
                <a:cs typeface="Calibri" pitchFamily="34" charset="-120"/>
              </a:rPr>
              <a:t>15</a:t>
            </a:r>
            <a:endParaRPr lang="en-US" sz="8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141A24"/>
        </a:solidFill>
      </p:bgPr>
    </p:bg>
    <p:spTree>
      <p:nvGrpSpPr>
        <p:cNvPr id="1" name=""/>
        <p:cNvGrpSpPr/>
        <p:nvPr/>
      </p:nvGrpSpPr>
      <p:grpSpPr>
        <a:xfrm>
          <a:off x="0" y="0"/>
          <a:ext cx="0" cy="0"/>
          <a:chOff x="0" y="0"/>
          <a:chExt cx="0" cy="0"/>
        </a:xfrm>
      </p:grpSpPr>
      <p:sp>
        <p:nvSpPr>
          <p:cNvPr id="2" name="Text 0"/>
          <p:cNvSpPr/>
          <p:nvPr/>
        </p:nvSpPr>
        <p:spPr>
          <a:xfrm>
            <a:off x="548640" y="292608"/>
            <a:ext cx="11094415" cy="201168"/>
          </a:xfrm>
          <a:prstGeom prst="rect">
            <a:avLst/>
          </a:prstGeom>
          <a:noFill/>
          <a:ln/>
        </p:spPr>
        <p:txBody>
          <a:bodyPr wrap="square" lIns="0" tIns="0" rIns="0" bIns="0" rtlCol="0" anchor="ctr"/>
          <a:lstStyle/>
          <a:p>
            <a:pPr indent="0" marL="0">
              <a:buNone/>
            </a:pPr>
            <a:r>
              <a:rPr lang="en-US" sz="950" b="1" spc="160" kern="0" dirty="0">
                <a:solidFill>
                  <a:srgbClr val="7F93A8"/>
                </a:solidFill>
                <a:latin typeface="Calibri" pitchFamily="34" charset="0"/>
                <a:ea typeface="Calibri" pitchFamily="34" charset="-122"/>
                <a:cs typeface="Calibri" pitchFamily="34" charset="-120"/>
              </a:rPr>
              <a:t>16  ·  CLOSE</a:t>
            </a:r>
            <a:endParaRPr lang="en-US" sz="950" dirty="0"/>
          </a:p>
        </p:txBody>
      </p:sp>
      <p:sp>
        <p:nvSpPr>
          <p:cNvPr id="3" name="Text 1"/>
          <p:cNvSpPr/>
          <p:nvPr/>
        </p:nvSpPr>
        <p:spPr>
          <a:xfrm>
            <a:off x="548640" y="530352"/>
            <a:ext cx="11094415" cy="566928"/>
          </a:xfrm>
          <a:prstGeom prst="rect">
            <a:avLst/>
          </a:prstGeom>
          <a:noFill/>
          <a:ln/>
        </p:spPr>
        <p:txBody>
          <a:bodyPr wrap="square" lIns="0" tIns="0" rIns="0" bIns="0" rtlCol="0" anchor="t"/>
          <a:lstStyle/>
          <a:p>
            <a:pPr indent="0" marL="0">
              <a:buNone/>
            </a:pPr>
            <a:r>
              <a:rPr lang="en-US" sz="2600" b="1" dirty="0">
                <a:solidFill>
                  <a:srgbClr val="FFFFFF"/>
                </a:solidFill>
                <a:latin typeface="Cambria" pitchFamily="34" charset="0"/>
                <a:ea typeface="Cambria" pitchFamily="34" charset="-122"/>
                <a:cs typeface="Cambria" pitchFamily="34" charset="-120"/>
              </a:rPr>
              <a:t>Six things this demonstrates, and where each one lives</a:t>
            </a:r>
            <a:endParaRPr lang="en-US" sz="2600" dirty="0"/>
          </a:p>
        </p:txBody>
      </p:sp>
      <p:sp>
        <p:nvSpPr>
          <p:cNvPr id="4" name="Shape 2"/>
          <p:cNvSpPr/>
          <p:nvPr/>
        </p:nvSpPr>
        <p:spPr>
          <a:xfrm>
            <a:off x="548640" y="1353312"/>
            <a:ext cx="310896" cy="310896"/>
          </a:xfrm>
          <a:prstGeom prst="roundRect">
            <a:avLst>
              <a:gd name="adj" fmla="val 17647"/>
            </a:avLst>
          </a:prstGeom>
          <a:solidFill>
            <a:srgbClr val="2C4A6E"/>
          </a:solidFill>
          <a:ln/>
        </p:spPr>
      </p:sp>
      <p:sp>
        <p:nvSpPr>
          <p:cNvPr id="5" name="Text 3"/>
          <p:cNvSpPr/>
          <p:nvPr/>
        </p:nvSpPr>
        <p:spPr>
          <a:xfrm>
            <a:off x="548640" y="1353312"/>
            <a:ext cx="310896" cy="310896"/>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01</a:t>
            </a:r>
            <a:endParaRPr lang="en-US" sz="1000" dirty="0"/>
          </a:p>
        </p:txBody>
      </p:sp>
      <p:sp>
        <p:nvSpPr>
          <p:cNvPr id="6" name="Text 4"/>
          <p:cNvSpPr/>
          <p:nvPr/>
        </p:nvSpPr>
        <p:spPr>
          <a:xfrm>
            <a:off x="1042416" y="1335024"/>
            <a:ext cx="4901184" cy="292608"/>
          </a:xfrm>
          <a:prstGeom prst="rect">
            <a:avLst/>
          </a:prstGeom>
          <a:noFill/>
          <a:ln/>
        </p:spPr>
        <p:txBody>
          <a:bodyPr wrap="square" lIns="0" tIns="0" rIns="0" bIns="0"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Problem framing</a:t>
            </a:r>
            <a:endParaRPr lang="en-US" sz="1300" dirty="0"/>
          </a:p>
        </p:txBody>
      </p:sp>
      <p:sp>
        <p:nvSpPr>
          <p:cNvPr id="7" name="Text 5"/>
          <p:cNvSpPr/>
          <p:nvPr/>
        </p:nvSpPr>
        <p:spPr>
          <a:xfrm>
            <a:off x="1042416" y="1682496"/>
            <a:ext cx="4901184" cy="713232"/>
          </a:xfrm>
          <a:prstGeom prst="rect">
            <a:avLst/>
          </a:prstGeom>
          <a:noFill/>
          <a:ln/>
        </p:spPr>
        <p:txBody>
          <a:bodyPr wrap="square" lIns="0" tIns="0" rIns="0" bIns="0" rtlCol="0" anchor="t"/>
          <a:lstStyle/>
          <a:p>
            <a:pPr indent="0" marL="0">
              <a:lnSpc>
                <a:spcPts val="1500"/>
              </a:lnSpc>
              <a:buNone/>
            </a:pPr>
            <a:r>
              <a:rPr lang="en-US" sz="1100" dirty="0">
                <a:solidFill>
                  <a:srgbClr val="A9B9C9"/>
                </a:solidFill>
                <a:latin typeface="Calibri" pitchFamily="34" charset="0"/>
                <a:ea typeface="Calibri" pitchFamily="34" charset="-122"/>
                <a:cs typeface="Calibri" pitchFamily="34" charset="-120"/>
              </a:rPr>
              <a:t>The bottleneck is signal, not coverage. The deliverable is a gate and a sensitivity analysis, not a scoreboard.</a:t>
            </a:r>
            <a:endParaRPr lang="en-US" sz="1100" dirty="0"/>
          </a:p>
        </p:txBody>
      </p:sp>
      <p:sp>
        <p:nvSpPr>
          <p:cNvPr id="8" name="Shape 6"/>
          <p:cNvSpPr/>
          <p:nvPr/>
        </p:nvSpPr>
        <p:spPr>
          <a:xfrm>
            <a:off x="6245352" y="1353312"/>
            <a:ext cx="310896" cy="310896"/>
          </a:xfrm>
          <a:prstGeom prst="roundRect">
            <a:avLst>
              <a:gd name="adj" fmla="val 17647"/>
            </a:avLst>
          </a:prstGeom>
          <a:solidFill>
            <a:srgbClr val="2C4A6E"/>
          </a:solidFill>
          <a:ln/>
        </p:spPr>
      </p:sp>
      <p:sp>
        <p:nvSpPr>
          <p:cNvPr id="9" name="Text 7"/>
          <p:cNvSpPr/>
          <p:nvPr/>
        </p:nvSpPr>
        <p:spPr>
          <a:xfrm>
            <a:off x="6245352" y="1353312"/>
            <a:ext cx="310896" cy="310896"/>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02</a:t>
            </a:r>
            <a:endParaRPr lang="en-US" sz="1000" dirty="0"/>
          </a:p>
        </p:txBody>
      </p:sp>
      <p:sp>
        <p:nvSpPr>
          <p:cNvPr id="10" name="Text 8"/>
          <p:cNvSpPr/>
          <p:nvPr/>
        </p:nvSpPr>
        <p:spPr>
          <a:xfrm>
            <a:off x="6739128" y="1335024"/>
            <a:ext cx="4901184" cy="292608"/>
          </a:xfrm>
          <a:prstGeom prst="rect">
            <a:avLst/>
          </a:prstGeom>
          <a:noFill/>
          <a:ln/>
        </p:spPr>
        <p:txBody>
          <a:bodyPr wrap="square" lIns="0" tIns="0" rIns="0" bIns="0"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Data design</a:t>
            </a:r>
            <a:endParaRPr lang="en-US" sz="1300" dirty="0"/>
          </a:p>
        </p:txBody>
      </p:sp>
      <p:sp>
        <p:nvSpPr>
          <p:cNvPr id="11" name="Text 9"/>
          <p:cNvSpPr/>
          <p:nvPr/>
        </p:nvSpPr>
        <p:spPr>
          <a:xfrm>
            <a:off x="6739128" y="1682496"/>
            <a:ext cx="4901184" cy="713232"/>
          </a:xfrm>
          <a:prstGeom prst="rect">
            <a:avLst/>
          </a:prstGeom>
          <a:noFill/>
          <a:ln/>
        </p:spPr>
        <p:txBody>
          <a:bodyPr wrap="square" lIns="0" tIns="0" rIns="0" bIns="0" rtlCol="0" anchor="t"/>
          <a:lstStyle/>
          <a:p>
            <a:pPr indent="0" marL="0">
              <a:lnSpc>
                <a:spcPts val="1500"/>
              </a:lnSpc>
              <a:buNone/>
            </a:pPr>
            <a:r>
              <a:rPr lang="en-US" sz="1100" dirty="0">
                <a:solidFill>
                  <a:srgbClr val="A9B9C9"/>
                </a:solidFill>
                <a:latin typeface="Calibri" pitchFamily="34" charset="0"/>
                <a:ea typeface="Calibri" pitchFamily="34" charset="-122"/>
                <a:cs typeface="Calibri" pitchFamily="34" charset="-120"/>
              </a:rPr>
              <a:t>Four tracks, 168 items, declared strata, planted failures, ground truth known by construction.</a:t>
            </a:r>
            <a:endParaRPr lang="en-US" sz="1100" dirty="0"/>
          </a:p>
        </p:txBody>
      </p:sp>
      <p:sp>
        <p:nvSpPr>
          <p:cNvPr id="12" name="Shape 10"/>
          <p:cNvSpPr/>
          <p:nvPr/>
        </p:nvSpPr>
        <p:spPr>
          <a:xfrm>
            <a:off x="548640" y="2578608"/>
            <a:ext cx="310896" cy="310896"/>
          </a:xfrm>
          <a:prstGeom prst="roundRect">
            <a:avLst>
              <a:gd name="adj" fmla="val 17647"/>
            </a:avLst>
          </a:prstGeom>
          <a:solidFill>
            <a:srgbClr val="2C4A6E"/>
          </a:solidFill>
          <a:ln/>
        </p:spPr>
      </p:sp>
      <p:sp>
        <p:nvSpPr>
          <p:cNvPr id="13" name="Text 11"/>
          <p:cNvSpPr/>
          <p:nvPr/>
        </p:nvSpPr>
        <p:spPr>
          <a:xfrm>
            <a:off x="548640" y="2578608"/>
            <a:ext cx="310896" cy="310896"/>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03</a:t>
            </a:r>
            <a:endParaRPr lang="en-US" sz="1000" dirty="0"/>
          </a:p>
        </p:txBody>
      </p:sp>
      <p:sp>
        <p:nvSpPr>
          <p:cNvPr id="14" name="Text 12"/>
          <p:cNvSpPr/>
          <p:nvPr/>
        </p:nvSpPr>
        <p:spPr>
          <a:xfrm>
            <a:off x="1042416" y="2560320"/>
            <a:ext cx="4901184" cy="292608"/>
          </a:xfrm>
          <a:prstGeom prst="rect">
            <a:avLst/>
          </a:prstGeom>
          <a:noFill/>
          <a:ln/>
        </p:spPr>
        <p:txBody>
          <a:bodyPr wrap="square" lIns="0" tIns="0" rIns="0" bIns="0"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Quality calibration</a:t>
            </a:r>
            <a:endParaRPr lang="en-US" sz="1300" dirty="0"/>
          </a:p>
        </p:txBody>
      </p:sp>
      <p:sp>
        <p:nvSpPr>
          <p:cNvPr id="15" name="Text 13"/>
          <p:cNvSpPr/>
          <p:nvPr/>
        </p:nvSpPr>
        <p:spPr>
          <a:xfrm>
            <a:off x="1042416" y="2907792"/>
            <a:ext cx="4901184" cy="713232"/>
          </a:xfrm>
          <a:prstGeom prst="rect">
            <a:avLst/>
          </a:prstGeom>
          <a:noFill/>
          <a:ln/>
        </p:spPr>
        <p:txBody>
          <a:bodyPr wrap="square" lIns="0" tIns="0" rIns="0" bIns="0" rtlCol="0" anchor="t"/>
          <a:lstStyle/>
          <a:p>
            <a:pPr indent="0" marL="0">
              <a:lnSpc>
                <a:spcPts val="1500"/>
              </a:lnSpc>
              <a:buNone/>
            </a:pPr>
            <a:r>
              <a:rPr lang="en-US" sz="1100" dirty="0">
                <a:solidFill>
                  <a:srgbClr val="A9B9C9"/>
                </a:solidFill>
                <a:latin typeface="Calibri" pitchFamily="34" charset="0"/>
                <a:ea typeface="Calibri" pitchFamily="34" charset="-122"/>
                <a:cs typeface="Calibri" pitchFamily="34" charset="-120"/>
              </a:rPr>
              <a:t>Replication 3.00, gold items, triage and adjudication, three agreement coefficients under one chance model.</a:t>
            </a:r>
            <a:endParaRPr lang="en-US" sz="1100" dirty="0"/>
          </a:p>
        </p:txBody>
      </p:sp>
      <p:sp>
        <p:nvSpPr>
          <p:cNvPr id="16" name="Shape 14"/>
          <p:cNvSpPr/>
          <p:nvPr/>
        </p:nvSpPr>
        <p:spPr>
          <a:xfrm>
            <a:off x="6245352" y="2578608"/>
            <a:ext cx="310896" cy="310896"/>
          </a:xfrm>
          <a:prstGeom prst="roundRect">
            <a:avLst>
              <a:gd name="adj" fmla="val 17647"/>
            </a:avLst>
          </a:prstGeom>
          <a:solidFill>
            <a:srgbClr val="2C4A6E"/>
          </a:solidFill>
          <a:ln/>
        </p:spPr>
      </p:sp>
      <p:sp>
        <p:nvSpPr>
          <p:cNvPr id="17" name="Text 15"/>
          <p:cNvSpPr/>
          <p:nvPr/>
        </p:nvSpPr>
        <p:spPr>
          <a:xfrm>
            <a:off x="6245352" y="2578608"/>
            <a:ext cx="310896" cy="310896"/>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04</a:t>
            </a:r>
            <a:endParaRPr lang="en-US" sz="1000" dirty="0"/>
          </a:p>
        </p:txBody>
      </p:sp>
      <p:sp>
        <p:nvSpPr>
          <p:cNvPr id="18" name="Text 16"/>
          <p:cNvSpPr/>
          <p:nvPr/>
        </p:nvSpPr>
        <p:spPr>
          <a:xfrm>
            <a:off x="6739128" y="2560320"/>
            <a:ext cx="4901184" cy="292608"/>
          </a:xfrm>
          <a:prstGeom prst="rect">
            <a:avLst/>
          </a:prstGeom>
          <a:noFill/>
          <a:ln/>
        </p:spPr>
        <p:txBody>
          <a:bodyPr wrap="square" lIns="0" tIns="0" rIns="0" bIns="0"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Signal validation</a:t>
            </a:r>
            <a:endParaRPr lang="en-US" sz="1300" dirty="0"/>
          </a:p>
        </p:txBody>
      </p:sp>
      <p:sp>
        <p:nvSpPr>
          <p:cNvPr id="19" name="Text 17"/>
          <p:cNvSpPr/>
          <p:nvPr/>
        </p:nvSpPr>
        <p:spPr>
          <a:xfrm>
            <a:off x="6739128" y="2907792"/>
            <a:ext cx="4901184" cy="713232"/>
          </a:xfrm>
          <a:prstGeom prst="rect">
            <a:avLst/>
          </a:prstGeom>
          <a:noFill/>
          <a:ln/>
        </p:spPr>
        <p:txBody>
          <a:bodyPr wrap="square" lIns="0" tIns="0" rIns="0" bIns="0" rtlCol="0" anchor="t"/>
          <a:lstStyle/>
          <a:p>
            <a:pPr indent="0" marL="0">
              <a:lnSpc>
                <a:spcPts val="1500"/>
              </a:lnSpc>
              <a:buNone/>
            </a:pPr>
            <a:r>
              <a:rPr lang="en-US" sz="1100" dirty="0">
                <a:solidFill>
                  <a:srgbClr val="A9B9C9"/>
                </a:solidFill>
                <a:latin typeface="Calibri" pitchFamily="34" charset="0"/>
                <a:ea typeface="Calibri" pitchFamily="34" charset="-122"/>
                <a:cs typeface="Calibri" pitchFamily="34" charset="-120"/>
              </a:rPr>
              <a:t>α validated to 4dp, composite reliability separated from per-dimension α, MDE computed before any ranking.</a:t>
            </a:r>
            <a:endParaRPr lang="en-US" sz="1100" dirty="0"/>
          </a:p>
        </p:txBody>
      </p:sp>
      <p:sp>
        <p:nvSpPr>
          <p:cNvPr id="20" name="Shape 18"/>
          <p:cNvSpPr/>
          <p:nvPr/>
        </p:nvSpPr>
        <p:spPr>
          <a:xfrm>
            <a:off x="548640" y="3803904"/>
            <a:ext cx="310896" cy="310896"/>
          </a:xfrm>
          <a:prstGeom prst="roundRect">
            <a:avLst>
              <a:gd name="adj" fmla="val 17647"/>
            </a:avLst>
          </a:prstGeom>
          <a:solidFill>
            <a:srgbClr val="2C4A6E"/>
          </a:solidFill>
          <a:ln/>
        </p:spPr>
      </p:sp>
      <p:sp>
        <p:nvSpPr>
          <p:cNvPr id="21" name="Text 19"/>
          <p:cNvSpPr/>
          <p:nvPr/>
        </p:nvSpPr>
        <p:spPr>
          <a:xfrm>
            <a:off x="548640" y="3803904"/>
            <a:ext cx="310896" cy="310896"/>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05</a:t>
            </a:r>
            <a:endParaRPr lang="en-US" sz="1000" dirty="0"/>
          </a:p>
        </p:txBody>
      </p:sp>
      <p:sp>
        <p:nvSpPr>
          <p:cNvPr id="22" name="Text 20"/>
          <p:cNvSpPr/>
          <p:nvPr/>
        </p:nvSpPr>
        <p:spPr>
          <a:xfrm>
            <a:off x="1042416" y="3785616"/>
            <a:ext cx="4901184" cy="292608"/>
          </a:xfrm>
          <a:prstGeom prst="rect">
            <a:avLst/>
          </a:prstGeom>
          <a:noFill/>
          <a:ln/>
        </p:spPr>
        <p:txBody>
          <a:bodyPr wrap="square" lIns="0" tIns="0" rIns="0" bIns="0"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Acting as a quality gate</a:t>
            </a:r>
            <a:endParaRPr lang="en-US" sz="1300" dirty="0"/>
          </a:p>
        </p:txBody>
      </p:sp>
      <p:sp>
        <p:nvSpPr>
          <p:cNvPr id="23" name="Text 21"/>
          <p:cNvSpPr/>
          <p:nvPr/>
        </p:nvSpPr>
        <p:spPr>
          <a:xfrm>
            <a:off x="1042416" y="4133088"/>
            <a:ext cx="4901184" cy="713232"/>
          </a:xfrm>
          <a:prstGeom prst="rect">
            <a:avLst/>
          </a:prstGeom>
          <a:noFill/>
          <a:ln/>
        </p:spPr>
        <p:txBody>
          <a:bodyPr wrap="square" lIns="0" tIns="0" rIns="0" bIns="0" rtlCol="0" anchor="t"/>
          <a:lstStyle/>
          <a:p>
            <a:pPr indent="0" marL="0">
              <a:lnSpc>
                <a:spcPts val="1500"/>
              </a:lnSpc>
              <a:buNone/>
            </a:pPr>
            <a:r>
              <a:rPr lang="en-US" sz="1100" dirty="0">
                <a:solidFill>
                  <a:srgbClr val="A9B9C9"/>
                </a:solidFill>
                <a:latin typeface="Calibri" pitchFamily="34" charset="0"/>
                <a:ea typeface="Calibri" pitchFamily="34" charset="-122"/>
                <a:cs typeface="Calibri" pitchFamily="34" charset="-120"/>
              </a:rPr>
              <a:t>23 of 45 claims withheld, and the blocks stay visible in the report where the number would have been.</a:t>
            </a:r>
            <a:endParaRPr lang="en-US" sz="1100" dirty="0"/>
          </a:p>
        </p:txBody>
      </p:sp>
      <p:sp>
        <p:nvSpPr>
          <p:cNvPr id="24" name="Shape 22"/>
          <p:cNvSpPr/>
          <p:nvPr/>
        </p:nvSpPr>
        <p:spPr>
          <a:xfrm>
            <a:off x="6245352" y="3803904"/>
            <a:ext cx="310896" cy="310896"/>
          </a:xfrm>
          <a:prstGeom prst="roundRect">
            <a:avLst>
              <a:gd name="adj" fmla="val 17647"/>
            </a:avLst>
          </a:prstGeom>
          <a:solidFill>
            <a:srgbClr val="2C4A6E"/>
          </a:solidFill>
          <a:ln/>
        </p:spPr>
      </p:sp>
      <p:sp>
        <p:nvSpPr>
          <p:cNvPr id="25" name="Text 23"/>
          <p:cNvSpPr/>
          <p:nvPr/>
        </p:nvSpPr>
        <p:spPr>
          <a:xfrm>
            <a:off x="6245352" y="3803904"/>
            <a:ext cx="310896" cy="310896"/>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06</a:t>
            </a:r>
            <a:endParaRPr lang="en-US" sz="1000" dirty="0"/>
          </a:p>
        </p:txBody>
      </p:sp>
      <p:sp>
        <p:nvSpPr>
          <p:cNvPr id="26" name="Text 24"/>
          <p:cNvSpPr/>
          <p:nvPr/>
        </p:nvSpPr>
        <p:spPr>
          <a:xfrm>
            <a:off x="6739128" y="3785616"/>
            <a:ext cx="4901184" cy="292608"/>
          </a:xfrm>
          <a:prstGeom prst="rect">
            <a:avLst/>
          </a:prstGeom>
          <a:noFill/>
          <a:ln/>
        </p:spPr>
        <p:txBody>
          <a:bodyPr wrap="square" lIns="0" tIns="0" rIns="0" bIns="0"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Knowing what you do not know</a:t>
            </a:r>
            <a:endParaRPr lang="en-US" sz="1300" dirty="0"/>
          </a:p>
        </p:txBody>
      </p:sp>
      <p:sp>
        <p:nvSpPr>
          <p:cNvPr id="27" name="Text 25"/>
          <p:cNvSpPr/>
          <p:nvPr/>
        </p:nvSpPr>
        <p:spPr>
          <a:xfrm>
            <a:off x="6739128" y="4133088"/>
            <a:ext cx="4901184" cy="713232"/>
          </a:xfrm>
          <a:prstGeom prst="rect">
            <a:avLst/>
          </a:prstGeom>
          <a:noFill/>
          <a:ln/>
        </p:spPr>
        <p:txBody>
          <a:bodyPr wrap="square" lIns="0" tIns="0" rIns="0" bIns="0" rtlCol="0" anchor="t"/>
          <a:lstStyle/>
          <a:p>
            <a:pPr indent="0" marL="0">
              <a:lnSpc>
                <a:spcPts val="1500"/>
              </a:lnSpc>
              <a:buNone/>
            </a:pPr>
            <a:r>
              <a:rPr lang="en-US" sz="1100" dirty="0">
                <a:solidFill>
                  <a:srgbClr val="A9B9C9"/>
                </a:solidFill>
                <a:latin typeface="Calibri" pitchFamily="34" charset="0"/>
                <a:ea typeface="Calibri" pitchFamily="34" charset="-122"/>
                <a:cs typeface="Calibri" pitchFamily="34" charset="-120"/>
              </a:rPr>
              <a:t>196 runs pricing every verdict against its own assumptions: agentic FRAGILE, the other three CONDITIONAL, none ROBUST.</a:t>
            </a:r>
            <a:endParaRPr lang="en-US" sz="1100" dirty="0"/>
          </a:p>
        </p:txBody>
      </p:sp>
      <p:sp>
        <p:nvSpPr>
          <p:cNvPr id="28" name="Shape 26"/>
          <p:cNvSpPr/>
          <p:nvPr/>
        </p:nvSpPr>
        <p:spPr>
          <a:xfrm>
            <a:off x="548640" y="5138928"/>
            <a:ext cx="11094415" cy="932688"/>
          </a:xfrm>
          <a:prstGeom prst="roundRect">
            <a:avLst>
              <a:gd name="adj" fmla="val 5882"/>
            </a:avLst>
          </a:prstGeom>
          <a:solidFill>
            <a:srgbClr val="2A1E1E"/>
          </a:solidFill>
          <a:ln w="9525">
            <a:solidFill>
              <a:srgbClr val="5A3436"/>
            </a:solidFill>
            <a:prstDash val="solid"/>
          </a:ln>
        </p:spPr>
      </p:sp>
      <p:sp>
        <p:nvSpPr>
          <p:cNvPr id="29" name="Text 27"/>
          <p:cNvSpPr/>
          <p:nvPr/>
        </p:nvSpPr>
        <p:spPr>
          <a:xfrm>
            <a:off x="841248" y="5303520"/>
            <a:ext cx="3108960" cy="219456"/>
          </a:xfrm>
          <a:prstGeom prst="rect">
            <a:avLst/>
          </a:prstGeom>
          <a:noFill/>
          <a:ln/>
        </p:spPr>
        <p:txBody>
          <a:bodyPr wrap="square" lIns="0" tIns="0" rIns="0" bIns="0" rtlCol="0" anchor="ctr"/>
          <a:lstStyle/>
          <a:p>
            <a:pPr indent="0" marL="0">
              <a:buNone/>
            </a:pPr>
            <a:r>
              <a:rPr lang="en-US" sz="950" b="1" spc="140" kern="0" dirty="0">
                <a:solidFill>
                  <a:srgbClr val="E29A9D"/>
                </a:solidFill>
                <a:latin typeface="Calibri" pitchFamily="34" charset="0"/>
                <a:ea typeface="Calibri" pitchFamily="34" charset="-122"/>
                <a:cs typeface="Calibri" pitchFamily="34" charset="-120"/>
              </a:rPr>
              <a:t>ANNOTATORS ARE SIMULATED</a:t>
            </a:r>
            <a:endParaRPr lang="en-US" sz="950" dirty="0"/>
          </a:p>
        </p:txBody>
      </p:sp>
      <p:sp>
        <p:nvSpPr>
          <p:cNvPr id="30" name="Text 28"/>
          <p:cNvSpPr/>
          <p:nvPr/>
        </p:nvSpPr>
        <p:spPr>
          <a:xfrm>
            <a:off x="841248" y="5541264"/>
            <a:ext cx="10509199" cy="438912"/>
          </a:xfrm>
          <a:prstGeom prst="rect">
            <a:avLst/>
          </a:prstGeom>
          <a:noFill/>
          <a:ln/>
        </p:spPr>
        <p:txBody>
          <a:bodyPr wrap="square" lIns="0" tIns="0" rIns="0" bIns="0" rtlCol="0" anchor="t"/>
          <a:lstStyle/>
          <a:p>
            <a:pPr indent="0" marL="0">
              <a:lnSpc>
                <a:spcPts val="1400"/>
              </a:lnSpc>
              <a:buNone/>
            </a:pPr>
            <a:r>
              <a:rPr lang="en-US" sz="1050" dirty="0">
                <a:solidFill>
                  <a:srgbClr val="C9AEB0"/>
                </a:solidFill>
                <a:latin typeface="Calibri" pitchFamily="34" charset="0"/>
                <a:ea typeface="Calibri" pitchFamily="34" charset="-122"/>
                <a:cs typeface="Calibri" pitchFamily="34" charset="-120"/>
              </a:rPr>
              <a:t>No human labelled anything. The machinery is real and validated; the findings are demonstrations that the instrument detects what it claims to detect on data with known ground truth. Nothing in this deck is an empirical claim about any language model.</a:t>
            </a:r>
            <a:endParaRPr lang="en-US" sz="1050" dirty="0"/>
          </a:p>
        </p:txBody>
      </p:sp>
      <p:sp>
        <p:nvSpPr>
          <p:cNvPr id="31" name="Text 29"/>
          <p:cNvSpPr/>
          <p:nvPr/>
        </p:nvSpPr>
        <p:spPr>
          <a:xfrm>
            <a:off x="548640" y="6336792"/>
            <a:ext cx="9966960" cy="219456"/>
          </a:xfrm>
          <a:prstGeom prst="rect">
            <a:avLst/>
          </a:prstGeom>
          <a:noFill/>
          <a:ln/>
        </p:spPr>
        <p:txBody>
          <a:bodyPr wrap="square" lIns="0" tIns="0" rIns="0" bIns="0" rtlCol="0" anchor="ctr"/>
          <a:lstStyle/>
          <a:p>
            <a:pPr algn="l" indent="0" marL="0">
              <a:buNone/>
            </a:pPr>
            <a:r>
              <a:rPr lang="en-US" sz="800" dirty="0">
                <a:solidFill>
                  <a:srgbClr val="6C7C8E"/>
                </a:solidFill>
                <a:latin typeface="Calibri" pitchFamily="34" charset="0"/>
                <a:ea typeface="Calibri" pitchFamily="34" charset="-122"/>
                <a:cs typeface="Calibri" pitchFamily="34" charset="-120"/>
              </a:rPr>
              <a:t>results/portfolio.json  md5 299bd4f19e03caa2cd7e33681340c294   ·   results/sensitivity.json  md5 ba0a9291c1f80a2a66dc077c6f19e9b8</a:t>
            </a:r>
            <a:endParaRPr lang="en-US" sz="800" dirty="0"/>
          </a:p>
        </p:txBody>
      </p:sp>
      <p:sp>
        <p:nvSpPr>
          <p:cNvPr id="32" name="Text 30"/>
          <p:cNvSpPr/>
          <p:nvPr/>
        </p:nvSpPr>
        <p:spPr>
          <a:xfrm>
            <a:off x="10927080" y="6336792"/>
            <a:ext cx="713232" cy="219456"/>
          </a:xfrm>
          <a:prstGeom prst="rect">
            <a:avLst/>
          </a:prstGeom>
          <a:noFill/>
          <a:ln/>
        </p:spPr>
        <p:txBody>
          <a:bodyPr wrap="square" lIns="0" tIns="0" rIns="0" bIns="0" rtlCol="0" anchor="ctr"/>
          <a:lstStyle/>
          <a:p>
            <a:pPr algn="r" indent="0" marL="0">
              <a:buNone/>
            </a:pPr>
            <a:r>
              <a:rPr lang="en-US" sz="800" dirty="0">
                <a:solidFill>
                  <a:srgbClr val="6C7C8E"/>
                </a:solidFill>
                <a:latin typeface="Calibri" pitchFamily="34" charset="0"/>
                <a:ea typeface="Calibri" pitchFamily="34" charset="-122"/>
                <a:cs typeface="Calibri" pitchFamily="34" charset="-120"/>
              </a:rPr>
              <a:t>16</a:t>
            </a:r>
            <a:endParaRPr lang="en-US" sz="8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16</Slides>
  <Notes>16</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16</vt:i4>
      </vt:variant>
    </vt:vector>
  </HeadingPairs>
  <TitlesOfParts>
    <vt:vector size="19"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Rubricon — evaluation signal infrastructure</dc:title>
  <dc:subject>PptxGenJS Presentation</dc:subject>
  <dc:creator>Rubricon</dc:creator>
  <cp:lastModifiedBy>Rubricon</cp:lastModifiedBy>
  <cp:revision>1</cp:revision>
  <dcterms:created xsi:type="dcterms:W3CDTF">2026-08-09T03:13:08Z</dcterms:created>
  <dcterms:modified xsi:type="dcterms:W3CDTF">2026-08-09T03:13:08Z</dcterms:modified>
</cp:coreProperties>
</file>